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12192000"/>
  <p:notesSz cx="6858000" cy="12192000"/>
  <p:embeddedFontLst>
    <p:embeddedFont>
      <p:font typeface="DM Sans"/>
      <p:regular r:id="rId23"/>
      <p:bold r:id="rId24"/>
      <p:italic r:id="rId25"/>
      <p:boldItalic r:id="rId26"/>
    </p:embeddedFont>
    <p:embeddedFont>
      <p:font typeface="JetBrains Mon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1" roundtripDataSignature="AMtx7miyadgx+7quRz3Lx0nIt9usgGfX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971B99A-2433-436F-AF97-702EB8F375A6}">
  <a:tblStyle styleId="{D971B99A-2433-436F-AF97-702EB8F375A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DMSans-bold.fntdata"/><Relationship Id="rId23" Type="http://schemas.openxmlformats.org/officeDocument/2006/relationships/font" Target="fonts/DMSans-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DMSans-boldItalic.fntdata"/><Relationship Id="rId25" Type="http://schemas.openxmlformats.org/officeDocument/2006/relationships/font" Target="fonts/DMSans-italic.fntdata"/><Relationship Id="rId28" Type="http://schemas.openxmlformats.org/officeDocument/2006/relationships/font" Target="fonts/JetBrainsMono-bold.fntdata"/><Relationship Id="rId27" Type="http://schemas.openxmlformats.org/officeDocument/2006/relationships/font" Target="fonts/JetBrainsMon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JetBrainsMono-italic.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JetBrainsMon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everyone to Nittany Data Labs. Today we're covering exploratory data analysis, or EDA, which is basically how you get to know a dataset before you do anything fancy with it. No experience needed: we'll go through the ideas for about 20 minutes, then you'll try it yourself in Google Colab.</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h1d77994be5bea945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 name="Google Shape;25;h1d77994be5bea945_0_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 name="Google Shape;26;h1d77994be5bea945_0_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 name="Google Shape;3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Last week we cleaned data: fixing missing values, types, and messy entries. Today picks up right after that. EDA is where you take clean data and start asking what it's telling you: what it looks like, what patterns show up, and how variables relate, all before you build any model.</a:t>
            </a:r>
            <a:endParaRPr/>
          </a:p>
        </p:txBody>
      </p:sp>
      <p:sp>
        <p:nvSpPr>
          <p:cNvPr id="33" name="Google Shape;3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Anscombe's quartet, a famous example from 1973. All four datasets have the same averages, the same spread, the same correlation, and even the same best-fit line, but once you plot them they're completely different: a line, a curve, one weird point, and one extreme point doing all the work. That's the whole argument for EDA: the numbers alone can lie, so you have to look.</a:t>
            </a:r>
            <a:endParaRPr/>
          </a:p>
        </p:txBody>
      </p:sp>
      <p:sp>
        <p:nvSpPr>
          <p:cNvPr id="72" name="Google Shape;7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today's plan in six steps. We start with a question and a quick first look, then build up: one variable at a time, then pairs, then many at once, and finally we share what we found. In real projects you loop back a lot, since a surprise in step 4 usually sends you back to look at one column more closely.</a:t>
            </a:r>
            <a:endParaRPr/>
          </a:p>
        </p:txBody>
      </p:sp>
      <p:sp>
        <p:nvSpPr>
          <p:cNvPr id="101" name="Google Shape;10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Good EDA starts with a question, not a chart. Before plotting anything, write down two or three things you want to learn, and sort the columns into numerical and categorical, because that decides which charts make sense. Numbers get histograms and scatter plots; categories get bar charts and counts.</a:t>
            </a:r>
            <a:endParaRPr/>
          </a:p>
        </p:txBody>
      </p:sp>
      <p:sp>
        <p:nvSpPr>
          <p:cNvPr id="141" name="Google Shape;14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We're starting from last week's cleaned data, so this first look isn't about fixing anything; it's about getting a feel for it. describe gives you the mean, spread, and range of every numeric column in one shot, and value_counts shows how common each category is. Read the describe output out loud and ask: does this match what I expected?</a:t>
            </a:r>
            <a:endParaRPr/>
          </a:p>
        </p:txBody>
      </p:sp>
      <p:sp>
        <p:nvSpPr>
          <p:cNvPr id="203" name="Google Shape;20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we look at one column at a time: what shape it has, where the center is, how spread out it is, and whether it's skewed. In a normal distribution the mean and median sit together, but when there's a long tail, a few extreme values drag the mean toward it while the median barely moves. That's why for skewed data like incomes or prices, the median is usually the better "typical" value.</a:t>
            </a:r>
            <a:endParaRPr/>
          </a:p>
        </p:txBody>
      </p:sp>
      <p:sp>
        <p:nvSpPr>
          <p:cNvPr id="239" name="Google Shape;23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box plot squeezes a whole column into one picture: the box is the middle half of the data, the thick line is the median, and the whiskers show the normal range. Since the data's already clean, a far-out point isn't something to fix; it's a clue, so ask what's special about it. For categories, just count them with value_counts and a bar chart, and notice rare groups like Category D, because they matter when you compare groups later.</a:t>
            </a:r>
            <a:endParaRPr/>
          </a:p>
        </p:txBody>
      </p:sp>
      <p:sp>
        <p:nvSpPr>
          <p:cNvPr id="279" name="Google Shape;27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we look at how variables move together. Correlation goes from −1 to +1: the sign tells you direction and the size tells you strength, so +0.85 is a tight upward trend while −0.4 is a loose downward one. In pandas, df.corr() gives you every pair at once, which leads right into the next few slides.</a:t>
            </a:r>
            <a:endParaRPr/>
          </a:p>
        </p:txBody>
      </p:sp>
      <p:sp>
        <p:nvSpPr>
          <p:cNvPr id="330" name="Google Shape;33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Not every pair is two numbers. When you've got a number and a category, put box plots side by side; here Category B clearly sits higher than A and C. When both are categories, a cross-tab counts how they overlap. Then always ask whether a gap is big enough to actually matter or just noise.</a:t>
            </a:r>
            <a:endParaRPr/>
          </a:p>
        </p:txBody>
      </p:sp>
      <p:sp>
        <p:nvSpPr>
          <p:cNvPr id="372" name="Google Shape;37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Once you've looked at pairs, zoom out to many variables at once. A correlation heatmap shows every pair in one grid, so you can spot the strong ones fast, and seaborn's pairplot draws a scatter plot for every pair. Coloring points by a category adds a third variable, and it can reveal that two groups follow totally different patterns that you'd miss if you lumped them together.</a:t>
            </a:r>
            <a:endParaRPr/>
          </a:p>
        </p:txBody>
      </p:sp>
      <p:sp>
        <p:nvSpPr>
          <p:cNvPr id="413" name="Google Shape;41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h5dd98a2005baa54f_0_0:notes"/>
          <p:cNvSpPr/>
          <p:nvPr>
            <p:ph idx="2" type="sldImg"/>
          </p:nvPr>
        </p:nvSpPr>
        <p:spPr>
          <a:xfrm>
            <a:off x="9144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6925">
            <a:solidFill>
              <a:srgbClr val="000000"/>
            </a:solidFill>
            <a:prstDash val="solid"/>
            <a:round/>
            <a:headEnd len="sm" w="sm" type="none"/>
            <a:tailEnd len="sm" w="sm" type="none"/>
          </a:ln>
        </p:spPr>
      </p:sp>
      <p:sp>
        <p:nvSpPr>
          <p:cNvPr id="489" name="Google Shape;489;h5dd98a2005baa54f_0_0:notes"/>
          <p:cNvSpPr txBox="1"/>
          <p:nvPr>
            <p:ph idx="1" type="body"/>
          </p:nvPr>
        </p:nvSpPr>
        <p:spPr>
          <a:xfrm>
            <a:off x="914400" y="5867400"/>
            <a:ext cx="7315200" cy="4800900"/>
          </a:xfrm>
          <a:prstGeom prst="rect">
            <a:avLst/>
          </a:prstGeom>
          <a:noFill/>
          <a:ln>
            <a:noFill/>
          </a:ln>
        </p:spPr>
        <p:txBody>
          <a:bodyPr anchorCtr="0" anchor="t" bIns="60925" lIns="121900" spcFirstLastPara="1" rIns="121900" wrap="square" tIns="60925">
            <a:noAutofit/>
          </a:bodyPr>
          <a:lstStyle/>
          <a:p>
            <a:pPr indent="0" lvl="0" marL="0" rtl="0" algn="l">
              <a:spcBef>
                <a:spcPts val="0"/>
              </a:spcBef>
              <a:spcAft>
                <a:spcPts val="0"/>
              </a:spcAft>
              <a:buNone/>
            </a:pPr>
            <a:r>
              <a:rPr lang="en-US"/>
              <a:t>~1:00 min</a:t>
            </a:r>
            <a:br>
              <a:rPr lang="en-US"/>
            </a:br>
            <a:r>
              <a:rPr lang="en-US"/>
              <a:t>- EDA isn't done until you can explain it to someone else.</a:t>
            </a:r>
            <a:br>
              <a:rPr lang="en-US"/>
            </a:br>
            <a:r>
              <a:rPr lang="en-US"/>
              <a:t>- Go back to your step 1 questions and answer them.</a:t>
            </a:r>
            <a:br>
              <a:rPr lang="en-US"/>
            </a:br>
            <a:r>
              <a:rPr lang="en-US"/>
              <a:t>- Show 1-2 key charts, not all 20 you made.</a:t>
            </a:r>
            <a:br>
              <a:rPr lang="en-US"/>
            </a:br>
            <a:r>
              <a:rPr lang="en-US"/>
              <a:t>- Call out patterns and surprises, then end with open questions and next steps.</a:t>
            </a:r>
            <a:endParaRPr/>
          </a:p>
        </p:txBody>
      </p:sp>
      <p:sp>
        <p:nvSpPr>
          <p:cNvPr id="490" name="Google Shape;490;h5dd98a2005baa54f_0_0:notes"/>
          <p:cNvSpPr txBox="1"/>
          <p:nvPr>
            <p:ph idx="12" type="sldNum"/>
          </p:nvPr>
        </p:nvSpPr>
        <p:spPr>
          <a:xfrm>
            <a:off x="5179484" y="11580284"/>
            <a:ext cx="3962400" cy="611700"/>
          </a:xfrm>
          <a:prstGeom prst="rect">
            <a:avLst/>
          </a:prstGeom>
          <a:noFill/>
          <a:ln>
            <a:noFill/>
          </a:ln>
        </p:spPr>
        <p:txBody>
          <a:bodyPr anchorCtr="0" anchor="b" bIns="60925" lIns="121900" spcFirstLastPara="1" rIns="121900" wrap="square" tIns="609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3" name="Google Shape;54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Before we wrap up, three traps that catch everyone. First, two variables moving together doesn't mean one causes the other; there's often a hidden third variable driving both. Second, a correlation near zero only rules out a straight line, so this arch is clearly a relationship. Third, an average can describe nobody: with two groups, the mean lands in the gap, which is why you split by category.</a:t>
            </a:r>
            <a:endParaRPr/>
          </a:p>
        </p:txBody>
      </p:sp>
      <p:sp>
        <p:nvSpPr>
          <p:cNvPr id="544" name="Google Shape;54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1" name="Google Shape;57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That's the full process, and now it's your turn. In the Colab notebook you'll load last week's cleaned data with pandas and explore it with matplotlib, seaborn, or plotly. Screenshot this checklist and work through it top to bottom; if you get stuck, raise your hand or grab someone next to you.</a:t>
            </a:r>
            <a:endParaRPr/>
          </a:p>
        </p:txBody>
      </p:sp>
      <p:sp>
        <p:nvSpPr>
          <p:cNvPr id="572" name="Google Shape;57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h5dd98a2005baa54f_1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1" name="Google Shape;581;h5dd98a2005baa54f_1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That's the full process, and now it's your turn. In the Colab notebook you'll load last week's cleaned data with pandas and explore it with matplotlib, seaborn, or plotly. Screenshot this checklist and work through it top to bottom; if you get stuck, raise your hand or grab someone next to you.</a:t>
            </a:r>
            <a:endParaRPr/>
          </a:p>
        </p:txBody>
      </p:sp>
      <p:sp>
        <p:nvSpPr>
          <p:cNvPr id="582" name="Google Shape;582;h5dd98a2005baa54f_1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h5dd98a2005baa54f_1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0" name="Google Shape;590;h5dd98a2005baa54f_1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That's the full process, and now it's your turn. In the Colab notebook you'll load last week's cleaned data with pandas and explore it with matplotlib, seaborn, or plotly. Screenshot this checklist and work through it top to bottom; if you get stuck, raise your hand or grab someone next to you.</a:t>
            </a:r>
            <a:endParaRPr/>
          </a:p>
        </p:txBody>
      </p:sp>
      <p:sp>
        <p:nvSpPr>
          <p:cNvPr id="591" name="Google Shape;591;h5dd98a2005baa54f_1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15.png"/><Relationship Id="rId7" Type="http://schemas.openxmlformats.org/officeDocument/2006/relationships/image" Target="../media/image12.png"/><Relationship Id="rId8"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9.png"/><Relationship Id="rId5" Type="http://schemas.openxmlformats.org/officeDocument/2006/relationships/image" Target="../media/image6.png"/><Relationship Id="rId6"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3.png"/><Relationship Id="rId4" Type="http://schemas.openxmlformats.org/officeDocument/2006/relationships/image" Target="../media/image27.png"/><Relationship Id="rId5"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23.png"/><Relationship Id="rId5" Type="http://schemas.openxmlformats.org/officeDocument/2006/relationships/image" Target="../media/image22.png"/><Relationship Id="rId6"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1E42"/>
        </a:solidFill>
      </p:bgPr>
    </p:bg>
    <p:spTree>
      <p:nvGrpSpPr>
        <p:cNvPr id="15" name="Shape 15"/>
        <p:cNvGrpSpPr/>
        <p:nvPr/>
      </p:nvGrpSpPr>
      <p:grpSpPr>
        <a:xfrm>
          <a:off x="0" y="0"/>
          <a:ext cx="0" cy="0"/>
          <a:chOff x="0" y="0"/>
          <a:chExt cx="0" cy="0"/>
        </a:xfrm>
      </p:grpSpPr>
      <p:pic>
        <p:nvPicPr>
          <p:cNvPr descr="Decorative histogram with a smooth curve over it" id="16" name="Google Shape;16;p1"/>
          <p:cNvPicPr preferRelativeResize="0"/>
          <p:nvPr/>
        </p:nvPicPr>
        <p:blipFill rotWithShape="1">
          <a:blip r:embed="rId3">
            <a:alphaModFix/>
          </a:blip>
          <a:srcRect b="0" l="0" r="0" t="0"/>
          <a:stretch/>
        </p:blipFill>
        <p:spPr>
          <a:xfrm>
            <a:off x="7569233" y="1397000"/>
            <a:ext cx="3810000" cy="4064000"/>
          </a:xfrm>
          <a:prstGeom prst="rect">
            <a:avLst/>
          </a:prstGeom>
          <a:noFill/>
          <a:ln>
            <a:noFill/>
          </a:ln>
        </p:spPr>
      </p:pic>
      <p:sp>
        <p:nvSpPr>
          <p:cNvPr id="17" name="Google Shape;17;p1"/>
          <p:cNvSpPr/>
          <p:nvPr/>
        </p:nvSpPr>
        <p:spPr>
          <a:xfrm>
            <a:off x="812767" y="812767"/>
            <a:ext cx="2108398" cy="340320"/>
          </a:xfrm>
          <a:prstGeom prst="roundRect">
            <a:avLst>
              <a:gd fmla="val 50000" name="adj"/>
            </a:avLst>
          </a:prstGeom>
          <a:solidFill>
            <a:srgbClr val="F9A8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965167" y="876267"/>
            <a:ext cx="185770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200"/>
              <a:buFont typeface="DM Sans"/>
              <a:buNone/>
            </a:pPr>
            <a:r>
              <a:rPr b="1" i="0" lang="en-US" sz="1200" u="none" cap="none" strike="noStrike">
                <a:solidFill>
                  <a:srgbClr val="041E42"/>
                </a:solidFill>
                <a:latin typeface="DM Sans"/>
                <a:ea typeface="DM Sans"/>
                <a:cs typeface="DM Sans"/>
                <a:sym typeface="DM Sans"/>
              </a:rPr>
              <a:t>NITTANY DATA LABS</a:t>
            </a:r>
            <a:endParaRPr b="0" i="0" sz="1200" u="none" cap="none" strike="noStrike">
              <a:solidFill>
                <a:schemeClr val="dk1"/>
              </a:solidFill>
              <a:latin typeface="Calibri"/>
              <a:ea typeface="Calibri"/>
              <a:cs typeface="Calibri"/>
              <a:sym typeface="Calibri"/>
            </a:endParaRPr>
          </a:p>
        </p:txBody>
      </p:sp>
      <p:sp>
        <p:nvSpPr>
          <p:cNvPr id="19" name="Google Shape;19;p1"/>
          <p:cNvSpPr/>
          <p:nvPr/>
        </p:nvSpPr>
        <p:spPr>
          <a:xfrm>
            <a:off x="4077625" y="473900"/>
            <a:ext cx="6214200" cy="1625700"/>
          </a:xfrm>
          <a:prstGeom prst="rect">
            <a:avLst/>
          </a:prstGeom>
          <a:noFill/>
          <a:ln>
            <a:noFill/>
          </a:ln>
        </p:spPr>
        <p:txBody>
          <a:bodyPr anchorCtr="0" anchor="t" bIns="0" lIns="0" spcFirstLastPara="1" rIns="0" wrap="square" tIns="0">
            <a:normAutofit/>
          </a:bodyPr>
          <a:lstStyle/>
          <a:p>
            <a:pPr indent="0" lvl="0" marL="0" marR="0" rtl="0" algn="ctr">
              <a:lnSpc>
                <a:spcPct val="104999"/>
              </a:lnSpc>
              <a:spcBef>
                <a:spcPts val="0"/>
              </a:spcBef>
              <a:spcAft>
                <a:spcPts val="0"/>
              </a:spcAft>
              <a:buClr>
                <a:srgbClr val="F6F7F9"/>
              </a:buClr>
              <a:buSzPts val="6000"/>
              <a:buFont typeface="DM Sans"/>
              <a:buNone/>
            </a:pPr>
            <a:r>
              <a:rPr b="1" lang="en-US" sz="6000">
                <a:solidFill>
                  <a:srgbClr val="F6F7F9"/>
                </a:solidFill>
                <a:latin typeface="DM Sans"/>
                <a:ea typeface="DM Sans"/>
                <a:cs typeface="DM Sans"/>
                <a:sym typeface="DM Sans"/>
              </a:rPr>
              <a:t>Please sit in first 3 rows!</a:t>
            </a:r>
            <a:endParaRPr b="0" i="0" sz="6000" u="none" cap="none" strike="noStrike">
              <a:solidFill>
                <a:schemeClr val="dk1"/>
              </a:solidFill>
              <a:latin typeface="Calibri"/>
              <a:ea typeface="Calibri"/>
              <a:cs typeface="Calibri"/>
              <a:sym typeface="Calibri"/>
            </a:endParaRPr>
          </a:p>
        </p:txBody>
      </p:sp>
      <p:sp>
        <p:nvSpPr>
          <p:cNvPr id="20" name="Google Shape;20;p1"/>
          <p:cNvSpPr/>
          <p:nvPr/>
        </p:nvSpPr>
        <p:spPr>
          <a:xfrm>
            <a:off x="812767" y="4112245"/>
            <a:ext cx="6540500"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F9A826"/>
              </a:buClr>
              <a:buSzPts val="3200"/>
              <a:buFont typeface="DM Sans"/>
              <a:buNone/>
            </a:pPr>
            <a:r>
              <a:rPr b="0" i="0" lang="en-US" sz="3200" u="none" cap="none" strike="noStrike">
                <a:solidFill>
                  <a:srgbClr val="F9A826"/>
                </a:solidFill>
                <a:latin typeface="DM Sans"/>
                <a:ea typeface="DM Sans"/>
                <a:cs typeface="DM Sans"/>
                <a:sym typeface="DM Sans"/>
              </a:rPr>
              <a:t>Getting to Know Your Data</a:t>
            </a:r>
            <a:endParaRPr b="0" i="0" sz="3200" u="none" cap="none" strike="noStrike">
              <a:solidFill>
                <a:schemeClr val="dk1"/>
              </a:solidFill>
              <a:latin typeface="Calibri"/>
              <a:ea typeface="Calibri"/>
              <a:cs typeface="Calibri"/>
              <a:sym typeface="Calibri"/>
            </a:endParaRPr>
          </a:p>
        </p:txBody>
      </p:sp>
      <p:sp>
        <p:nvSpPr>
          <p:cNvPr id="21" name="Google Shape;21;p1"/>
          <p:cNvSpPr/>
          <p:nvPr/>
        </p:nvSpPr>
        <p:spPr>
          <a:xfrm>
            <a:off x="812767" y="5460992"/>
            <a:ext cx="2108400" cy="340200"/>
          </a:xfrm>
          <a:prstGeom prst="roundRect">
            <a:avLst>
              <a:gd fmla="val 50000" name="adj"/>
            </a:avLst>
          </a:prstGeom>
          <a:solidFill>
            <a:srgbClr val="F9A8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a:latin typeface="DM Sans"/>
                <a:ea typeface="DM Sans"/>
                <a:cs typeface="DM Sans"/>
                <a:sym typeface="DM Sans"/>
              </a:rPr>
              <a:t>Bootcamp #2</a:t>
            </a:r>
            <a:endParaRPr b="1">
              <a:latin typeface="DM Sans"/>
              <a:ea typeface="DM Sans"/>
              <a:cs typeface="DM Sans"/>
              <a:sym typeface="DM Sans"/>
            </a:endParaRPr>
          </a:p>
        </p:txBody>
      </p:sp>
      <p:sp>
        <p:nvSpPr>
          <p:cNvPr id="22" name="Google Shape;22;p1"/>
          <p:cNvSpPr/>
          <p:nvPr/>
        </p:nvSpPr>
        <p:spPr>
          <a:xfrm>
            <a:off x="812717" y="2377303"/>
            <a:ext cx="6540600" cy="16257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6F7F9"/>
              </a:buClr>
              <a:buSzPts val="6000"/>
              <a:buFont typeface="DM Sans"/>
              <a:buNone/>
            </a:pPr>
            <a:r>
              <a:rPr b="1" i="0" lang="en-US" sz="6000" u="none" cap="none" strike="noStrike">
                <a:solidFill>
                  <a:srgbClr val="F6F7F9"/>
                </a:solidFill>
                <a:latin typeface="DM Sans"/>
                <a:ea typeface="DM Sans"/>
                <a:cs typeface="DM Sans"/>
                <a:sym typeface="DM Sans"/>
              </a:rPr>
              <a:t>Exploratory</a:t>
            </a:r>
            <a:endParaRPr b="0" i="0" sz="60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6F7F9"/>
              </a:buClr>
              <a:buSzPts val="6000"/>
              <a:buFont typeface="DM Sans"/>
              <a:buNone/>
            </a:pPr>
            <a:r>
              <a:rPr b="1" i="0" lang="en-US" sz="6000" u="none" cap="none" strike="noStrike">
                <a:solidFill>
                  <a:srgbClr val="F6F7F9"/>
                </a:solidFill>
                <a:latin typeface="DM Sans"/>
                <a:ea typeface="DM Sans"/>
                <a:cs typeface="DM Sans"/>
                <a:sym typeface="DM Sans"/>
              </a:rPr>
              <a:t>Data Analysis</a:t>
            </a:r>
            <a:endParaRPr b="0" i="0" sz="6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9"/>
        </a:solidFill>
      </p:bgPr>
    </p:bg>
    <p:spTree>
      <p:nvGrpSpPr>
        <p:cNvPr id="27" name="Shape 27"/>
        <p:cNvGrpSpPr/>
        <p:nvPr/>
      </p:nvGrpSpPr>
      <p:grpSpPr>
        <a:xfrm>
          <a:off x="0" y="0"/>
          <a:ext cx="0" cy="0"/>
          <a:chOff x="0" y="0"/>
          <a:chExt cx="0" cy="0"/>
        </a:xfrm>
      </p:grpSpPr>
      <p:pic>
        <p:nvPicPr>
          <p:cNvPr id="28" name="Google Shape;28;h1d77994be5bea945_0_4" title="ndl-fall-2026-attendance.png"/>
          <p:cNvPicPr preferRelativeResize="0"/>
          <p:nvPr/>
        </p:nvPicPr>
        <p:blipFill>
          <a:blip r:embed="rId3">
            <a:alphaModFix/>
          </a:blip>
          <a:stretch>
            <a:fillRect/>
          </a:stretch>
        </p:blipFill>
        <p:spPr>
          <a:xfrm>
            <a:off x="3597475" y="1362000"/>
            <a:ext cx="4997050" cy="4997050"/>
          </a:xfrm>
          <a:prstGeom prst="rect">
            <a:avLst/>
          </a:prstGeom>
          <a:noFill/>
          <a:ln>
            <a:noFill/>
          </a:ln>
        </p:spPr>
      </p:pic>
      <p:sp>
        <p:nvSpPr>
          <p:cNvPr id="29" name="Google Shape;29;h1d77994be5bea945_0_4"/>
          <p:cNvSpPr/>
          <p:nvPr/>
        </p:nvSpPr>
        <p:spPr>
          <a:xfrm>
            <a:off x="302067" y="646303"/>
            <a:ext cx="108834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41E42"/>
              </a:buClr>
              <a:buSzPts val="3200"/>
              <a:buFont typeface="DM Sans"/>
              <a:buNone/>
            </a:pPr>
            <a:r>
              <a:rPr b="1" lang="en-US" sz="3200">
                <a:solidFill>
                  <a:srgbClr val="041E42"/>
                </a:solidFill>
                <a:latin typeface="DM Sans"/>
                <a:ea typeface="DM Sans"/>
                <a:cs typeface="DM Sans"/>
                <a:sym typeface="DM Sans"/>
              </a:rPr>
              <a:t>Attendance - “EDA”</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9"/>
        </a:solidFill>
      </p:bgPr>
    </p:bg>
    <p:spTree>
      <p:nvGrpSpPr>
        <p:cNvPr id="34" name="Shape 34"/>
        <p:cNvGrpSpPr/>
        <p:nvPr/>
      </p:nvGrpSpPr>
      <p:grpSpPr>
        <a:xfrm>
          <a:off x="0" y="0"/>
          <a:ext cx="0" cy="0"/>
          <a:chOff x="0" y="0"/>
          <a:chExt cx="0" cy="0"/>
        </a:xfrm>
      </p:grpSpPr>
      <p:sp>
        <p:nvSpPr>
          <p:cNvPr id="35" name="Google Shape;35;p2"/>
          <p:cNvSpPr/>
          <p:nvPr/>
        </p:nvSpPr>
        <p:spPr>
          <a:xfrm>
            <a:off x="812767" y="812767"/>
            <a:ext cx="1088346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E407C"/>
              </a:buClr>
              <a:buSzPts val="1200"/>
              <a:buFont typeface="DM Sans"/>
              <a:buNone/>
            </a:pPr>
            <a:r>
              <a:rPr b="1" i="0" lang="en-US" sz="1200" u="none" cap="none" strike="noStrike">
                <a:solidFill>
                  <a:srgbClr val="1E407C"/>
                </a:solidFill>
                <a:latin typeface="DM Sans"/>
                <a:ea typeface="DM Sans"/>
                <a:cs typeface="DM Sans"/>
                <a:sym typeface="DM Sans"/>
              </a:rPr>
              <a:t>THE BASICS</a:t>
            </a:r>
            <a:endParaRPr b="0" i="0" sz="1200" u="none" cap="none" strike="noStrike">
              <a:solidFill>
                <a:schemeClr val="dk1"/>
              </a:solidFill>
              <a:latin typeface="Calibri"/>
              <a:ea typeface="Calibri"/>
              <a:cs typeface="Calibri"/>
              <a:sym typeface="Calibri"/>
            </a:endParaRPr>
          </a:p>
        </p:txBody>
      </p:sp>
      <p:sp>
        <p:nvSpPr>
          <p:cNvPr id="36" name="Google Shape;36;p2"/>
          <p:cNvSpPr/>
          <p:nvPr/>
        </p:nvSpPr>
        <p:spPr>
          <a:xfrm>
            <a:off x="812767" y="1102278"/>
            <a:ext cx="10883400" cy="4725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041E42"/>
              </a:buClr>
              <a:buSzPts val="3200"/>
              <a:buFont typeface="DM Sans"/>
              <a:buNone/>
            </a:pPr>
            <a:r>
              <a:rPr b="1" i="0" lang="en-US" sz="3200" u="none" cap="none" strike="noStrike">
                <a:solidFill>
                  <a:srgbClr val="041E42"/>
                </a:solidFill>
                <a:latin typeface="DM Sans"/>
                <a:ea typeface="DM Sans"/>
                <a:cs typeface="DM Sans"/>
                <a:sym typeface="DM Sans"/>
              </a:rPr>
              <a:t>What is EDA?</a:t>
            </a:r>
            <a:endParaRPr b="0" i="0" sz="3200" u="none" cap="none" strike="noStrike">
              <a:solidFill>
                <a:schemeClr val="dk1"/>
              </a:solidFill>
              <a:latin typeface="Calibri"/>
              <a:ea typeface="Calibri"/>
              <a:cs typeface="Calibri"/>
              <a:sym typeface="Calibri"/>
            </a:endParaRPr>
          </a:p>
        </p:txBody>
      </p:sp>
      <p:sp>
        <p:nvSpPr>
          <p:cNvPr id="37" name="Google Shape;37;p2"/>
          <p:cNvSpPr/>
          <p:nvPr/>
        </p:nvSpPr>
        <p:spPr>
          <a:xfrm>
            <a:off x="812767" y="1854067"/>
            <a:ext cx="9810750" cy="723817"/>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041E42"/>
              </a:buClr>
              <a:buSzPts val="2200"/>
              <a:buFont typeface="DM Sans"/>
              <a:buNone/>
            </a:pPr>
            <a:r>
              <a:rPr b="0" i="0" lang="en-US" sz="2200" u="none" cap="none" strike="noStrike">
                <a:solidFill>
                  <a:srgbClr val="041E42"/>
                </a:solidFill>
                <a:latin typeface="DM Sans"/>
                <a:ea typeface="DM Sans"/>
                <a:cs typeface="DM Sans"/>
                <a:sym typeface="DM Sans"/>
              </a:rPr>
              <a:t>Exploring, summarizing, and visualizing clean data to understand it </a:t>
            </a:r>
            <a:r>
              <a:rPr b="1" i="0" lang="en-US" sz="2200" u="none" cap="none" strike="noStrike">
                <a:solidFill>
                  <a:srgbClr val="1E407C"/>
                </a:solidFill>
                <a:latin typeface="DM Sans"/>
                <a:ea typeface="DM Sans"/>
                <a:cs typeface="DM Sans"/>
                <a:sym typeface="DM Sans"/>
              </a:rPr>
              <a:t>before</a:t>
            </a:r>
            <a:r>
              <a:rPr b="0" i="0" lang="en-US" sz="2200" u="none" cap="none" strike="noStrike">
                <a:solidFill>
                  <a:srgbClr val="041E42"/>
                </a:solidFill>
                <a:latin typeface="DM Sans"/>
                <a:ea typeface="DM Sans"/>
                <a:cs typeface="DM Sans"/>
                <a:sym typeface="DM Sans"/>
              </a:rPr>
              <a:t> building any model.</a:t>
            </a:r>
            <a:endParaRPr b="0" i="0" sz="2200" u="none" cap="none" strike="noStrike">
              <a:solidFill>
                <a:schemeClr val="dk1"/>
              </a:solidFill>
              <a:latin typeface="Calibri"/>
              <a:ea typeface="Calibri"/>
              <a:cs typeface="Calibri"/>
              <a:sym typeface="Calibri"/>
            </a:endParaRPr>
          </a:p>
        </p:txBody>
      </p:sp>
      <p:sp>
        <p:nvSpPr>
          <p:cNvPr id="38" name="Google Shape;38;p2"/>
          <p:cNvSpPr/>
          <p:nvPr/>
        </p:nvSpPr>
        <p:spPr>
          <a:xfrm>
            <a:off x="819117" y="3068819"/>
            <a:ext cx="1647643" cy="938022"/>
          </a:xfrm>
          <a:prstGeom prst="roundRect">
            <a:avLst>
              <a:gd fmla="val 12862" name="adj"/>
            </a:avLst>
          </a:prstGeom>
          <a:solidFill>
            <a:srgbClr val="FDFDFE"/>
          </a:solidFill>
          <a:ln cap="flat" cmpd="sng" w="12700">
            <a:solidFill>
              <a:srgbClr val="D5DE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Database" id="39" name="Google Shape;39;p2"/>
          <p:cNvPicPr preferRelativeResize="0"/>
          <p:nvPr/>
        </p:nvPicPr>
        <p:blipFill rotWithShape="1">
          <a:blip r:embed="rId3">
            <a:alphaModFix/>
          </a:blip>
          <a:srcRect b="0" l="0" r="0" t="0"/>
          <a:stretch/>
        </p:blipFill>
        <p:spPr>
          <a:xfrm>
            <a:off x="1490555" y="3225436"/>
            <a:ext cx="304767" cy="304767"/>
          </a:xfrm>
          <a:prstGeom prst="rect">
            <a:avLst/>
          </a:prstGeom>
          <a:noFill/>
          <a:ln>
            <a:noFill/>
          </a:ln>
        </p:spPr>
      </p:pic>
      <p:sp>
        <p:nvSpPr>
          <p:cNvPr id="40" name="Google Shape;40;p2"/>
          <p:cNvSpPr/>
          <p:nvPr/>
        </p:nvSpPr>
        <p:spPr>
          <a:xfrm>
            <a:off x="1193519" y="3606395"/>
            <a:ext cx="949598" cy="26923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41E42"/>
              </a:buClr>
              <a:buSzPts val="1600"/>
              <a:buFont typeface="DM Sans"/>
              <a:buNone/>
            </a:pPr>
            <a:r>
              <a:rPr b="1" i="0" lang="en-US" sz="1600" u="none" cap="none" strike="noStrike">
                <a:solidFill>
                  <a:srgbClr val="041E42"/>
                </a:solidFill>
                <a:latin typeface="DM Sans"/>
                <a:ea typeface="DM Sans"/>
                <a:cs typeface="DM Sans"/>
                <a:sym typeface="DM Sans"/>
              </a:rPr>
              <a:t>Raw data</a:t>
            </a:r>
            <a:endParaRPr b="0" i="0" sz="1600" u="none" cap="none" strike="noStrike">
              <a:solidFill>
                <a:schemeClr val="dk1"/>
              </a:solidFill>
              <a:latin typeface="Calibri"/>
              <a:ea typeface="Calibri"/>
              <a:cs typeface="Calibri"/>
              <a:sym typeface="Calibri"/>
            </a:endParaRPr>
          </a:p>
        </p:txBody>
      </p:sp>
      <p:pic>
        <p:nvPicPr>
          <p:cNvPr descr="arrow-right" id="41" name="Google Shape;41;p2"/>
          <p:cNvPicPr preferRelativeResize="0"/>
          <p:nvPr/>
        </p:nvPicPr>
        <p:blipFill rotWithShape="1">
          <a:blip r:embed="rId4">
            <a:alphaModFix/>
          </a:blip>
          <a:srcRect b="0" l="0" r="0" t="0"/>
          <a:stretch/>
        </p:blipFill>
        <p:spPr>
          <a:xfrm>
            <a:off x="2600110" y="3461659"/>
            <a:ext cx="304767" cy="152383"/>
          </a:xfrm>
          <a:prstGeom prst="rect">
            <a:avLst/>
          </a:prstGeom>
          <a:noFill/>
          <a:ln>
            <a:noFill/>
          </a:ln>
        </p:spPr>
      </p:pic>
      <p:sp>
        <p:nvSpPr>
          <p:cNvPr id="42" name="Google Shape;42;p2"/>
          <p:cNvSpPr/>
          <p:nvPr/>
        </p:nvSpPr>
        <p:spPr>
          <a:xfrm>
            <a:off x="3038227" y="2949508"/>
            <a:ext cx="1647684" cy="1176685"/>
          </a:xfrm>
          <a:prstGeom prst="roundRect">
            <a:avLst>
              <a:gd fmla="val 10253" name="adj"/>
            </a:avLst>
          </a:prstGeom>
          <a:solidFill>
            <a:srgbClr val="FDFDFE"/>
          </a:solidFill>
          <a:ln cap="flat" cmpd="sng" w="12700">
            <a:solidFill>
              <a:srgbClr val="D5DE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Wrench" id="43" name="Google Shape;43;p2"/>
          <p:cNvPicPr preferRelativeResize="0"/>
          <p:nvPr/>
        </p:nvPicPr>
        <p:blipFill rotWithShape="1">
          <a:blip r:embed="rId5">
            <a:alphaModFix/>
          </a:blip>
          <a:srcRect b="0" l="0" r="0" t="0"/>
          <a:stretch/>
        </p:blipFill>
        <p:spPr>
          <a:xfrm>
            <a:off x="3709665" y="3106125"/>
            <a:ext cx="304767" cy="304767"/>
          </a:xfrm>
          <a:prstGeom prst="rect">
            <a:avLst/>
          </a:prstGeom>
          <a:noFill/>
          <a:ln>
            <a:noFill/>
          </a:ln>
        </p:spPr>
      </p:pic>
      <p:sp>
        <p:nvSpPr>
          <p:cNvPr id="44" name="Google Shape;44;p2"/>
          <p:cNvSpPr/>
          <p:nvPr/>
        </p:nvSpPr>
        <p:spPr>
          <a:xfrm>
            <a:off x="3434416" y="3461659"/>
            <a:ext cx="906107" cy="26923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41E42"/>
              </a:buClr>
              <a:buSzPts val="1600"/>
              <a:buFont typeface="DM Sans"/>
              <a:buNone/>
            </a:pPr>
            <a:r>
              <a:rPr b="1" i="0" lang="en-US" sz="1600" u="none" cap="none" strike="noStrike">
                <a:solidFill>
                  <a:srgbClr val="041E42"/>
                </a:solidFill>
                <a:latin typeface="DM Sans"/>
                <a:ea typeface="DM Sans"/>
                <a:cs typeface="DM Sans"/>
                <a:sym typeface="DM Sans"/>
              </a:rPr>
              <a:t>Cleaning</a:t>
            </a:r>
            <a:endParaRPr b="0" i="0" sz="1600" u="none" cap="none" strike="noStrike">
              <a:solidFill>
                <a:schemeClr val="dk1"/>
              </a:solidFill>
              <a:latin typeface="Calibri"/>
              <a:ea typeface="Calibri"/>
              <a:cs typeface="Calibri"/>
              <a:sym typeface="Calibri"/>
            </a:endParaRPr>
          </a:p>
        </p:txBody>
      </p:sp>
      <p:sp>
        <p:nvSpPr>
          <p:cNvPr id="45" name="Google Shape;45;p2"/>
          <p:cNvSpPr/>
          <p:nvPr/>
        </p:nvSpPr>
        <p:spPr>
          <a:xfrm>
            <a:off x="3512054" y="3756256"/>
            <a:ext cx="75078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880"/>
              </a:buClr>
              <a:buSzPts val="1200"/>
              <a:buFont typeface="DM Sans"/>
              <a:buNone/>
            </a:pPr>
            <a:r>
              <a:rPr b="0" i="0" lang="en-US" sz="1200" u="none" cap="none" strike="noStrike">
                <a:solidFill>
                  <a:srgbClr val="5A6880"/>
                </a:solidFill>
                <a:latin typeface="DM Sans"/>
                <a:ea typeface="DM Sans"/>
                <a:cs typeface="DM Sans"/>
                <a:sym typeface="DM Sans"/>
              </a:rPr>
              <a:t>Last week</a:t>
            </a:r>
            <a:endParaRPr b="0" i="0" sz="1200" u="none" cap="none" strike="noStrike">
              <a:solidFill>
                <a:schemeClr val="dk1"/>
              </a:solidFill>
              <a:latin typeface="Calibri"/>
              <a:ea typeface="Calibri"/>
              <a:cs typeface="Calibri"/>
              <a:sym typeface="Calibri"/>
            </a:endParaRPr>
          </a:p>
        </p:txBody>
      </p:sp>
      <p:pic>
        <p:nvPicPr>
          <p:cNvPr descr="arrow-right" id="46" name="Google Shape;46;p2"/>
          <p:cNvPicPr preferRelativeResize="0"/>
          <p:nvPr/>
        </p:nvPicPr>
        <p:blipFill rotWithShape="1">
          <a:blip r:embed="rId4">
            <a:alphaModFix/>
          </a:blip>
          <a:srcRect b="0" l="0" r="0" t="0"/>
          <a:stretch/>
        </p:blipFill>
        <p:spPr>
          <a:xfrm>
            <a:off x="4819261" y="3461659"/>
            <a:ext cx="304767" cy="152383"/>
          </a:xfrm>
          <a:prstGeom prst="rect">
            <a:avLst/>
          </a:prstGeom>
          <a:noFill/>
          <a:ln>
            <a:noFill/>
          </a:ln>
        </p:spPr>
      </p:pic>
      <p:sp>
        <p:nvSpPr>
          <p:cNvPr id="47" name="Google Shape;47;p2"/>
          <p:cNvSpPr/>
          <p:nvPr/>
        </p:nvSpPr>
        <p:spPr>
          <a:xfrm>
            <a:off x="5251028" y="2857252"/>
            <a:ext cx="1689943" cy="1361199"/>
          </a:xfrm>
          <a:prstGeom prst="roundRect">
            <a:avLst>
              <a:gd fmla="val 9330" name="adj"/>
            </a:avLst>
          </a:prstGeom>
          <a:solidFill>
            <a:srgbClr val="F9A826"/>
          </a:solidFill>
          <a:ln>
            <a:noFill/>
          </a:ln>
          <a:effectLst>
            <a:outerShdw blurRad="203200" rotWithShape="0" algn="bl" dir="5400000" dist="76200">
              <a:srgbClr val="041E42">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arch" id="48" name="Google Shape;48;p2"/>
          <p:cNvPicPr preferRelativeResize="0"/>
          <p:nvPr/>
        </p:nvPicPr>
        <p:blipFill rotWithShape="1">
          <a:blip r:embed="rId6">
            <a:alphaModFix/>
          </a:blip>
          <a:srcRect b="0" l="0" r="0" t="0"/>
          <a:stretch/>
        </p:blipFill>
        <p:spPr>
          <a:xfrm>
            <a:off x="5918191" y="3035019"/>
            <a:ext cx="355575" cy="355575"/>
          </a:xfrm>
          <a:prstGeom prst="rect">
            <a:avLst/>
          </a:prstGeom>
          <a:noFill/>
          <a:ln>
            <a:noFill/>
          </a:ln>
        </p:spPr>
      </p:pic>
      <p:sp>
        <p:nvSpPr>
          <p:cNvPr id="49" name="Google Shape;49;p2"/>
          <p:cNvSpPr/>
          <p:nvPr/>
        </p:nvSpPr>
        <p:spPr>
          <a:xfrm>
            <a:off x="5822859" y="3441360"/>
            <a:ext cx="597041" cy="360635"/>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41E42"/>
              </a:buClr>
              <a:buSzPts val="2200"/>
              <a:buFont typeface="DM Sans"/>
              <a:buNone/>
            </a:pPr>
            <a:r>
              <a:rPr b="1" i="0" lang="en-US" sz="2200" u="none" cap="none" strike="noStrike">
                <a:solidFill>
                  <a:srgbClr val="041E42"/>
                </a:solidFill>
                <a:latin typeface="DM Sans"/>
                <a:ea typeface="DM Sans"/>
                <a:cs typeface="DM Sans"/>
                <a:sym typeface="DM Sans"/>
              </a:rPr>
              <a:t>EDA</a:t>
            </a:r>
            <a:endParaRPr b="0" i="0" sz="2200" u="none" cap="none" strike="noStrike">
              <a:solidFill>
                <a:schemeClr val="dk1"/>
              </a:solidFill>
              <a:latin typeface="Calibri"/>
              <a:ea typeface="Calibri"/>
              <a:cs typeface="Calibri"/>
              <a:sym typeface="Calibri"/>
            </a:endParaRPr>
          </a:p>
        </p:txBody>
      </p:sp>
      <p:sp>
        <p:nvSpPr>
          <p:cNvPr id="50" name="Google Shape;50;p2"/>
          <p:cNvSpPr/>
          <p:nvPr/>
        </p:nvSpPr>
        <p:spPr>
          <a:xfrm>
            <a:off x="5871683" y="3827363"/>
            <a:ext cx="49943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200"/>
              <a:buFont typeface="DM Sans"/>
              <a:buNone/>
            </a:pPr>
            <a:r>
              <a:rPr b="1" i="0" lang="en-US" sz="1200" u="none" cap="none" strike="noStrike">
                <a:solidFill>
                  <a:srgbClr val="041E42"/>
                </a:solidFill>
                <a:latin typeface="DM Sans"/>
                <a:ea typeface="DM Sans"/>
                <a:cs typeface="DM Sans"/>
                <a:sym typeface="DM Sans"/>
              </a:rPr>
              <a:t>Today</a:t>
            </a:r>
            <a:endParaRPr b="0" i="0" sz="1200" u="none" cap="none" strike="noStrike">
              <a:solidFill>
                <a:schemeClr val="dk1"/>
              </a:solidFill>
              <a:latin typeface="Calibri"/>
              <a:ea typeface="Calibri"/>
              <a:cs typeface="Calibri"/>
              <a:sym typeface="Calibri"/>
            </a:endParaRPr>
          </a:p>
        </p:txBody>
      </p:sp>
      <p:pic>
        <p:nvPicPr>
          <p:cNvPr descr="arrow-right" id="51" name="Google Shape;51;p2"/>
          <p:cNvPicPr preferRelativeResize="0"/>
          <p:nvPr/>
        </p:nvPicPr>
        <p:blipFill rotWithShape="1">
          <a:blip r:embed="rId4">
            <a:alphaModFix/>
          </a:blip>
          <a:srcRect b="0" l="0" r="0" t="0"/>
          <a:stretch/>
        </p:blipFill>
        <p:spPr>
          <a:xfrm>
            <a:off x="7067972" y="3461659"/>
            <a:ext cx="304767" cy="152383"/>
          </a:xfrm>
          <a:prstGeom prst="rect">
            <a:avLst/>
          </a:prstGeom>
          <a:noFill/>
          <a:ln>
            <a:noFill/>
          </a:ln>
        </p:spPr>
      </p:pic>
      <p:sp>
        <p:nvSpPr>
          <p:cNvPr id="52" name="Google Shape;52;p2"/>
          <p:cNvSpPr/>
          <p:nvPr/>
        </p:nvSpPr>
        <p:spPr>
          <a:xfrm>
            <a:off x="7506088" y="3068819"/>
            <a:ext cx="1647684" cy="938022"/>
          </a:xfrm>
          <a:prstGeom prst="roundRect">
            <a:avLst>
              <a:gd fmla="val 12862" name="adj"/>
            </a:avLst>
          </a:prstGeom>
          <a:solidFill>
            <a:srgbClr val="FDFDFE"/>
          </a:solidFill>
          <a:ln cap="flat" cmpd="sng" w="12700">
            <a:solidFill>
              <a:srgbClr val="D5DE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ttings" id="53" name="Google Shape;53;p2"/>
          <p:cNvPicPr preferRelativeResize="0"/>
          <p:nvPr/>
        </p:nvPicPr>
        <p:blipFill rotWithShape="1">
          <a:blip r:embed="rId7">
            <a:alphaModFix/>
          </a:blip>
          <a:srcRect b="0" l="0" r="0" t="0"/>
          <a:stretch/>
        </p:blipFill>
        <p:spPr>
          <a:xfrm>
            <a:off x="8177526" y="3225436"/>
            <a:ext cx="304767" cy="304767"/>
          </a:xfrm>
          <a:prstGeom prst="rect">
            <a:avLst/>
          </a:prstGeom>
          <a:noFill/>
          <a:ln>
            <a:noFill/>
          </a:ln>
        </p:spPr>
      </p:pic>
      <p:sp>
        <p:nvSpPr>
          <p:cNvPr id="54" name="Google Shape;54;p2"/>
          <p:cNvSpPr/>
          <p:nvPr/>
        </p:nvSpPr>
        <p:spPr>
          <a:xfrm>
            <a:off x="7880490" y="3606395"/>
            <a:ext cx="949681" cy="26923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41E42"/>
              </a:buClr>
              <a:buSzPts val="1600"/>
              <a:buFont typeface="DM Sans"/>
              <a:buNone/>
            </a:pPr>
            <a:r>
              <a:rPr b="1" i="0" lang="en-US" sz="1600" u="none" cap="none" strike="noStrike">
                <a:solidFill>
                  <a:srgbClr val="041E42"/>
                </a:solidFill>
                <a:latin typeface="DM Sans"/>
                <a:ea typeface="DM Sans"/>
                <a:cs typeface="DM Sans"/>
                <a:sym typeface="DM Sans"/>
              </a:rPr>
              <a:t>Modeling</a:t>
            </a:r>
            <a:endParaRPr b="0" i="0" sz="1600" u="none" cap="none" strike="noStrike">
              <a:solidFill>
                <a:schemeClr val="dk1"/>
              </a:solidFill>
              <a:latin typeface="Calibri"/>
              <a:ea typeface="Calibri"/>
              <a:cs typeface="Calibri"/>
              <a:sym typeface="Calibri"/>
            </a:endParaRPr>
          </a:p>
        </p:txBody>
      </p:sp>
      <p:pic>
        <p:nvPicPr>
          <p:cNvPr descr="arrow-right" id="55" name="Google Shape;55;p2"/>
          <p:cNvPicPr preferRelativeResize="0"/>
          <p:nvPr/>
        </p:nvPicPr>
        <p:blipFill rotWithShape="1">
          <a:blip r:embed="rId4">
            <a:alphaModFix/>
          </a:blip>
          <a:srcRect b="0" l="0" r="0" t="0"/>
          <a:stretch/>
        </p:blipFill>
        <p:spPr>
          <a:xfrm>
            <a:off x="9287123" y="3461659"/>
            <a:ext cx="304767" cy="152383"/>
          </a:xfrm>
          <a:prstGeom prst="rect">
            <a:avLst/>
          </a:prstGeom>
          <a:noFill/>
          <a:ln>
            <a:noFill/>
          </a:ln>
        </p:spPr>
      </p:pic>
      <p:sp>
        <p:nvSpPr>
          <p:cNvPr id="56" name="Google Shape;56;p2"/>
          <p:cNvSpPr/>
          <p:nvPr/>
        </p:nvSpPr>
        <p:spPr>
          <a:xfrm>
            <a:off x="9725240" y="3068819"/>
            <a:ext cx="1647643" cy="938022"/>
          </a:xfrm>
          <a:prstGeom prst="roundRect">
            <a:avLst>
              <a:gd fmla="val 12862" name="adj"/>
            </a:avLst>
          </a:prstGeom>
          <a:solidFill>
            <a:srgbClr val="FDFDFE"/>
          </a:solidFill>
          <a:ln cap="flat" cmpd="sng" w="12700">
            <a:solidFill>
              <a:srgbClr val="D5DE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bulb" id="57" name="Google Shape;57;p2"/>
          <p:cNvPicPr preferRelativeResize="0"/>
          <p:nvPr/>
        </p:nvPicPr>
        <p:blipFill rotWithShape="1">
          <a:blip r:embed="rId8">
            <a:alphaModFix/>
          </a:blip>
          <a:srcRect b="0" l="0" r="0" t="0"/>
          <a:stretch/>
        </p:blipFill>
        <p:spPr>
          <a:xfrm>
            <a:off x="10396678" y="3225436"/>
            <a:ext cx="304767" cy="304767"/>
          </a:xfrm>
          <a:prstGeom prst="rect">
            <a:avLst/>
          </a:prstGeom>
          <a:noFill/>
          <a:ln>
            <a:noFill/>
          </a:ln>
        </p:spPr>
      </p:pic>
      <p:sp>
        <p:nvSpPr>
          <p:cNvPr id="58" name="Google Shape;58;p2"/>
          <p:cNvSpPr/>
          <p:nvPr/>
        </p:nvSpPr>
        <p:spPr>
          <a:xfrm>
            <a:off x="10164258" y="3606395"/>
            <a:ext cx="820365" cy="26923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41E42"/>
              </a:buClr>
              <a:buSzPts val="1600"/>
              <a:buFont typeface="DM Sans"/>
              <a:buNone/>
            </a:pPr>
            <a:r>
              <a:rPr b="1" i="0" lang="en-US" sz="1600" u="none" cap="none" strike="noStrike">
                <a:solidFill>
                  <a:srgbClr val="041E42"/>
                </a:solidFill>
                <a:latin typeface="DM Sans"/>
                <a:ea typeface="DM Sans"/>
                <a:cs typeface="DM Sans"/>
                <a:sym typeface="DM Sans"/>
              </a:rPr>
              <a:t>Insights</a:t>
            </a:r>
            <a:endParaRPr b="0" i="0" sz="1600" u="none" cap="none" strike="noStrike">
              <a:solidFill>
                <a:schemeClr val="dk1"/>
              </a:solidFill>
              <a:latin typeface="Calibri"/>
              <a:ea typeface="Calibri"/>
              <a:cs typeface="Calibri"/>
              <a:sym typeface="Calibri"/>
            </a:endParaRPr>
          </a:p>
        </p:txBody>
      </p:sp>
      <p:cxnSp>
        <p:nvCxnSpPr>
          <p:cNvPr id="59" name="Google Shape;59;p2"/>
          <p:cNvCxnSpPr/>
          <p:nvPr/>
        </p:nvCxnSpPr>
        <p:spPr>
          <a:xfrm>
            <a:off x="831817" y="4523217"/>
            <a:ext cx="0" cy="289512"/>
          </a:xfrm>
          <a:prstGeom prst="straightConnector1">
            <a:avLst/>
          </a:prstGeom>
          <a:noFill/>
          <a:ln cap="flat" cmpd="sng" w="38100">
            <a:solidFill>
              <a:srgbClr val="F9A826"/>
            </a:solidFill>
            <a:prstDash val="solid"/>
            <a:round/>
            <a:headEnd len="sm" w="sm" type="none"/>
            <a:tailEnd len="sm" w="sm" type="none"/>
          </a:ln>
        </p:spPr>
      </p:cxnSp>
      <p:sp>
        <p:nvSpPr>
          <p:cNvPr id="60" name="Google Shape;60;p2"/>
          <p:cNvSpPr/>
          <p:nvPr/>
        </p:nvSpPr>
        <p:spPr>
          <a:xfrm>
            <a:off x="1002209" y="4535917"/>
            <a:ext cx="5155055" cy="28951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B4A63"/>
              </a:buClr>
              <a:buSzPts val="1600"/>
              <a:buFont typeface="DM Sans"/>
              <a:buNone/>
            </a:pPr>
            <a:r>
              <a:rPr b="0" i="0" lang="en-US" sz="1600" u="none" cap="none" strike="noStrike">
                <a:solidFill>
                  <a:srgbClr val="3B4A63"/>
                </a:solidFill>
                <a:latin typeface="DM Sans"/>
                <a:ea typeface="DM Sans"/>
                <a:cs typeface="DM Sans"/>
                <a:sym typeface="DM Sans"/>
              </a:rPr>
              <a:t>Understand its </a:t>
            </a:r>
            <a:r>
              <a:rPr b="1" i="0" lang="en-US" sz="1600" u="none" cap="none" strike="noStrike">
                <a:solidFill>
                  <a:srgbClr val="3B4A63"/>
                </a:solidFill>
                <a:latin typeface="DM Sans"/>
                <a:ea typeface="DM Sans"/>
                <a:cs typeface="DM Sans"/>
                <a:sym typeface="DM Sans"/>
              </a:rPr>
              <a:t>structure</a:t>
            </a:r>
            <a:endParaRPr b="0" i="0" sz="1600" u="none" cap="none" strike="noStrike">
              <a:solidFill>
                <a:schemeClr val="dk1"/>
              </a:solidFill>
              <a:latin typeface="Calibri"/>
              <a:ea typeface="Calibri"/>
              <a:cs typeface="Calibri"/>
              <a:sym typeface="Calibri"/>
            </a:endParaRPr>
          </a:p>
        </p:txBody>
      </p:sp>
      <p:cxnSp>
        <p:nvCxnSpPr>
          <p:cNvPr id="61" name="Google Shape;61;p2"/>
          <p:cNvCxnSpPr/>
          <p:nvPr/>
        </p:nvCxnSpPr>
        <p:spPr>
          <a:xfrm>
            <a:off x="6203933" y="4523217"/>
            <a:ext cx="0" cy="289512"/>
          </a:xfrm>
          <a:prstGeom prst="straightConnector1">
            <a:avLst/>
          </a:prstGeom>
          <a:noFill/>
          <a:ln cap="flat" cmpd="sng" w="38100">
            <a:solidFill>
              <a:srgbClr val="F9A826"/>
            </a:solidFill>
            <a:prstDash val="solid"/>
            <a:round/>
            <a:headEnd len="sm" w="sm" type="none"/>
            <a:tailEnd len="sm" w="sm" type="none"/>
          </a:ln>
        </p:spPr>
      </p:cxnSp>
      <p:sp>
        <p:nvSpPr>
          <p:cNvPr id="62" name="Google Shape;62;p2"/>
          <p:cNvSpPr/>
          <p:nvPr/>
        </p:nvSpPr>
        <p:spPr>
          <a:xfrm>
            <a:off x="6374325" y="4535917"/>
            <a:ext cx="5155055" cy="28951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B4A63"/>
              </a:buClr>
              <a:buSzPts val="1600"/>
              <a:buFont typeface="DM Sans"/>
              <a:buNone/>
            </a:pPr>
            <a:r>
              <a:rPr b="0" i="0" lang="en-US" sz="1600" u="none" cap="none" strike="noStrike">
                <a:solidFill>
                  <a:srgbClr val="3B4A63"/>
                </a:solidFill>
                <a:latin typeface="DM Sans"/>
                <a:ea typeface="DM Sans"/>
                <a:cs typeface="DM Sans"/>
                <a:sym typeface="DM Sans"/>
              </a:rPr>
              <a:t>Spot </a:t>
            </a:r>
            <a:r>
              <a:rPr b="1" i="0" lang="en-US" sz="1600" u="none" cap="none" strike="noStrike">
                <a:solidFill>
                  <a:srgbClr val="3B4A63"/>
                </a:solidFill>
                <a:latin typeface="DM Sans"/>
                <a:ea typeface="DM Sans"/>
                <a:cs typeface="DM Sans"/>
                <a:sym typeface="DM Sans"/>
              </a:rPr>
              <a:t>patterns</a:t>
            </a:r>
            <a:r>
              <a:rPr b="0" i="0" lang="en-US" sz="1600" u="none" cap="none" strike="noStrike">
                <a:solidFill>
                  <a:srgbClr val="3B4A63"/>
                </a:solidFill>
                <a:latin typeface="DM Sans"/>
                <a:ea typeface="DM Sans"/>
                <a:cs typeface="DM Sans"/>
                <a:sym typeface="DM Sans"/>
              </a:rPr>
              <a:t> and </a:t>
            </a:r>
            <a:r>
              <a:rPr b="1" i="0" lang="en-US" sz="1600" u="none" cap="none" strike="noStrike">
                <a:solidFill>
                  <a:srgbClr val="3B4A63"/>
                </a:solidFill>
                <a:latin typeface="DM Sans"/>
                <a:ea typeface="DM Sans"/>
                <a:cs typeface="DM Sans"/>
                <a:sym typeface="DM Sans"/>
              </a:rPr>
              <a:t>trends</a:t>
            </a:r>
            <a:endParaRPr b="0" i="0" sz="1600" u="none" cap="none" strike="noStrike">
              <a:solidFill>
                <a:schemeClr val="dk1"/>
              </a:solidFill>
              <a:latin typeface="Calibri"/>
              <a:ea typeface="Calibri"/>
              <a:cs typeface="Calibri"/>
              <a:sym typeface="Calibri"/>
            </a:endParaRPr>
          </a:p>
        </p:txBody>
      </p:sp>
      <p:cxnSp>
        <p:nvCxnSpPr>
          <p:cNvPr id="63" name="Google Shape;63;p2"/>
          <p:cNvCxnSpPr/>
          <p:nvPr/>
        </p:nvCxnSpPr>
        <p:spPr>
          <a:xfrm>
            <a:off x="831817" y="4990496"/>
            <a:ext cx="0" cy="289512"/>
          </a:xfrm>
          <a:prstGeom prst="straightConnector1">
            <a:avLst/>
          </a:prstGeom>
          <a:noFill/>
          <a:ln cap="flat" cmpd="sng" w="38100">
            <a:solidFill>
              <a:srgbClr val="F9A826"/>
            </a:solidFill>
            <a:prstDash val="solid"/>
            <a:round/>
            <a:headEnd len="sm" w="sm" type="none"/>
            <a:tailEnd len="sm" w="sm" type="none"/>
          </a:ln>
        </p:spPr>
      </p:cxnSp>
      <p:sp>
        <p:nvSpPr>
          <p:cNvPr id="64" name="Google Shape;64;p2"/>
          <p:cNvSpPr/>
          <p:nvPr/>
        </p:nvSpPr>
        <p:spPr>
          <a:xfrm>
            <a:off x="1002209" y="5003196"/>
            <a:ext cx="5155055" cy="28951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B4A63"/>
              </a:buClr>
              <a:buSzPts val="1600"/>
              <a:buFont typeface="DM Sans"/>
              <a:buNone/>
            </a:pPr>
            <a:r>
              <a:rPr b="0" i="0" lang="en-US" sz="1600" u="none" cap="none" strike="noStrike">
                <a:solidFill>
                  <a:srgbClr val="3B4A63"/>
                </a:solidFill>
                <a:latin typeface="DM Sans"/>
                <a:ea typeface="DM Sans"/>
                <a:cs typeface="DM Sans"/>
                <a:sym typeface="DM Sans"/>
              </a:rPr>
              <a:t>See how </a:t>
            </a:r>
            <a:r>
              <a:rPr b="1" i="0" lang="en-US" sz="1600" u="none" cap="none" strike="noStrike">
                <a:solidFill>
                  <a:srgbClr val="3B4A63"/>
                </a:solidFill>
                <a:latin typeface="DM Sans"/>
                <a:ea typeface="DM Sans"/>
                <a:cs typeface="DM Sans"/>
                <a:sym typeface="DM Sans"/>
              </a:rPr>
              <a:t>variables relate</a:t>
            </a:r>
            <a:endParaRPr b="0" i="0" sz="1600" u="none" cap="none" strike="noStrike">
              <a:solidFill>
                <a:schemeClr val="dk1"/>
              </a:solidFill>
              <a:latin typeface="Calibri"/>
              <a:ea typeface="Calibri"/>
              <a:cs typeface="Calibri"/>
              <a:sym typeface="Calibri"/>
            </a:endParaRPr>
          </a:p>
        </p:txBody>
      </p:sp>
      <p:cxnSp>
        <p:nvCxnSpPr>
          <p:cNvPr id="65" name="Google Shape;65;p2"/>
          <p:cNvCxnSpPr/>
          <p:nvPr/>
        </p:nvCxnSpPr>
        <p:spPr>
          <a:xfrm>
            <a:off x="6203933" y="4990496"/>
            <a:ext cx="0" cy="289512"/>
          </a:xfrm>
          <a:prstGeom prst="straightConnector1">
            <a:avLst/>
          </a:prstGeom>
          <a:noFill/>
          <a:ln cap="flat" cmpd="sng" w="38100">
            <a:solidFill>
              <a:srgbClr val="F9A826"/>
            </a:solidFill>
            <a:prstDash val="solid"/>
            <a:round/>
            <a:headEnd len="sm" w="sm" type="none"/>
            <a:tailEnd len="sm" w="sm" type="none"/>
          </a:ln>
        </p:spPr>
      </p:cxnSp>
      <p:sp>
        <p:nvSpPr>
          <p:cNvPr id="66" name="Google Shape;66;p2"/>
          <p:cNvSpPr/>
          <p:nvPr/>
        </p:nvSpPr>
        <p:spPr>
          <a:xfrm>
            <a:off x="6374325" y="5003196"/>
            <a:ext cx="5155055" cy="28951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B4A63"/>
              </a:buClr>
              <a:buSzPts val="1600"/>
              <a:buFont typeface="DM Sans"/>
              <a:buNone/>
            </a:pPr>
            <a:r>
              <a:rPr b="0" i="0" lang="en-US" sz="1600" u="none" cap="none" strike="noStrike">
                <a:solidFill>
                  <a:srgbClr val="3B4A63"/>
                </a:solidFill>
                <a:latin typeface="DM Sans"/>
                <a:ea typeface="DM Sans"/>
                <a:cs typeface="DM Sans"/>
                <a:sym typeface="DM Sans"/>
              </a:rPr>
              <a:t>Come up with </a:t>
            </a:r>
            <a:r>
              <a:rPr b="1" i="0" lang="en-US" sz="1600" u="none" cap="none" strike="noStrike">
                <a:solidFill>
                  <a:srgbClr val="3B4A63"/>
                </a:solidFill>
                <a:latin typeface="DM Sans"/>
                <a:ea typeface="DM Sans"/>
                <a:cs typeface="DM Sans"/>
                <a:sym typeface="DM Sans"/>
              </a:rPr>
              <a:t>questions to test</a:t>
            </a:r>
            <a:endParaRPr b="0" i="0" sz="1600" u="none" cap="none" strike="noStrike">
              <a:solidFill>
                <a:schemeClr val="dk1"/>
              </a:solidFill>
              <a:latin typeface="Calibri"/>
              <a:ea typeface="Calibri"/>
              <a:cs typeface="Calibri"/>
              <a:sym typeface="Calibri"/>
            </a:endParaRPr>
          </a:p>
        </p:txBody>
      </p:sp>
      <p:sp>
        <p:nvSpPr>
          <p:cNvPr id="67" name="Google Shape;67;p2"/>
          <p:cNvSpPr/>
          <p:nvPr/>
        </p:nvSpPr>
        <p:spPr>
          <a:xfrm>
            <a:off x="812767" y="6237015"/>
            <a:ext cx="325734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880"/>
              </a:buClr>
              <a:buSzPts val="1200"/>
              <a:buFont typeface="DM Sans"/>
              <a:buNone/>
            </a:pPr>
            <a:r>
              <a:rPr b="0" i="0" lang="en-US" sz="1200" u="none" cap="none" strike="noStrike">
                <a:solidFill>
                  <a:srgbClr val="5A6880"/>
                </a:solidFill>
                <a:latin typeface="DM Sans"/>
                <a:ea typeface="DM Sans"/>
                <a:cs typeface="DM Sans"/>
                <a:sym typeface="DM Sans"/>
              </a:rPr>
              <a:t>Nittany Data Labs · Exploratory Data Analysis</a:t>
            </a:r>
            <a:endParaRPr b="0" i="0" sz="1200" u="none" cap="none" strike="noStrike">
              <a:solidFill>
                <a:schemeClr val="dk1"/>
              </a:solidFill>
              <a:latin typeface="Calibri"/>
              <a:ea typeface="Calibri"/>
              <a:cs typeface="Calibri"/>
              <a:sym typeface="Calibri"/>
            </a:endParaRPr>
          </a:p>
        </p:txBody>
      </p:sp>
      <p:sp>
        <p:nvSpPr>
          <p:cNvPr id="68" name="Google Shape;68;p2"/>
          <p:cNvSpPr/>
          <p:nvPr/>
        </p:nvSpPr>
        <p:spPr>
          <a:xfrm>
            <a:off x="11291342" y="6237015"/>
            <a:ext cx="13860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880"/>
              </a:buClr>
              <a:buSzPts val="1200"/>
              <a:buFont typeface="DM Sans"/>
              <a:buNone/>
            </a:pPr>
            <a:r>
              <a:rPr b="0" i="0" lang="en-US" sz="1200" u="none" cap="none" strike="noStrike">
                <a:solidFill>
                  <a:srgbClr val="5A6880"/>
                </a:solidFill>
                <a:latin typeface="DM Sans"/>
                <a:ea typeface="DM Sans"/>
                <a:cs typeface="DM Sans"/>
                <a:sym typeface="DM Sans"/>
              </a:rPr>
              <a:t>2</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9"/>
        </a:solidFill>
      </p:bgPr>
    </p:bg>
    <p:spTree>
      <p:nvGrpSpPr>
        <p:cNvPr id="73" name="Shape 73"/>
        <p:cNvGrpSpPr/>
        <p:nvPr/>
      </p:nvGrpSpPr>
      <p:grpSpPr>
        <a:xfrm>
          <a:off x="0" y="0"/>
          <a:ext cx="0" cy="0"/>
          <a:chOff x="0" y="0"/>
          <a:chExt cx="0" cy="0"/>
        </a:xfrm>
      </p:grpSpPr>
      <p:sp>
        <p:nvSpPr>
          <p:cNvPr id="74" name="Google Shape;74;p3"/>
          <p:cNvSpPr/>
          <p:nvPr/>
        </p:nvSpPr>
        <p:spPr>
          <a:xfrm>
            <a:off x="812767" y="812766"/>
            <a:ext cx="1088346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E407C"/>
              </a:buClr>
              <a:buSzPts val="1200"/>
              <a:buFont typeface="DM Sans"/>
              <a:buNone/>
            </a:pPr>
            <a:r>
              <a:rPr b="1" i="0" lang="en-US" sz="1200" u="none" cap="none" strike="noStrike">
                <a:solidFill>
                  <a:srgbClr val="1E407C"/>
                </a:solidFill>
                <a:latin typeface="DM Sans"/>
                <a:ea typeface="DM Sans"/>
                <a:cs typeface="DM Sans"/>
                <a:sym typeface="DM Sans"/>
              </a:rPr>
              <a:t>THE BASICS</a:t>
            </a:r>
            <a:endParaRPr b="0" i="0" sz="1200" u="none" cap="none" strike="noStrike">
              <a:solidFill>
                <a:schemeClr val="dk1"/>
              </a:solidFill>
              <a:latin typeface="Calibri"/>
              <a:ea typeface="Calibri"/>
              <a:cs typeface="Calibri"/>
              <a:sym typeface="Calibri"/>
            </a:endParaRPr>
          </a:p>
        </p:txBody>
      </p:sp>
      <p:sp>
        <p:nvSpPr>
          <p:cNvPr id="75" name="Google Shape;75;p3"/>
          <p:cNvSpPr/>
          <p:nvPr/>
        </p:nvSpPr>
        <p:spPr>
          <a:xfrm>
            <a:off x="812767" y="1102278"/>
            <a:ext cx="10883460" cy="472422"/>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041E42"/>
              </a:buClr>
              <a:buSzPts val="3200"/>
              <a:buFont typeface="DM Sans"/>
              <a:buNone/>
            </a:pPr>
            <a:r>
              <a:rPr b="1" i="0" lang="en-US" sz="3200" u="none" cap="none" strike="noStrike">
                <a:solidFill>
                  <a:srgbClr val="041E42"/>
                </a:solidFill>
                <a:latin typeface="DM Sans"/>
                <a:ea typeface="DM Sans"/>
                <a:cs typeface="DM Sans"/>
                <a:sym typeface="DM Sans"/>
              </a:rPr>
              <a:t>Why EDA matters</a:t>
            </a:r>
            <a:endParaRPr b="0" i="0" sz="3200" u="none" cap="none" strike="noStrike">
              <a:solidFill>
                <a:schemeClr val="dk1"/>
              </a:solidFill>
              <a:latin typeface="Calibri"/>
              <a:ea typeface="Calibri"/>
              <a:cs typeface="Calibri"/>
              <a:sym typeface="Calibri"/>
            </a:endParaRPr>
          </a:p>
        </p:txBody>
      </p:sp>
      <p:cxnSp>
        <p:nvCxnSpPr>
          <p:cNvPr id="76" name="Google Shape;76;p3"/>
          <p:cNvCxnSpPr/>
          <p:nvPr/>
        </p:nvCxnSpPr>
        <p:spPr>
          <a:xfrm>
            <a:off x="831817" y="2964200"/>
            <a:ext cx="0" cy="289512"/>
          </a:xfrm>
          <a:prstGeom prst="straightConnector1">
            <a:avLst/>
          </a:prstGeom>
          <a:noFill/>
          <a:ln cap="flat" cmpd="sng" w="38100">
            <a:solidFill>
              <a:srgbClr val="F9A826"/>
            </a:solidFill>
            <a:prstDash val="solid"/>
            <a:round/>
            <a:headEnd len="sm" w="sm" type="none"/>
            <a:tailEnd len="sm" w="sm" type="none"/>
          </a:ln>
        </p:spPr>
      </p:cxnSp>
      <p:sp>
        <p:nvSpPr>
          <p:cNvPr id="77" name="Google Shape;77;p3"/>
          <p:cNvSpPr/>
          <p:nvPr/>
        </p:nvSpPr>
        <p:spPr>
          <a:xfrm>
            <a:off x="1002209" y="2976900"/>
            <a:ext cx="3859985" cy="28951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B4A63"/>
              </a:buClr>
              <a:buSzPts val="1600"/>
              <a:buFont typeface="DM Sans"/>
              <a:buNone/>
            </a:pPr>
            <a:r>
              <a:rPr b="0" i="0" lang="en-US" sz="1600" u="none" cap="none" strike="noStrike">
                <a:solidFill>
                  <a:srgbClr val="3B4A63"/>
                </a:solidFill>
                <a:latin typeface="DM Sans"/>
                <a:ea typeface="DM Sans"/>
                <a:cs typeface="DM Sans"/>
                <a:sym typeface="DM Sans"/>
              </a:rPr>
              <a:t>Summary stats can </a:t>
            </a:r>
            <a:r>
              <a:rPr b="1" i="0" lang="en-US" sz="1600" u="none" cap="none" strike="noStrike">
                <a:solidFill>
                  <a:srgbClr val="3B4A63"/>
                </a:solidFill>
                <a:latin typeface="DM Sans"/>
                <a:ea typeface="DM Sans"/>
                <a:cs typeface="DM Sans"/>
                <a:sym typeface="DM Sans"/>
              </a:rPr>
              <a:t>hide the story</a:t>
            </a:r>
            <a:endParaRPr b="0" i="0" sz="1600" u="none" cap="none" strike="noStrike">
              <a:solidFill>
                <a:schemeClr val="dk1"/>
              </a:solidFill>
              <a:latin typeface="Calibri"/>
              <a:ea typeface="Calibri"/>
              <a:cs typeface="Calibri"/>
              <a:sym typeface="Calibri"/>
            </a:endParaRPr>
          </a:p>
        </p:txBody>
      </p:sp>
      <p:cxnSp>
        <p:nvCxnSpPr>
          <p:cNvPr id="78" name="Google Shape;78;p3"/>
          <p:cNvCxnSpPr/>
          <p:nvPr/>
        </p:nvCxnSpPr>
        <p:spPr>
          <a:xfrm>
            <a:off x="831817" y="3456905"/>
            <a:ext cx="0" cy="289512"/>
          </a:xfrm>
          <a:prstGeom prst="straightConnector1">
            <a:avLst/>
          </a:prstGeom>
          <a:noFill/>
          <a:ln cap="flat" cmpd="sng" w="38100">
            <a:solidFill>
              <a:srgbClr val="F9A826"/>
            </a:solidFill>
            <a:prstDash val="solid"/>
            <a:round/>
            <a:headEnd len="sm" w="sm" type="none"/>
            <a:tailEnd len="sm" w="sm" type="none"/>
          </a:ln>
        </p:spPr>
      </p:cxnSp>
      <p:sp>
        <p:nvSpPr>
          <p:cNvPr id="79" name="Google Shape;79;p3"/>
          <p:cNvSpPr/>
          <p:nvPr/>
        </p:nvSpPr>
        <p:spPr>
          <a:xfrm>
            <a:off x="1002209" y="3469605"/>
            <a:ext cx="3859985" cy="28951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B4A63"/>
              </a:buClr>
              <a:buSzPts val="1600"/>
              <a:buFont typeface="DM Sans"/>
              <a:buNone/>
            </a:pPr>
            <a:r>
              <a:rPr b="0" i="0" lang="en-US" sz="1600" u="none" cap="none" strike="noStrike">
                <a:solidFill>
                  <a:srgbClr val="3B4A63"/>
                </a:solidFill>
                <a:latin typeface="DM Sans"/>
                <a:ea typeface="DM Sans"/>
                <a:cs typeface="DM Sans"/>
                <a:sym typeface="DM Sans"/>
              </a:rPr>
              <a:t>Find </a:t>
            </a:r>
            <a:r>
              <a:rPr b="1" i="0" lang="en-US" sz="1600" u="none" cap="none" strike="noStrike">
                <a:solidFill>
                  <a:srgbClr val="3B4A63"/>
                </a:solidFill>
                <a:latin typeface="DM Sans"/>
                <a:ea typeface="DM Sans"/>
                <a:cs typeface="DM Sans"/>
                <a:sym typeface="DM Sans"/>
              </a:rPr>
              <a:t>patterns and relationships</a:t>
            </a:r>
            <a:endParaRPr b="0" i="0" sz="1600" u="none" cap="none" strike="noStrike">
              <a:solidFill>
                <a:schemeClr val="dk1"/>
              </a:solidFill>
              <a:latin typeface="Calibri"/>
              <a:ea typeface="Calibri"/>
              <a:cs typeface="Calibri"/>
              <a:sym typeface="Calibri"/>
            </a:endParaRPr>
          </a:p>
        </p:txBody>
      </p:sp>
      <p:cxnSp>
        <p:nvCxnSpPr>
          <p:cNvPr id="80" name="Google Shape;80;p3"/>
          <p:cNvCxnSpPr/>
          <p:nvPr/>
        </p:nvCxnSpPr>
        <p:spPr>
          <a:xfrm>
            <a:off x="831817" y="3949609"/>
            <a:ext cx="0" cy="289512"/>
          </a:xfrm>
          <a:prstGeom prst="straightConnector1">
            <a:avLst/>
          </a:prstGeom>
          <a:noFill/>
          <a:ln cap="flat" cmpd="sng" w="38100">
            <a:solidFill>
              <a:srgbClr val="F9A826"/>
            </a:solidFill>
            <a:prstDash val="solid"/>
            <a:round/>
            <a:headEnd len="sm" w="sm" type="none"/>
            <a:tailEnd len="sm" w="sm" type="none"/>
          </a:ln>
        </p:spPr>
      </p:cxnSp>
      <p:sp>
        <p:nvSpPr>
          <p:cNvPr id="81" name="Google Shape;81;p3"/>
          <p:cNvSpPr/>
          <p:nvPr/>
        </p:nvSpPr>
        <p:spPr>
          <a:xfrm>
            <a:off x="1002209" y="3962309"/>
            <a:ext cx="3859985" cy="28951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B4A63"/>
              </a:buClr>
              <a:buSzPts val="1600"/>
              <a:buFont typeface="DM Sans"/>
              <a:buNone/>
            </a:pPr>
            <a:r>
              <a:rPr b="0" i="0" lang="en-US" sz="1600" u="none" cap="none" strike="noStrike">
                <a:solidFill>
                  <a:srgbClr val="3B4A63"/>
                </a:solidFill>
                <a:latin typeface="DM Sans"/>
                <a:ea typeface="DM Sans"/>
                <a:cs typeface="DM Sans"/>
                <a:sym typeface="DM Sans"/>
              </a:rPr>
              <a:t>See which </a:t>
            </a:r>
            <a:r>
              <a:rPr b="1" i="0" lang="en-US" sz="1600" u="none" cap="none" strike="noStrike">
                <a:solidFill>
                  <a:srgbClr val="3B4A63"/>
                </a:solidFill>
                <a:latin typeface="DM Sans"/>
                <a:ea typeface="DM Sans"/>
                <a:cs typeface="DM Sans"/>
                <a:sym typeface="DM Sans"/>
              </a:rPr>
              <a:t>features matter</a:t>
            </a:r>
            <a:endParaRPr b="0" i="0" sz="1600" u="none" cap="none" strike="noStrike">
              <a:solidFill>
                <a:schemeClr val="dk1"/>
              </a:solidFill>
              <a:latin typeface="Calibri"/>
              <a:ea typeface="Calibri"/>
              <a:cs typeface="Calibri"/>
              <a:sym typeface="Calibri"/>
            </a:endParaRPr>
          </a:p>
        </p:txBody>
      </p:sp>
      <p:cxnSp>
        <p:nvCxnSpPr>
          <p:cNvPr id="82" name="Google Shape;82;p3"/>
          <p:cNvCxnSpPr/>
          <p:nvPr/>
        </p:nvCxnSpPr>
        <p:spPr>
          <a:xfrm>
            <a:off x="831817" y="4442312"/>
            <a:ext cx="0" cy="289512"/>
          </a:xfrm>
          <a:prstGeom prst="straightConnector1">
            <a:avLst/>
          </a:prstGeom>
          <a:noFill/>
          <a:ln cap="flat" cmpd="sng" w="38100">
            <a:solidFill>
              <a:srgbClr val="F9A826"/>
            </a:solidFill>
            <a:prstDash val="solid"/>
            <a:round/>
            <a:headEnd len="sm" w="sm" type="none"/>
            <a:tailEnd len="sm" w="sm" type="none"/>
          </a:ln>
        </p:spPr>
      </p:cxnSp>
      <p:sp>
        <p:nvSpPr>
          <p:cNvPr id="83" name="Google Shape;83;p3"/>
          <p:cNvSpPr/>
          <p:nvPr/>
        </p:nvSpPr>
        <p:spPr>
          <a:xfrm>
            <a:off x="1002209" y="4455012"/>
            <a:ext cx="3859985" cy="28951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B4A63"/>
              </a:buClr>
              <a:buSzPts val="1600"/>
              <a:buFont typeface="DM Sans"/>
              <a:buNone/>
            </a:pPr>
            <a:r>
              <a:rPr b="0" i="0" lang="en-US" sz="1600" u="none" cap="none" strike="noStrike">
                <a:solidFill>
                  <a:srgbClr val="3B4A63"/>
                </a:solidFill>
                <a:latin typeface="DM Sans"/>
                <a:ea typeface="DM Sans"/>
                <a:cs typeface="DM Sans"/>
                <a:sym typeface="DM Sans"/>
              </a:rPr>
              <a:t>Pick the </a:t>
            </a:r>
            <a:r>
              <a:rPr b="1" i="0" lang="en-US" sz="1600" u="none" cap="none" strike="noStrike">
                <a:solidFill>
                  <a:srgbClr val="3B4A63"/>
                </a:solidFill>
                <a:latin typeface="DM Sans"/>
                <a:ea typeface="DM Sans"/>
                <a:cs typeface="DM Sans"/>
                <a:sym typeface="DM Sans"/>
              </a:rPr>
              <a:t>right model</a:t>
            </a:r>
            <a:r>
              <a:rPr b="0" i="0" lang="en-US" sz="1600" u="none" cap="none" strike="noStrike">
                <a:solidFill>
                  <a:srgbClr val="3B4A63"/>
                </a:solidFill>
                <a:latin typeface="DM Sans"/>
                <a:ea typeface="DM Sans"/>
                <a:cs typeface="DM Sans"/>
                <a:sym typeface="DM Sans"/>
              </a:rPr>
              <a:t> for the job</a:t>
            </a:r>
            <a:endParaRPr b="0" i="0" sz="1600" u="none" cap="none" strike="noStrike">
              <a:solidFill>
                <a:schemeClr val="dk1"/>
              </a:solidFill>
              <a:latin typeface="Calibri"/>
              <a:ea typeface="Calibri"/>
              <a:cs typeface="Calibri"/>
              <a:sym typeface="Calibri"/>
            </a:endParaRPr>
          </a:p>
        </p:txBody>
      </p:sp>
      <p:sp>
        <p:nvSpPr>
          <p:cNvPr id="84" name="Google Shape;84;p3"/>
          <p:cNvSpPr/>
          <p:nvPr/>
        </p:nvSpPr>
        <p:spPr>
          <a:xfrm>
            <a:off x="5162500" y="2172626"/>
            <a:ext cx="6210383" cy="3350816"/>
          </a:xfrm>
          <a:prstGeom prst="roundRect">
            <a:avLst>
              <a:gd fmla="val 4359" name="adj"/>
            </a:avLst>
          </a:prstGeom>
          <a:solidFill>
            <a:srgbClr val="FDFDFE"/>
          </a:solidFill>
          <a:ln cap="flat" cmpd="sng" w="12700">
            <a:solidFill>
              <a:srgbClr val="D5DE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5420733" y="2430859"/>
            <a:ext cx="5864733" cy="360635"/>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41E42"/>
              </a:buClr>
              <a:buSzPts val="2200"/>
              <a:buFont typeface="DM Sans"/>
              <a:buNone/>
            </a:pPr>
            <a:r>
              <a:rPr b="1" i="0" lang="en-US" sz="2200" u="none" cap="none" strike="noStrike">
                <a:solidFill>
                  <a:srgbClr val="041E42"/>
                </a:solidFill>
                <a:latin typeface="DM Sans"/>
                <a:ea typeface="DM Sans"/>
                <a:cs typeface="DM Sans"/>
                <a:sym typeface="DM Sans"/>
              </a:rPr>
              <a:t>Same stats, different data</a:t>
            </a:r>
            <a:endParaRPr b="0" i="0" sz="2200" u="none" cap="none" strike="noStrike">
              <a:solidFill>
                <a:schemeClr val="dk1"/>
              </a:solidFill>
              <a:latin typeface="Calibri"/>
              <a:ea typeface="Calibri"/>
              <a:cs typeface="Calibri"/>
              <a:sym typeface="Calibri"/>
            </a:endParaRPr>
          </a:p>
        </p:txBody>
      </p:sp>
      <p:sp>
        <p:nvSpPr>
          <p:cNvPr id="86" name="Google Shape;86;p3"/>
          <p:cNvSpPr/>
          <p:nvPr/>
        </p:nvSpPr>
        <p:spPr>
          <a:xfrm>
            <a:off x="5420733" y="2918478"/>
            <a:ext cx="5864733"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B4A63"/>
              </a:buClr>
              <a:buSzPts val="1200"/>
              <a:buFont typeface="DM Sans"/>
              <a:buNone/>
            </a:pPr>
            <a:r>
              <a:rPr b="0" i="0" lang="en-US" sz="1200" u="none" cap="none" strike="noStrike">
                <a:solidFill>
                  <a:srgbClr val="3B4A63"/>
                </a:solidFill>
                <a:latin typeface="DM Sans"/>
                <a:ea typeface="DM Sans"/>
                <a:cs typeface="DM Sans"/>
                <a:sym typeface="DM Sans"/>
              </a:rPr>
              <a:t>Anscombe's quartet: all four datasets share the same mean, variance, and correlation (r ≈ 0.82).</a:t>
            </a:r>
            <a:endParaRPr b="0" i="0" sz="1200" u="none" cap="none" strike="noStrike">
              <a:solidFill>
                <a:schemeClr val="dk1"/>
              </a:solidFill>
              <a:latin typeface="Calibri"/>
              <a:ea typeface="Calibri"/>
              <a:cs typeface="Calibri"/>
              <a:sym typeface="Calibri"/>
            </a:endParaRPr>
          </a:p>
        </p:txBody>
      </p:sp>
      <p:pic>
        <p:nvPicPr>
          <p:cNvPr descr="Dataset 1: a loose upward linear trend" id="87" name="Google Shape;87;p3"/>
          <p:cNvPicPr preferRelativeResize="0"/>
          <p:nvPr/>
        </p:nvPicPr>
        <p:blipFill rotWithShape="1">
          <a:blip r:embed="rId3">
            <a:alphaModFix/>
          </a:blip>
          <a:srcRect b="0" l="-1" r="-1" t="0"/>
          <a:stretch/>
        </p:blipFill>
        <p:spPr>
          <a:xfrm>
            <a:off x="5420733" y="3497501"/>
            <a:ext cx="1244575" cy="1066767"/>
          </a:xfrm>
          <a:prstGeom prst="rect">
            <a:avLst/>
          </a:prstGeom>
          <a:noFill/>
          <a:ln>
            <a:noFill/>
          </a:ln>
        </p:spPr>
      </p:pic>
      <p:sp>
        <p:nvSpPr>
          <p:cNvPr id="88" name="Google Shape;88;p3"/>
          <p:cNvSpPr/>
          <p:nvPr/>
        </p:nvSpPr>
        <p:spPr>
          <a:xfrm>
            <a:off x="5810787" y="4615036"/>
            <a:ext cx="51526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200"/>
              <a:buFont typeface="DM Sans"/>
              <a:buNone/>
            </a:pPr>
            <a:r>
              <a:rPr b="1" i="0" lang="en-US" sz="1200" u="none" cap="none" strike="noStrike">
                <a:solidFill>
                  <a:srgbClr val="041E42"/>
                </a:solidFill>
                <a:latin typeface="DM Sans"/>
                <a:ea typeface="DM Sans"/>
                <a:cs typeface="DM Sans"/>
                <a:sym typeface="DM Sans"/>
              </a:rPr>
              <a:t>Linear</a:t>
            </a:r>
            <a:endParaRPr b="0" i="0" sz="1200" u="none" cap="none" strike="noStrike">
              <a:solidFill>
                <a:schemeClr val="dk1"/>
              </a:solidFill>
              <a:latin typeface="Calibri"/>
              <a:ea typeface="Calibri"/>
              <a:cs typeface="Calibri"/>
              <a:sym typeface="Calibri"/>
            </a:endParaRPr>
          </a:p>
        </p:txBody>
      </p:sp>
      <p:pic>
        <p:nvPicPr>
          <p:cNvPr descr="Dataset 2: a smooth curve" id="89" name="Google Shape;89;p3"/>
          <p:cNvPicPr preferRelativeResize="0"/>
          <p:nvPr/>
        </p:nvPicPr>
        <p:blipFill rotWithShape="1">
          <a:blip r:embed="rId4">
            <a:alphaModFix/>
          </a:blip>
          <a:srcRect b="0" l="-1" r="-1" t="0"/>
          <a:stretch/>
        </p:blipFill>
        <p:spPr>
          <a:xfrm>
            <a:off x="6766884" y="3497501"/>
            <a:ext cx="1244575" cy="1066767"/>
          </a:xfrm>
          <a:prstGeom prst="rect">
            <a:avLst/>
          </a:prstGeom>
          <a:noFill/>
          <a:ln>
            <a:noFill/>
          </a:ln>
        </p:spPr>
      </p:pic>
      <p:sp>
        <p:nvSpPr>
          <p:cNvPr id="90" name="Google Shape;90;p3"/>
          <p:cNvSpPr/>
          <p:nvPr/>
        </p:nvSpPr>
        <p:spPr>
          <a:xfrm>
            <a:off x="7117705" y="4615036"/>
            <a:ext cx="5936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200"/>
              <a:buFont typeface="DM Sans"/>
              <a:buNone/>
            </a:pPr>
            <a:r>
              <a:rPr b="1" i="0" lang="en-US" sz="1200" u="none" cap="none" strike="noStrike">
                <a:solidFill>
                  <a:srgbClr val="041E42"/>
                </a:solidFill>
                <a:latin typeface="DM Sans"/>
                <a:ea typeface="DM Sans"/>
                <a:cs typeface="DM Sans"/>
                <a:sym typeface="DM Sans"/>
              </a:rPr>
              <a:t>Curved</a:t>
            </a:r>
            <a:endParaRPr b="0" i="0" sz="1200" u="none" cap="none" strike="noStrike">
              <a:solidFill>
                <a:schemeClr val="dk1"/>
              </a:solidFill>
              <a:latin typeface="Calibri"/>
              <a:ea typeface="Calibri"/>
              <a:cs typeface="Calibri"/>
              <a:sym typeface="Calibri"/>
            </a:endParaRPr>
          </a:p>
        </p:txBody>
      </p:sp>
      <p:pic>
        <p:nvPicPr>
          <p:cNvPr descr="Dataset 3: a tight line with one point far above it" id="91" name="Google Shape;91;p3"/>
          <p:cNvPicPr preferRelativeResize="0"/>
          <p:nvPr/>
        </p:nvPicPr>
        <p:blipFill rotWithShape="1">
          <a:blip r:embed="rId5">
            <a:alphaModFix/>
          </a:blip>
          <a:srcRect b="0" l="-1" r="-1" t="0"/>
          <a:stretch/>
        </p:blipFill>
        <p:spPr>
          <a:xfrm>
            <a:off x="8113034" y="3497501"/>
            <a:ext cx="1244575" cy="1066767"/>
          </a:xfrm>
          <a:prstGeom prst="rect">
            <a:avLst/>
          </a:prstGeom>
          <a:noFill/>
          <a:ln>
            <a:noFill/>
          </a:ln>
        </p:spPr>
      </p:pic>
      <p:sp>
        <p:nvSpPr>
          <p:cNvPr id="92" name="Google Shape;92;p3"/>
          <p:cNvSpPr/>
          <p:nvPr/>
        </p:nvSpPr>
        <p:spPr>
          <a:xfrm>
            <a:off x="8203323" y="4615036"/>
            <a:ext cx="1114797"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200"/>
              <a:buFont typeface="DM Sans"/>
              <a:buNone/>
            </a:pPr>
            <a:r>
              <a:rPr b="1" i="0" lang="en-US" sz="1200" u="none" cap="none" strike="noStrike">
                <a:solidFill>
                  <a:srgbClr val="041E42"/>
                </a:solidFill>
                <a:latin typeface="DM Sans"/>
                <a:ea typeface="DM Sans"/>
                <a:cs typeface="DM Sans"/>
                <a:sym typeface="DM Sans"/>
              </a:rPr>
              <a:t>One odd point</a:t>
            </a:r>
            <a:endParaRPr b="0" i="0" sz="1200" u="none" cap="none" strike="noStrike">
              <a:solidFill>
                <a:schemeClr val="dk1"/>
              </a:solidFill>
              <a:latin typeface="Calibri"/>
              <a:ea typeface="Calibri"/>
              <a:cs typeface="Calibri"/>
              <a:sym typeface="Calibri"/>
            </a:endParaRPr>
          </a:p>
        </p:txBody>
      </p:sp>
      <p:pic>
        <p:nvPicPr>
          <p:cNvPr descr="Dataset 4: a vertical column of points plus one far-right point" id="93" name="Google Shape;93;p3"/>
          <p:cNvPicPr preferRelativeResize="0"/>
          <p:nvPr/>
        </p:nvPicPr>
        <p:blipFill rotWithShape="1">
          <a:blip r:embed="rId6">
            <a:alphaModFix/>
          </a:blip>
          <a:srcRect b="0" l="-1" r="-1" t="0"/>
          <a:stretch/>
        </p:blipFill>
        <p:spPr>
          <a:xfrm>
            <a:off x="9459185" y="3497501"/>
            <a:ext cx="1244575" cy="1066767"/>
          </a:xfrm>
          <a:prstGeom prst="rect">
            <a:avLst/>
          </a:prstGeom>
          <a:noFill/>
          <a:ln>
            <a:noFill/>
          </a:ln>
        </p:spPr>
      </p:pic>
      <p:sp>
        <p:nvSpPr>
          <p:cNvPr id="94" name="Google Shape;94;p3"/>
          <p:cNvSpPr/>
          <p:nvPr/>
        </p:nvSpPr>
        <p:spPr>
          <a:xfrm>
            <a:off x="9593130" y="4615036"/>
            <a:ext cx="1027443"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200"/>
              <a:buFont typeface="DM Sans"/>
              <a:buNone/>
            </a:pPr>
            <a:r>
              <a:rPr b="1" i="0" lang="en-US" sz="1200" u="none" cap="none" strike="noStrike">
                <a:solidFill>
                  <a:srgbClr val="041E42"/>
                </a:solidFill>
                <a:latin typeface="DM Sans"/>
                <a:ea typeface="DM Sans"/>
                <a:cs typeface="DM Sans"/>
                <a:sym typeface="DM Sans"/>
              </a:rPr>
              <a:t>One far point</a:t>
            </a:r>
            <a:endParaRPr b="0" i="0" sz="1200" u="none" cap="none" strike="noStrike">
              <a:solidFill>
                <a:schemeClr val="dk1"/>
              </a:solidFill>
              <a:latin typeface="Calibri"/>
              <a:ea typeface="Calibri"/>
              <a:cs typeface="Calibri"/>
              <a:sym typeface="Calibri"/>
            </a:endParaRPr>
          </a:p>
        </p:txBody>
      </p:sp>
      <p:sp>
        <p:nvSpPr>
          <p:cNvPr id="95" name="Google Shape;95;p3"/>
          <p:cNvSpPr/>
          <p:nvPr/>
        </p:nvSpPr>
        <p:spPr>
          <a:xfrm>
            <a:off x="5420733" y="4980739"/>
            <a:ext cx="5864733" cy="309868"/>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E407C"/>
              </a:buClr>
              <a:buSzPts val="1600"/>
              <a:buFont typeface="DM Sans"/>
              <a:buNone/>
            </a:pPr>
            <a:r>
              <a:rPr b="1" i="0" lang="en-US" sz="1600" u="none" cap="none" strike="noStrike">
                <a:solidFill>
                  <a:srgbClr val="1E407C"/>
                </a:solidFill>
                <a:latin typeface="DM Sans"/>
                <a:ea typeface="DM Sans"/>
                <a:cs typeface="DM Sans"/>
                <a:sym typeface="DM Sans"/>
              </a:rPr>
              <a:t>Always plot your data.</a:t>
            </a:r>
            <a:endParaRPr b="0" i="0" sz="1600" u="none" cap="none" strike="noStrike">
              <a:solidFill>
                <a:schemeClr val="dk1"/>
              </a:solidFill>
              <a:latin typeface="Calibri"/>
              <a:ea typeface="Calibri"/>
              <a:cs typeface="Calibri"/>
              <a:sym typeface="Calibri"/>
            </a:endParaRPr>
          </a:p>
        </p:txBody>
      </p:sp>
      <p:sp>
        <p:nvSpPr>
          <p:cNvPr id="96" name="Google Shape;96;p3"/>
          <p:cNvSpPr/>
          <p:nvPr/>
        </p:nvSpPr>
        <p:spPr>
          <a:xfrm>
            <a:off x="812767" y="6237015"/>
            <a:ext cx="325734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880"/>
              </a:buClr>
              <a:buSzPts val="1200"/>
              <a:buFont typeface="DM Sans"/>
              <a:buNone/>
            </a:pPr>
            <a:r>
              <a:rPr b="0" i="0" lang="en-US" sz="1200" u="none" cap="none" strike="noStrike">
                <a:solidFill>
                  <a:srgbClr val="5A6880"/>
                </a:solidFill>
                <a:latin typeface="DM Sans"/>
                <a:ea typeface="DM Sans"/>
                <a:cs typeface="DM Sans"/>
                <a:sym typeface="DM Sans"/>
              </a:rPr>
              <a:t>Nittany Data Labs · Exploratory Data Analysis</a:t>
            </a:r>
            <a:endParaRPr b="0" i="0" sz="1200" u="none" cap="none" strike="noStrike">
              <a:solidFill>
                <a:schemeClr val="dk1"/>
              </a:solidFill>
              <a:latin typeface="Calibri"/>
              <a:ea typeface="Calibri"/>
              <a:cs typeface="Calibri"/>
              <a:sym typeface="Calibri"/>
            </a:endParaRPr>
          </a:p>
        </p:txBody>
      </p:sp>
      <p:sp>
        <p:nvSpPr>
          <p:cNvPr id="97" name="Google Shape;97;p3"/>
          <p:cNvSpPr/>
          <p:nvPr/>
        </p:nvSpPr>
        <p:spPr>
          <a:xfrm>
            <a:off x="11289068" y="6237015"/>
            <a:ext cx="14088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880"/>
              </a:buClr>
              <a:buSzPts val="1200"/>
              <a:buFont typeface="DM Sans"/>
              <a:buNone/>
            </a:pPr>
            <a:r>
              <a:rPr b="0" i="0" lang="en-US" sz="1200" u="none" cap="none" strike="noStrike">
                <a:solidFill>
                  <a:srgbClr val="5A6880"/>
                </a:solidFill>
                <a:latin typeface="DM Sans"/>
                <a:ea typeface="DM Sans"/>
                <a:cs typeface="DM Sans"/>
                <a:sym typeface="DM Sans"/>
              </a:rPr>
              <a:t>3</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F0F8"/>
        </a:solidFill>
      </p:bgPr>
    </p:bg>
    <p:spTree>
      <p:nvGrpSpPr>
        <p:cNvPr id="102" name="Shape 102"/>
        <p:cNvGrpSpPr/>
        <p:nvPr/>
      </p:nvGrpSpPr>
      <p:grpSpPr>
        <a:xfrm>
          <a:off x="0" y="0"/>
          <a:ext cx="0" cy="0"/>
          <a:chOff x="0" y="0"/>
          <a:chExt cx="0" cy="0"/>
        </a:xfrm>
      </p:grpSpPr>
      <p:sp>
        <p:nvSpPr>
          <p:cNvPr id="103" name="Google Shape;103;p4"/>
          <p:cNvSpPr/>
          <p:nvPr/>
        </p:nvSpPr>
        <p:spPr>
          <a:xfrm>
            <a:off x="812767" y="812766"/>
            <a:ext cx="1088346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E407C"/>
              </a:buClr>
              <a:buSzPts val="1200"/>
              <a:buFont typeface="DM Sans"/>
              <a:buNone/>
            </a:pPr>
            <a:r>
              <a:rPr b="1" i="0" lang="en-US" sz="1200" u="none" cap="none" strike="noStrike">
                <a:solidFill>
                  <a:srgbClr val="1E407C"/>
                </a:solidFill>
                <a:latin typeface="DM Sans"/>
                <a:ea typeface="DM Sans"/>
                <a:cs typeface="DM Sans"/>
                <a:sym typeface="DM Sans"/>
              </a:rPr>
              <a:t>THE ROADMAP</a:t>
            </a:r>
            <a:endParaRPr b="0" i="0" sz="1200" u="none" cap="none" strike="noStrike">
              <a:solidFill>
                <a:schemeClr val="dk1"/>
              </a:solidFill>
              <a:latin typeface="Calibri"/>
              <a:ea typeface="Calibri"/>
              <a:cs typeface="Calibri"/>
              <a:sym typeface="Calibri"/>
            </a:endParaRPr>
          </a:p>
        </p:txBody>
      </p:sp>
      <p:sp>
        <p:nvSpPr>
          <p:cNvPr id="104" name="Google Shape;104;p4"/>
          <p:cNvSpPr/>
          <p:nvPr/>
        </p:nvSpPr>
        <p:spPr>
          <a:xfrm>
            <a:off x="812767" y="1102278"/>
            <a:ext cx="10883460" cy="472422"/>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041E42"/>
              </a:buClr>
              <a:buSzPts val="3200"/>
              <a:buFont typeface="DM Sans"/>
              <a:buNone/>
            </a:pPr>
            <a:r>
              <a:rPr b="1" i="0" lang="en-US" sz="3200" u="none" cap="none" strike="noStrike">
                <a:solidFill>
                  <a:srgbClr val="041E42"/>
                </a:solidFill>
                <a:latin typeface="DM Sans"/>
                <a:ea typeface="DM Sans"/>
                <a:cs typeface="DM Sans"/>
                <a:sym typeface="DM Sans"/>
              </a:rPr>
              <a:t>6 steps of EDA</a:t>
            </a:r>
            <a:endParaRPr b="0" i="0" sz="3200" u="none" cap="none" strike="noStrike">
              <a:solidFill>
                <a:schemeClr val="dk1"/>
              </a:solidFill>
              <a:latin typeface="Calibri"/>
              <a:ea typeface="Calibri"/>
              <a:cs typeface="Calibri"/>
              <a:sym typeface="Calibri"/>
            </a:endParaRPr>
          </a:p>
        </p:txBody>
      </p:sp>
      <p:sp>
        <p:nvSpPr>
          <p:cNvPr id="105" name="Google Shape;105;p4"/>
          <p:cNvSpPr/>
          <p:nvPr/>
        </p:nvSpPr>
        <p:spPr>
          <a:xfrm>
            <a:off x="812767" y="1803301"/>
            <a:ext cx="10883460" cy="309868"/>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B4A63"/>
              </a:buClr>
              <a:buSzPts val="1600"/>
              <a:buFont typeface="DM Sans"/>
              <a:buNone/>
            </a:pPr>
            <a:r>
              <a:rPr b="0" i="0" lang="en-US" sz="1600" u="none" cap="none" strike="noStrike">
                <a:solidFill>
                  <a:srgbClr val="3B4A63"/>
                </a:solidFill>
                <a:latin typeface="DM Sans"/>
                <a:ea typeface="DM Sans"/>
                <a:cs typeface="DM Sans"/>
                <a:sym typeface="DM Sans"/>
              </a:rPr>
              <a:t>Start simple, add one variable at a time. </a:t>
            </a:r>
            <a:endParaRPr b="0" i="0" sz="1600" u="none" cap="none" strike="noStrike">
              <a:solidFill>
                <a:schemeClr val="dk1"/>
              </a:solidFill>
              <a:latin typeface="Calibri"/>
              <a:ea typeface="Calibri"/>
              <a:cs typeface="Calibri"/>
              <a:sym typeface="Calibri"/>
            </a:endParaRPr>
          </a:p>
        </p:txBody>
      </p:sp>
      <p:sp>
        <p:nvSpPr>
          <p:cNvPr id="106" name="Google Shape;106;p4"/>
          <p:cNvSpPr/>
          <p:nvPr/>
        </p:nvSpPr>
        <p:spPr>
          <a:xfrm>
            <a:off x="819117" y="2348119"/>
            <a:ext cx="3373967" cy="1420556"/>
          </a:xfrm>
          <a:prstGeom prst="roundRect">
            <a:avLst>
              <a:gd fmla="val 8493" name="adj"/>
            </a:avLst>
          </a:prstGeom>
          <a:solidFill>
            <a:srgbClr val="FDFDFE"/>
          </a:solidFill>
          <a:ln cap="flat" cmpd="sng" w="12700">
            <a:solidFill>
              <a:srgbClr val="D5DE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
          <p:cNvSpPr/>
          <p:nvPr/>
        </p:nvSpPr>
        <p:spPr>
          <a:xfrm>
            <a:off x="1001117" y="2530118"/>
            <a:ext cx="406383" cy="406383"/>
          </a:xfrm>
          <a:prstGeom prst="roundRect">
            <a:avLst>
              <a:gd fmla="val 50000" name="adj"/>
            </a:avLst>
          </a:prstGeom>
          <a:solidFill>
            <a:srgbClr val="041E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
          <p:cNvSpPr/>
          <p:nvPr/>
        </p:nvSpPr>
        <p:spPr>
          <a:xfrm>
            <a:off x="975717" y="2530118"/>
            <a:ext cx="457183" cy="431783"/>
          </a:xfrm>
          <a:prstGeom prst="rect">
            <a:avLst/>
          </a:prstGeom>
          <a:noFill/>
          <a:ln>
            <a:noFill/>
          </a:ln>
        </p:spPr>
        <p:txBody>
          <a:bodyPr anchorCtr="0" anchor="t" bIns="0" lIns="0" spcFirstLastPara="1" rIns="0" wrap="square" tIns="0">
            <a:normAutofit/>
          </a:bodyPr>
          <a:lstStyle/>
          <a:p>
            <a:pPr indent="0" lvl="0" marL="0" marR="0" rtl="0" algn="ctr">
              <a:lnSpc>
                <a:spcPct val="200000"/>
              </a:lnSpc>
              <a:spcBef>
                <a:spcPts val="0"/>
              </a:spcBef>
              <a:spcAft>
                <a:spcPts val="0"/>
              </a:spcAft>
              <a:buClr>
                <a:srgbClr val="F6F7F9"/>
              </a:buClr>
              <a:buSzPts val="1600"/>
              <a:buFont typeface="DM Sans"/>
              <a:buNone/>
            </a:pPr>
            <a:r>
              <a:rPr b="1" i="0" lang="en-US" sz="1600" u="none" cap="none" strike="noStrike">
                <a:solidFill>
                  <a:srgbClr val="F6F7F9"/>
                </a:solidFill>
                <a:latin typeface="DM Sans"/>
                <a:ea typeface="DM Sans"/>
                <a:cs typeface="DM Sans"/>
                <a:sym typeface="DM Sans"/>
              </a:rPr>
              <a:t>1</a:t>
            </a:r>
            <a:endParaRPr b="0" i="0" sz="1600" u="none" cap="none" strike="noStrike">
              <a:solidFill>
                <a:schemeClr val="dk1"/>
              </a:solidFill>
              <a:latin typeface="Calibri"/>
              <a:ea typeface="Calibri"/>
              <a:cs typeface="Calibri"/>
              <a:sym typeface="Calibri"/>
            </a:endParaRPr>
          </a:p>
        </p:txBody>
      </p:sp>
      <p:sp>
        <p:nvSpPr>
          <p:cNvPr id="109" name="Google Shape;109;p4"/>
          <p:cNvSpPr/>
          <p:nvPr/>
        </p:nvSpPr>
        <p:spPr>
          <a:xfrm>
            <a:off x="1001117" y="3012694"/>
            <a:ext cx="3100265" cy="309868"/>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600"/>
              <a:buFont typeface="DM Sans"/>
              <a:buNone/>
            </a:pPr>
            <a:r>
              <a:rPr b="1" i="0" lang="en-US" sz="1600" u="none" cap="none" strike="noStrike">
                <a:solidFill>
                  <a:srgbClr val="041E42"/>
                </a:solidFill>
                <a:latin typeface="DM Sans"/>
                <a:ea typeface="DM Sans"/>
                <a:cs typeface="DM Sans"/>
                <a:sym typeface="DM Sans"/>
              </a:rPr>
              <a:t>Ask questions</a:t>
            </a:r>
            <a:endParaRPr b="0" i="0" sz="1600" u="none" cap="none" strike="noStrike">
              <a:solidFill>
                <a:schemeClr val="dk1"/>
              </a:solidFill>
              <a:latin typeface="Calibri"/>
              <a:ea typeface="Calibri"/>
              <a:cs typeface="Calibri"/>
              <a:sym typeface="Calibri"/>
            </a:endParaRPr>
          </a:p>
        </p:txBody>
      </p:sp>
      <p:sp>
        <p:nvSpPr>
          <p:cNvPr id="110" name="Google Shape;110;p4"/>
          <p:cNvSpPr/>
          <p:nvPr/>
        </p:nvSpPr>
        <p:spPr>
          <a:xfrm>
            <a:off x="1001117" y="3373354"/>
            <a:ext cx="310026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B4A63"/>
              </a:buClr>
              <a:buSzPts val="1200"/>
              <a:buFont typeface="DM Sans"/>
              <a:buNone/>
            </a:pPr>
            <a:r>
              <a:rPr b="0" i="0" lang="en-US" sz="1200" u="none" cap="none" strike="noStrike">
                <a:solidFill>
                  <a:srgbClr val="3B4A63"/>
                </a:solidFill>
                <a:latin typeface="DM Sans"/>
                <a:ea typeface="DM Sans"/>
                <a:cs typeface="DM Sans"/>
                <a:sym typeface="DM Sans"/>
              </a:rPr>
              <a:t>What do we want to learn?</a:t>
            </a:r>
            <a:endParaRPr b="0" i="0" sz="1200" u="none" cap="none" strike="noStrike">
              <a:solidFill>
                <a:schemeClr val="dk1"/>
              </a:solidFill>
              <a:latin typeface="Calibri"/>
              <a:ea typeface="Calibri"/>
              <a:cs typeface="Calibri"/>
              <a:sym typeface="Calibri"/>
            </a:endParaRPr>
          </a:p>
        </p:txBody>
      </p:sp>
      <p:sp>
        <p:nvSpPr>
          <p:cNvPr id="111" name="Google Shape;111;p4"/>
          <p:cNvSpPr/>
          <p:nvPr/>
        </p:nvSpPr>
        <p:spPr>
          <a:xfrm>
            <a:off x="4408975" y="2348119"/>
            <a:ext cx="3374008" cy="1420556"/>
          </a:xfrm>
          <a:prstGeom prst="roundRect">
            <a:avLst>
              <a:gd fmla="val 8493" name="adj"/>
            </a:avLst>
          </a:prstGeom>
          <a:solidFill>
            <a:srgbClr val="FDFDFE"/>
          </a:solidFill>
          <a:ln cap="flat" cmpd="sng" w="12700">
            <a:solidFill>
              <a:srgbClr val="D5DE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
          <p:cNvSpPr/>
          <p:nvPr/>
        </p:nvSpPr>
        <p:spPr>
          <a:xfrm>
            <a:off x="4590976" y="2530118"/>
            <a:ext cx="406383" cy="406383"/>
          </a:xfrm>
          <a:prstGeom prst="roundRect">
            <a:avLst>
              <a:gd fmla="val 50000" name="adj"/>
            </a:avLst>
          </a:prstGeom>
          <a:solidFill>
            <a:srgbClr val="041E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
          <p:cNvSpPr/>
          <p:nvPr/>
        </p:nvSpPr>
        <p:spPr>
          <a:xfrm>
            <a:off x="4565576" y="2530118"/>
            <a:ext cx="457183" cy="431783"/>
          </a:xfrm>
          <a:prstGeom prst="rect">
            <a:avLst/>
          </a:prstGeom>
          <a:noFill/>
          <a:ln>
            <a:noFill/>
          </a:ln>
        </p:spPr>
        <p:txBody>
          <a:bodyPr anchorCtr="0" anchor="t" bIns="0" lIns="0" spcFirstLastPara="1" rIns="0" wrap="square" tIns="0">
            <a:normAutofit/>
          </a:bodyPr>
          <a:lstStyle/>
          <a:p>
            <a:pPr indent="0" lvl="0" marL="0" marR="0" rtl="0" algn="ctr">
              <a:lnSpc>
                <a:spcPct val="200000"/>
              </a:lnSpc>
              <a:spcBef>
                <a:spcPts val="0"/>
              </a:spcBef>
              <a:spcAft>
                <a:spcPts val="0"/>
              </a:spcAft>
              <a:buClr>
                <a:srgbClr val="F6F7F9"/>
              </a:buClr>
              <a:buSzPts val="1600"/>
              <a:buFont typeface="DM Sans"/>
              <a:buNone/>
            </a:pPr>
            <a:r>
              <a:rPr b="1" i="0" lang="en-US" sz="1600" u="none" cap="none" strike="noStrike">
                <a:solidFill>
                  <a:srgbClr val="F6F7F9"/>
                </a:solidFill>
                <a:latin typeface="DM Sans"/>
                <a:ea typeface="DM Sans"/>
                <a:cs typeface="DM Sans"/>
                <a:sym typeface="DM Sans"/>
              </a:rPr>
              <a:t>2</a:t>
            </a:r>
            <a:endParaRPr b="0" i="0" sz="1600" u="none" cap="none" strike="noStrike">
              <a:solidFill>
                <a:schemeClr val="dk1"/>
              </a:solidFill>
              <a:latin typeface="Calibri"/>
              <a:ea typeface="Calibri"/>
              <a:cs typeface="Calibri"/>
              <a:sym typeface="Calibri"/>
            </a:endParaRPr>
          </a:p>
        </p:txBody>
      </p:sp>
      <p:sp>
        <p:nvSpPr>
          <p:cNvPr id="114" name="Google Shape;114;p4"/>
          <p:cNvSpPr/>
          <p:nvPr/>
        </p:nvSpPr>
        <p:spPr>
          <a:xfrm>
            <a:off x="4590976" y="3012694"/>
            <a:ext cx="3100308" cy="309868"/>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600"/>
              <a:buFont typeface="DM Sans"/>
              <a:buNone/>
            </a:pPr>
            <a:r>
              <a:rPr b="1" i="0" lang="en-US" sz="1600" u="none" cap="none" strike="noStrike">
                <a:solidFill>
                  <a:srgbClr val="041E42"/>
                </a:solidFill>
                <a:latin typeface="DM Sans"/>
                <a:ea typeface="DM Sans"/>
                <a:cs typeface="DM Sans"/>
                <a:sym typeface="DM Sans"/>
              </a:rPr>
              <a:t>First look</a:t>
            </a:r>
            <a:endParaRPr b="0" i="0" sz="1600" u="none" cap="none" strike="noStrike">
              <a:solidFill>
                <a:schemeClr val="dk1"/>
              </a:solidFill>
              <a:latin typeface="Calibri"/>
              <a:ea typeface="Calibri"/>
              <a:cs typeface="Calibri"/>
              <a:sym typeface="Calibri"/>
            </a:endParaRPr>
          </a:p>
        </p:txBody>
      </p:sp>
      <p:sp>
        <p:nvSpPr>
          <p:cNvPr id="115" name="Google Shape;115;p4"/>
          <p:cNvSpPr/>
          <p:nvPr/>
        </p:nvSpPr>
        <p:spPr>
          <a:xfrm>
            <a:off x="4590976" y="3373354"/>
            <a:ext cx="310030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B4A63"/>
              </a:buClr>
              <a:buSzPts val="1200"/>
              <a:buFont typeface="DM Sans"/>
              <a:buNone/>
            </a:pPr>
            <a:r>
              <a:rPr b="0" i="0" lang="en-US" sz="1200" u="none" cap="none" strike="noStrike">
                <a:solidFill>
                  <a:srgbClr val="3B4A63"/>
                </a:solidFill>
                <a:latin typeface="DM Sans"/>
                <a:ea typeface="DM Sans"/>
                <a:cs typeface="DM Sans"/>
                <a:sym typeface="DM Sans"/>
              </a:rPr>
              <a:t>Size, types, summary stats</a:t>
            </a:r>
            <a:endParaRPr b="0" i="0" sz="1200" u="none" cap="none" strike="noStrike">
              <a:solidFill>
                <a:schemeClr val="dk1"/>
              </a:solidFill>
              <a:latin typeface="Calibri"/>
              <a:ea typeface="Calibri"/>
              <a:cs typeface="Calibri"/>
              <a:sym typeface="Calibri"/>
            </a:endParaRPr>
          </a:p>
        </p:txBody>
      </p:sp>
      <p:sp>
        <p:nvSpPr>
          <p:cNvPr id="116" name="Google Shape;116;p4"/>
          <p:cNvSpPr/>
          <p:nvPr/>
        </p:nvSpPr>
        <p:spPr>
          <a:xfrm>
            <a:off x="7998875" y="2348119"/>
            <a:ext cx="3373967" cy="1420556"/>
          </a:xfrm>
          <a:prstGeom prst="roundRect">
            <a:avLst>
              <a:gd fmla="val 8493" name="adj"/>
            </a:avLst>
          </a:prstGeom>
          <a:solidFill>
            <a:srgbClr val="FDFDFE"/>
          </a:solidFill>
          <a:ln cap="flat" cmpd="sng" w="12700">
            <a:solidFill>
              <a:srgbClr val="D5DE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
          <p:cNvSpPr/>
          <p:nvPr/>
        </p:nvSpPr>
        <p:spPr>
          <a:xfrm>
            <a:off x="8180875" y="2530118"/>
            <a:ext cx="406383" cy="406383"/>
          </a:xfrm>
          <a:prstGeom prst="roundRect">
            <a:avLst>
              <a:gd fmla="val 50000" name="adj"/>
            </a:avLst>
          </a:prstGeom>
          <a:solidFill>
            <a:srgbClr val="041E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a:off x="8155475" y="2530118"/>
            <a:ext cx="457183" cy="431783"/>
          </a:xfrm>
          <a:prstGeom prst="rect">
            <a:avLst/>
          </a:prstGeom>
          <a:noFill/>
          <a:ln>
            <a:noFill/>
          </a:ln>
        </p:spPr>
        <p:txBody>
          <a:bodyPr anchorCtr="0" anchor="t" bIns="0" lIns="0" spcFirstLastPara="1" rIns="0" wrap="square" tIns="0">
            <a:normAutofit/>
          </a:bodyPr>
          <a:lstStyle/>
          <a:p>
            <a:pPr indent="0" lvl="0" marL="0" marR="0" rtl="0" algn="ctr">
              <a:lnSpc>
                <a:spcPct val="200000"/>
              </a:lnSpc>
              <a:spcBef>
                <a:spcPts val="0"/>
              </a:spcBef>
              <a:spcAft>
                <a:spcPts val="0"/>
              </a:spcAft>
              <a:buClr>
                <a:srgbClr val="F6F7F9"/>
              </a:buClr>
              <a:buSzPts val="1600"/>
              <a:buFont typeface="DM Sans"/>
              <a:buNone/>
            </a:pPr>
            <a:r>
              <a:rPr b="1" i="0" lang="en-US" sz="1600" u="none" cap="none" strike="noStrike">
                <a:solidFill>
                  <a:srgbClr val="F6F7F9"/>
                </a:solidFill>
                <a:latin typeface="DM Sans"/>
                <a:ea typeface="DM Sans"/>
                <a:cs typeface="DM Sans"/>
                <a:sym typeface="DM Sans"/>
              </a:rPr>
              <a:t>3</a:t>
            </a:r>
            <a:endParaRPr b="0" i="0" sz="1600" u="none" cap="none" strike="noStrike">
              <a:solidFill>
                <a:schemeClr val="dk1"/>
              </a:solidFill>
              <a:latin typeface="Calibri"/>
              <a:ea typeface="Calibri"/>
              <a:cs typeface="Calibri"/>
              <a:sym typeface="Calibri"/>
            </a:endParaRPr>
          </a:p>
        </p:txBody>
      </p:sp>
      <p:sp>
        <p:nvSpPr>
          <p:cNvPr id="119" name="Google Shape;119;p4"/>
          <p:cNvSpPr/>
          <p:nvPr/>
        </p:nvSpPr>
        <p:spPr>
          <a:xfrm>
            <a:off x="8180875" y="3012694"/>
            <a:ext cx="3100265" cy="309868"/>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600"/>
              <a:buFont typeface="DM Sans"/>
              <a:buNone/>
            </a:pPr>
            <a:r>
              <a:rPr b="1" i="0" lang="en-US" sz="1600" u="none" cap="none" strike="noStrike">
                <a:solidFill>
                  <a:srgbClr val="041E42"/>
                </a:solidFill>
                <a:latin typeface="DM Sans"/>
                <a:ea typeface="DM Sans"/>
                <a:cs typeface="DM Sans"/>
                <a:sym typeface="DM Sans"/>
              </a:rPr>
              <a:t>One variable</a:t>
            </a:r>
            <a:endParaRPr b="0" i="0" sz="1600" u="none" cap="none" strike="noStrike">
              <a:solidFill>
                <a:schemeClr val="dk1"/>
              </a:solidFill>
              <a:latin typeface="Calibri"/>
              <a:ea typeface="Calibri"/>
              <a:cs typeface="Calibri"/>
              <a:sym typeface="Calibri"/>
            </a:endParaRPr>
          </a:p>
        </p:txBody>
      </p:sp>
      <p:sp>
        <p:nvSpPr>
          <p:cNvPr id="120" name="Google Shape;120;p4"/>
          <p:cNvSpPr/>
          <p:nvPr/>
        </p:nvSpPr>
        <p:spPr>
          <a:xfrm>
            <a:off x="8180875" y="3373354"/>
            <a:ext cx="310026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B4A63"/>
              </a:buClr>
              <a:buSzPts val="1200"/>
              <a:buFont typeface="DM Sans"/>
              <a:buNone/>
            </a:pPr>
            <a:r>
              <a:rPr b="0" i="0" lang="en-US" sz="1200" u="none" cap="none" strike="noStrike">
                <a:solidFill>
                  <a:srgbClr val="3B4A63"/>
                </a:solidFill>
                <a:latin typeface="DM Sans"/>
                <a:ea typeface="DM Sans"/>
                <a:cs typeface="DM Sans"/>
                <a:sym typeface="DM Sans"/>
              </a:rPr>
              <a:t>Distributions and counts</a:t>
            </a:r>
            <a:endParaRPr b="0" i="0" sz="1200" u="none" cap="none" strike="noStrike">
              <a:solidFill>
                <a:schemeClr val="dk1"/>
              </a:solidFill>
              <a:latin typeface="Calibri"/>
              <a:ea typeface="Calibri"/>
              <a:cs typeface="Calibri"/>
              <a:sym typeface="Calibri"/>
            </a:endParaRPr>
          </a:p>
        </p:txBody>
      </p:sp>
      <p:sp>
        <p:nvSpPr>
          <p:cNvPr id="121" name="Google Shape;121;p4"/>
          <p:cNvSpPr/>
          <p:nvPr/>
        </p:nvSpPr>
        <p:spPr>
          <a:xfrm>
            <a:off x="819117" y="3984566"/>
            <a:ext cx="3373967" cy="1420556"/>
          </a:xfrm>
          <a:prstGeom prst="roundRect">
            <a:avLst>
              <a:gd fmla="val 8493" name="adj"/>
            </a:avLst>
          </a:prstGeom>
          <a:solidFill>
            <a:srgbClr val="FDFDFE"/>
          </a:solidFill>
          <a:ln cap="flat" cmpd="sng" w="12700">
            <a:solidFill>
              <a:srgbClr val="D5DE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
          <p:cNvSpPr/>
          <p:nvPr/>
        </p:nvSpPr>
        <p:spPr>
          <a:xfrm>
            <a:off x="1001117" y="4166567"/>
            <a:ext cx="406383" cy="406383"/>
          </a:xfrm>
          <a:prstGeom prst="roundRect">
            <a:avLst>
              <a:gd fmla="val 50000" name="adj"/>
            </a:avLst>
          </a:prstGeom>
          <a:solidFill>
            <a:srgbClr val="041E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p:nvPr/>
        </p:nvSpPr>
        <p:spPr>
          <a:xfrm>
            <a:off x="975717" y="4166567"/>
            <a:ext cx="457183" cy="431783"/>
          </a:xfrm>
          <a:prstGeom prst="rect">
            <a:avLst/>
          </a:prstGeom>
          <a:noFill/>
          <a:ln>
            <a:noFill/>
          </a:ln>
        </p:spPr>
        <p:txBody>
          <a:bodyPr anchorCtr="0" anchor="t" bIns="0" lIns="0" spcFirstLastPara="1" rIns="0" wrap="square" tIns="0">
            <a:normAutofit/>
          </a:bodyPr>
          <a:lstStyle/>
          <a:p>
            <a:pPr indent="0" lvl="0" marL="0" marR="0" rtl="0" algn="ctr">
              <a:lnSpc>
                <a:spcPct val="200000"/>
              </a:lnSpc>
              <a:spcBef>
                <a:spcPts val="0"/>
              </a:spcBef>
              <a:spcAft>
                <a:spcPts val="0"/>
              </a:spcAft>
              <a:buClr>
                <a:srgbClr val="F6F7F9"/>
              </a:buClr>
              <a:buSzPts val="1600"/>
              <a:buFont typeface="DM Sans"/>
              <a:buNone/>
            </a:pPr>
            <a:r>
              <a:rPr b="1" i="0" lang="en-US" sz="1600" u="none" cap="none" strike="noStrike">
                <a:solidFill>
                  <a:srgbClr val="F6F7F9"/>
                </a:solidFill>
                <a:latin typeface="DM Sans"/>
                <a:ea typeface="DM Sans"/>
                <a:cs typeface="DM Sans"/>
                <a:sym typeface="DM Sans"/>
              </a:rPr>
              <a:t>4</a:t>
            </a:r>
            <a:endParaRPr b="0" i="0" sz="1600" u="none" cap="none" strike="noStrike">
              <a:solidFill>
                <a:schemeClr val="dk1"/>
              </a:solidFill>
              <a:latin typeface="Calibri"/>
              <a:ea typeface="Calibri"/>
              <a:cs typeface="Calibri"/>
              <a:sym typeface="Calibri"/>
            </a:endParaRPr>
          </a:p>
        </p:txBody>
      </p:sp>
      <p:sp>
        <p:nvSpPr>
          <p:cNvPr id="124" name="Google Shape;124;p4"/>
          <p:cNvSpPr/>
          <p:nvPr/>
        </p:nvSpPr>
        <p:spPr>
          <a:xfrm>
            <a:off x="1001117" y="4649143"/>
            <a:ext cx="3100265" cy="309868"/>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600"/>
              <a:buFont typeface="DM Sans"/>
              <a:buNone/>
            </a:pPr>
            <a:r>
              <a:rPr b="1" i="0" lang="en-US" sz="1600" u="none" cap="none" strike="noStrike">
                <a:solidFill>
                  <a:srgbClr val="041E42"/>
                </a:solidFill>
                <a:latin typeface="DM Sans"/>
                <a:ea typeface="DM Sans"/>
                <a:cs typeface="DM Sans"/>
                <a:sym typeface="DM Sans"/>
              </a:rPr>
              <a:t>Two variables</a:t>
            </a:r>
            <a:endParaRPr b="0" i="0" sz="1600" u="none" cap="none" strike="noStrike">
              <a:solidFill>
                <a:schemeClr val="dk1"/>
              </a:solidFill>
              <a:latin typeface="Calibri"/>
              <a:ea typeface="Calibri"/>
              <a:cs typeface="Calibri"/>
              <a:sym typeface="Calibri"/>
            </a:endParaRPr>
          </a:p>
        </p:txBody>
      </p:sp>
      <p:sp>
        <p:nvSpPr>
          <p:cNvPr id="125" name="Google Shape;125;p4"/>
          <p:cNvSpPr/>
          <p:nvPr/>
        </p:nvSpPr>
        <p:spPr>
          <a:xfrm>
            <a:off x="1001117" y="5009803"/>
            <a:ext cx="310026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B4A63"/>
              </a:buClr>
              <a:buSzPts val="1200"/>
              <a:buFont typeface="DM Sans"/>
              <a:buNone/>
            </a:pPr>
            <a:r>
              <a:rPr b="0" i="0" lang="en-US" sz="1200" u="none" cap="none" strike="noStrike">
                <a:solidFill>
                  <a:srgbClr val="3B4A63"/>
                </a:solidFill>
                <a:latin typeface="DM Sans"/>
                <a:ea typeface="DM Sans"/>
                <a:cs typeface="DM Sans"/>
                <a:sym typeface="DM Sans"/>
              </a:rPr>
              <a:t>Relationships and group gaps</a:t>
            </a:r>
            <a:endParaRPr b="0" i="0" sz="1200" u="none" cap="none" strike="noStrike">
              <a:solidFill>
                <a:schemeClr val="dk1"/>
              </a:solidFill>
              <a:latin typeface="Calibri"/>
              <a:ea typeface="Calibri"/>
              <a:cs typeface="Calibri"/>
              <a:sym typeface="Calibri"/>
            </a:endParaRPr>
          </a:p>
        </p:txBody>
      </p:sp>
      <p:sp>
        <p:nvSpPr>
          <p:cNvPr id="126" name="Google Shape;126;p4"/>
          <p:cNvSpPr/>
          <p:nvPr/>
        </p:nvSpPr>
        <p:spPr>
          <a:xfrm>
            <a:off x="4408975" y="3984566"/>
            <a:ext cx="3374008" cy="1420556"/>
          </a:xfrm>
          <a:prstGeom prst="roundRect">
            <a:avLst>
              <a:gd fmla="val 8493" name="adj"/>
            </a:avLst>
          </a:prstGeom>
          <a:solidFill>
            <a:srgbClr val="FDFDFE"/>
          </a:solidFill>
          <a:ln cap="flat" cmpd="sng" w="12700">
            <a:solidFill>
              <a:srgbClr val="D5DE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a:off x="4590976" y="4166567"/>
            <a:ext cx="406383" cy="406383"/>
          </a:xfrm>
          <a:prstGeom prst="roundRect">
            <a:avLst>
              <a:gd fmla="val 50000" name="adj"/>
            </a:avLst>
          </a:prstGeom>
          <a:solidFill>
            <a:srgbClr val="041E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
          <p:cNvSpPr/>
          <p:nvPr/>
        </p:nvSpPr>
        <p:spPr>
          <a:xfrm>
            <a:off x="4565576" y="4166567"/>
            <a:ext cx="457183" cy="431783"/>
          </a:xfrm>
          <a:prstGeom prst="rect">
            <a:avLst/>
          </a:prstGeom>
          <a:noFill/>
          <a:ln>
            <a:noFill/>
          </a:ln>
        </p:spPr>
        <p:txBody>
          <a:bodyPr anchorCtr="0" anchor="t" bIns="0" lIns="0" spcFirstLastPara="1" rIns="0" wrap="square" tIns="0">
            <a:normAutofit/>
          </a:bodyPr>
          <a:lstStyle/>
          <a:p>
            <a:pPr indent="0" lvl="0" marL="0" marR="0" rtl="0" algn="ctr">
              <a:lnSpc>
                <a:spcPct val="200000"/>
              </a:lnSpc>
              <a:spcBef>
                <a:spcPts val="0"/>
              </a:spcBef>
              <a:spcAft>
                <a:spcPts val="0"/>
              </a:spcAft>
              <a:buClr>
                <a:srgbClr val="F6F7F9"/>
              </a:buClr>
              <a:buSzPts val="1600"/>
              <a:buFont typeface="DM Sans"/>
              <a:buNone/>
            </a:pPr>
            <a:r>
              <a:rPr b="1" i="0" lang="en-US" sz="1600" u="none" cap="none" strike="noStrike">
                <a:solidFill>
                  <a:srgbClr val="F6F7F9"/>
                </a:solidFill>
                <a:latin typeface="DM Sans"/>
                <a:ea typeface="DM Sans"/>
                <a:cs typeface="DM Sans"/>
                <a:sym typeface="DM Sans"/>
              </a:rPr>
              <a:t>5</a:t>
            </a:r>
            <a:endParaRPr b="0" i="0" sz="1600" u="none" cap="none" strike="noStrike">
              <a:solidFill>
                <a:schemeClr val="dk1"/>
              </a:solidFill>
              <a:latin typeface="Calibri"/>
              <a:ea typeface="Calibri"/>
              <a:cs typeface="Calibri"/>
              <a:sym typeface="Calibri"/>
            </a:endParaRPr>
          </a:p>
        </p:txBody>
      </p:sp>
      <p:sp>
        <p:nvSpPr>
          <p:cNvPr id="129" name="Google Shape;129;p4"/>
          <p:cNvSpPr/>
          <p:nvPr/>
        </p:nvSpPr>
        <p:spPr>
          <a:xfrm>
            <a:off x="4590976" y="4649143"/>
            <a:ext cx="3100308" cy="309868"/>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600"/>
              <a:buFont typeface="DM Sans"/>
              <a:buNone/>
            </a:pPr>
            <a:r>
              <a:rPr b="1" i="0" lang="en-US" sz="1600" u="none" cap="none" strike="noStrike">
                <a:solidFill>
                  <a:srgbClr val="041E42"/>
                </a:solidFill>
                <a:latin typeface="DM Sans"/>
                <a:ea typeface="DM Sans"/>
                <a:cs typeface="DM Sans"/>
                <a:sym typeface="DM Sans"/>
              </a:rPr>
              <a:t>Many variables</a:t>
            </a:r>
            <a:endParaRPr b="0" i="0" sz="1600" u="none" cap="none" strike="noStrike">
              <a:solidFill>
                <a:schemeClr val="dk1"/>
              </a:solidFill>
              <a:latin typeface="Calibri"/>
              <a:ea typeface="Calibri"/>
              <a:cs typeface="Calibri"/>
              <a:sym typeface="Calibri"/>
            </a:endParaRPr>
          </a:p>
        </p:txBody>
      </p:sp>
      <p:sp>
        <p:nvSpPr>
          <p:cNvPr id="130" name="Google Shape;130;p4"/>
          <p:cNvSpPr/>
          <p:nvPr/>
        </p:nvSpPr>
        <p:spPr>
          <a:xfrm>
            <a:off x="4590976" y="5009803"/>
            <a:ext cx="310030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B4A63"/>
              </a:buClr>
              <a:buSzPts val="1200"/>
              <a:buFont typeface="DM Sans"/>
              <a:buNone/>
            </a:pPr>
            <a:r>
              <a:rPr b="0" i="0" lang="en-US" sz="1200" u="none" cap="none" strike="noStrike">
                <a:solidFill>
                  <a:srgbClr val="3B4A63"/>
                </a:solidFill>
                <a:latin typeface="DM Sans"/>
                <a:ea typeface="DM Sans"/>
                <a:cs typeface="DM Sans"/>
                <a:sym typeface="DM Sans"/>
              </a:rPr>
              <a:t>Heatmaps, pair plots, color</a:t>
            </a:r>
            <a:endParaRPr b="0" i="0" sz="1200" u="none" cap="none" strike="noStrike">
              <a:solidFill>
                <a:schemeClr val="dk1"/>
              </a:solidFill>
              <a:latin typeface="Calibri"/>
              <a:ea typeface="Calibri"/>
              <a:cs typeface="Calibri"/>
              <a:sym typeface="Calibri"/>
            </a:endParaRPr>
          </a:p>
        </p:txBody>
      </p:sp>
      <p:sp>
        <p:nvSpPr>
          <p:cNvPr id="131" name="Google Shape;131;p4"/>
          <p:cNvSpPr/>
          <p:nvPr/>
        </p:nvSpPr>
        <p:spPr>
          <a:xfrm>
            <a:off x="7998875" y="3984566"/>
            <a:ext cx="3373967" cy="1420556"/>
          </a:xfrm>
          <a:prstGeom prst="roundRect">
            <a:avLst>
              <a:gd fmla="val 8493" name="adj"/>
            </a:avLst>
          </a:prstGeom>
          <a:solidFill>
            <a:srgbClr val="FDFDFE"/>
          </a:solidFill>
          <a:ln cap="flat" cmpd="sng" w="12700">
            <a:solidFill>
              <a:srgbClr val="D5DE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p:nvPr/>
        </p:nvSpPr>
        <p:spPr>
          <a:xfrm>
            <a:off x="8180875" y="4166567"/>
            <a:ext cx="406383" cy="406383"/>
          </a:xfrm>
          <a:prstGeom prst="roundRect">
            <a:avLst>
              <a:gd fmla="val 50000" name="adj"/>
            </a:avLst>
          </a:prstGeom>
          <a:solidFill>
            <a:srgbClr val="041E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a:off x="8155475" y="4166567"/>
            <a:ext cx="457183" cy="431783"/>
          </a:xfrm>
          <a:prstGeom prst="rect">
            <a:avLst/>
          </a:prstGeom>
          <a:noFill/>
          <a:ln>
            <a:noFill/>
          </a:ln>
        </p:spPr>
        <p:txBody>
          <a:bodyPr anchorCtr="0" anchor="t" bIns="0" lIns="0" spcFirstLastPara="1" rIns="0" wrap="square" tIns="0">
            <a:normAutofit/>
          </a:bodyPr>
          <a:lstStyle/>
          <a:p>
            <a:pPr indent="0" lvl="0" marL="0" marR="0" rtl="0" algn="ctr">
              <a:lnSpc>
                <a:spcPct val="200000"/>
              </a:lnSpc>
              <a:spcBef>
                <a:spcPts val="0"/>
              </a:spcBef>
              <a:spcAft>
                <a:spcPts val="0"/>
              </a:spcAft>
              <a:buClr>
                <a:srgbClr val="F6F7F9"/>
              </a:buClr>
              <a:buSzPts val="1600"/>
              <a:buFont typeface="DM Sans"/>
              <a:buNone/>
            </a:pPr>
            <a:r>
              <a:rPr b="1" i="0" lang="en-US" sz="1600" u="none" cap="none" strike="noStrike">
                <a:solidFill>
                  <a:srgbClr val="F6F7F9"/>
                </a:solidFill>
                <a:latin typeface="DM Sans"/>
                <a:ea typeface="DM Sans"/>
                <a:cs typeface="DM Sans"/>
                <a:sym typeface="DM Sans"/>
              </a:rPr>
              <a:t>6</a:t>
            </a:r>
            <a:endParaRPr b="0" i="0" sz="1600" u="none" cap="none" strike="noStrike">
              <a:solidFill>
                <a:schemeClr val="dk1"/>
              </a:solidFill>
              <a:latin typeface="Calibri"/>
              <a:ea typeface="Calibri"/>
              <a:cs typeface="Calibri"/>
              <a:sym typeface="Calibri"/>
            </a:endParaRPr>
          </a:p>
        </p:txBody>
      </p:sp>
      <p:sp>
        <p:nvSpPr>
          <p:cNvPr id="134" name="Google Shape;134;p4"/>
          <p:cNvSpPr/>
          <p:nvPr/>
        </p:nvSpPr>
        <p:spPr>
          <a:xfrm>
            <a:off x="8180875" y="4649143"/>
            <a:ext cx="3100265" cy="309868"/>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600"/>
              <a:buFont typeface="DM Sans"/>
              <a:buNone/>
            </a:pPr>
            <a:r>
              <a:rPr b="1" i="0" lang="en-US" sz="1600" u="none" cap="none" strike="noStrike">
                <a:solidFill>
                  <a:srgbClr val="041E42"/>
                </a:solidFill>
                <a:latin typeface="DM Sans"/>
                <a:ea typeface="DM Sans"/>
                <a:cs typeface="DM Sans"/>
                <a:sym typeface="DM Sans"/>
              </a:rPr>
              <a:t>Share findings</a:t>
            </a:r>
            <a:endParaRPr b="0" i="0" sz="1600" u="none" cap="none" strike="noStrike">
              <a:solidFill>
                <a:schemeClr val="dk1"/>
              </a:solidFill>
              <a:latin typeface="Calibri"/>
              <a:ea typeface="Calibri"/>
              <a:cs typeface="Calibri"/>
              <a:sym typeface="Calibri"/>
            </a:endParaRPr>
          </a:p>
        </p:txBody>
      </p:sp>
      <p:sp>
        <p:nvSpPr>
          <p:cNvPr id="135" name="Google Shape;135;p4"/>
          <p:cNvSpPr/>
          <p:nvPr/>
        </p:nvSpPr>
        <p:spPr>
          <a:xfrm>
            <a:off x="8180875" y="5009803"/>
            <a:ext cx="310026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B4A63"/>
              </a:buClr>
              <a:buSzPts val="1200"/>
              <a:buFont typeface="DM Sans"/>
              <a:buNone/>
            </a:pPr>
            <a:r>
              <a:rPr b="0" i="0" lang="en-US" sz="1200" u="none" cap="none" strike="noStrike">
                <a:solidFill>
                  <a:srgbClr val="3B4A63"/>
                </a:solidFill>
                <a:latin typeface="DM Sans"/>
                <a:ea typeface="DM Sans"/>
                <a:cs typeface="DM Sans"/>
                <a:sym typeface="DM Sans"/>
              </a:rPr>
              <a:t>Insights and next questions</a:t>
            </a:r>
            <a:endParaRPr b="0" i="0" sz="1200" u="none" cap="none" strike="noStrike">
              <a:solidFill>
                <a:schemeClr val="dk1"/>
              </a:solidFill>
              <a:latin typeface="Calibri"/>
              <a:ea typeface="Calibri"/>
              <a:cs typeface="Calibri"/>
              <a:sym typeface="Calibri"/>
            </a:endParaRPr>
          </a:p>
        </p:txBody>
      </p:sp>
      <p:sp>
        <p:nvSpPr>
          <p:cNvPr id="136" name="Google Shape;136;p4"/>
          <p:cNvSpPr/>
          <p:nvPr/>
        </p:nvSpPr>
        <p:spPr>
          <a:xfrm>
            <a:off x="812767" y="6237015"/>
            <a:ext cx="325734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880"/>
              </a:buClr>
              <a:buSzPts val="1200"/>
              <a:buFont typeface="DM Sans"/>
              <a:buNone/>
            </a:pPr>
            <a:r>
              <a:rPr b="0" i="0" lang="en-US" sz="1200" u="none" cap="none" strike="noStrike">
                <a:solidFill>
                  <a:srgbClr val="5A6880"/>
                </a:solidFill>
                <a:latin typeface="DM Sans"/>
                <a:ea typeface="DM Sans"/>
                <a:cs typeface="DM Sans"/>
                <a:sym typeface="DM Sans"/>
              </a:rPr>
              <a:t>Nittany Data Labs · Exploratory Data Analysis</a:t>
            </a:r>
            <a:endParaRPr b="0" i="0" sz="1200" u="none" cap="none" strike="noStrike">
              <a:solidFill>
                <a:schemeClr val="dk1"/>
              </a:solidFill>
              <a:latin typeface="Calibri"/>
              <a:ea typeface="Calibri"/>
              <a:cs typeface="Calibri"/>
              <a:sym typeface="Calibri"/>
            </a:endParaRPr>
          </a:p>
        </p:txBody>
      </p:sp>
      <p:sp>
        <p:nvSpPr>
          <p:cNvPr id="137" name="Google Shape;137;p4"/>
          <p:cNvSpPr/>
          <p:nvPr/>
        </p:nvSpPr>
        <p:spPr>
          <a:xfrm>
            <a:off x="11286629" y="6237015"/>
            <a:ext cx="14332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880"/>
              </a:buClr>
              <a:buSzPts val="1200"/>
              <a:buFont typeface="DM Sans"/>
              <a:buNone/>
            </a:pPr>
            <a:r>
              <a:rPr b="0" i="0" lang="en-US" sz="1200" u="none" cap="none" strike="noStrike">
                <a:solidFill>
                  <a:srgbClr val="5A6880"/>
                </a:solidFill>
                <a:latin typeface="DM Sans"/>
                <a:ea typeface="DM Sans"/>
                <a:cs typeface="DM Sans"/>
                <a:sym typeface="DM Sans"/>
              </a:rPr>
              <a:t>4</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9"/>
        </a:solidFill>
      </p:bgPr>
    </p:bg>
    <p:spTree>
      <p:nvGrpSpPr>
        <p:cNvPr id="142" name="Shape 142"/>
        <p:cNvGrpSpPr/>
        <p:nvPr/>
      </p:nvGrpSpPr>
      <p:grpSpPr>
        <a:xfrm>
          <a:off x="0" y="0"/>
          <a:ext cx="0" cy="0"/>
          <a:chOff x="0" y="0"/>
          <a:chExt cx="0" cy="0"/>
        </a:xfrm>
      </p:grpSpPr>
      <p:sp>
        <p:nvSpPr>
          <p:cNvPr id="143" name="Google Shape;143;p5"/>
          <p:cNvSpPr/>
          <p:nvPr/>
        </p:nvSpPr>
        <p:spPr>
          <a:xfrm>
            <a:off x="812767" y="812766"/>
            <a:ext cx="1088346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E407C"/>
              </a:buClr>
              <a:buSzPts val="1200"/>
              <a:buFont typeface="DM Sans"/>
              <a:buNone/>
            </a:pPr>
            <a:r>
              <a:rPr b="1" i="0" lang="en-US" sz="1200" u="none" cap="none" strike="noStrike">
                <a:solidFill>
                  <a:srgbClr val="1E407C"/>
                </a:solidFill>
                <a:latin typeface="DM Sans"/>
                <a:ea typeface="DM Sans"/>
                <a:cs typeface="DM Sans"/>
                <a:sym typeface="DM Sans"/>
              </a:rPr>
              <a:t>STEP 1 OF 6</a:t>
            </a:r>
            <a:endParaRPr b="0" i="0" sz="1200" u="none" cap="none" strike="noStrike">
              <a:solidFill>
                <a:schemeClr val="dk1"/>
              </a:solidFill>
              <a:latin typeface="Calibri"/>
              <a:ea typeface="Calibri"/>
              <a:cs typeface="Calibri"/>
              <a:sym typeface="Calibri"/>
            </a:endParaRPr>
          </a:p>
        </p:txBody>
      </p:sp>
      <p:sp>
        <p:nvSpPr>
          <p:cNvPr id="144" name="Google Shape;144;p5"/>
          <p:cNvSpPr/>
          <p:nvPr/>
        </p:nvSpPr>
        <p:spPr>
          <a:xfrm>
            <a:off x="812767" y="1102277"/>
            <a:ext cx="10883460" cy="472422"/>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041E42"/>
              </a:buClr>
              <a:buSzPts val="3200"/>
              <a:buFont typeface="DM Sans"/>
              <a:buNone/>
            </a:pPr>
            <a:r>
              <a:rPr b="1" i="0" lang="en-US" sz="3200" u="none" cap="none" strike="noStrike">
                <a:solidFill>
                  <a:srgbClr val="041E42"/>
                </a:solidFill>
                <a:latin typeface="DM Sans"/>
                <a:ea typeface="DM Sans"/>
                <a:cs typeface="DM Sans"/>
                <a:sym typeface="DM Sans"/>
              </a:rPr>
              <a:t>Ask questions first</a:t>
            </a:r>
            <a:endParaRPr b="0" i="0" sz="3200" u="none" cap="none" strike="noStrike">
              <a:solidFill>
                <a:schemeClr val="dk1"/>
              </a:solidFill>
              <a:latin typeface="Calibri"/>
              <a:ea typeface="Calibri"/>
              <a:cs typeface="Calibri"/>
              <a:sym typeface="Calibri"/>
            </a:endParaRPr>
          </a:p>
        </p:txBody>
      </p:sp>
      <p:cxnSp>
        <p:nvCxnSpPr>
          <p:cNvPr id="145" name="Google Shape;145;p5"/>
          <p:cNvCxnSpPr/>
          <p:nvPr/>
        </p:nvCxnSpPr>
        <p:spPr>
          <a:xfrm>
            <a:off x="831817" y="2832156"/>
            <a:ext cx="0" cy="289512"/>
          </a:xfrm>
          <a:prstGeom prst="straightConnector1">
            <a:avLst/>
          </a:prstGeom>
          <a:noFill/>
          <a:ln cap="flat" cmpd="sng" w="38100">
            <a:solidFill>
              <a:srgbClr val="F9A826"/>
            </a:solidFill>
            <a:prstDash val="solid"/>
            <a:round/>
            <a:headEnd len="sm" w="sm" type="none"/>
            <a:tailEnd len="sm" w="sm" type="none"/>
          </a:ln>
        </p:spPr>
      </p:cxnSp>
      <p:sp>
        <p:nvSpPr>
          <p:cNvPr id="146" name="Google Shape;146;p5"/>
          <p:cNvSpPr/>
          <p:nvPr/>
        </p:nvSpPr>
        <p:spPr>
          <a:xfrm>
            <a:off x="1002209" y="2844856"/>
            <a:ext cx="4252415" cy="28951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B4A63"/>
              </a:buClr>
              <a:buSzPts val="1600"/>
              <a:buFont typeface="DM Sans"/>
              <a:buNone/>
            </a:pPr>
            <a:r>
              <a:rPr b="0" i="0" lang="en-US" sz="1600" u="none" cap="none" strike="noStrike">
                <a:solidFill>
                  <a:srgbClr val="3B4A63"/>
                </a:solidFill>
                <a:latin typeface="DM Sans"/>
                <a:ea typeface="DM Sans"/>
                <a:cs typeface="DM Sans"/>
                <a:sym typeface="DM Sans"/>
              </a:rPr>
              <a:t>What do we want to </a:t>
            </a:r>
            <a:r>
              <a:rPr b="1" i="0" lang="en-US" sz="1600" u="none" cap="none" strike="noStrike">
                <a:solidFill>
                  <a:srgbClr val="3B4A63"/>
                </a:solidFill>
                <a:latin typeface="DM Sans"/>
                <a:ea typeface="DM Sans"/>
                <a:cs typeface="DM Sans"/>
                <a:sym typeface="DM Sans"/>
              </a:rPr>
              <a:t>learn</a:t>
            </a:r>
            <a:r>
              <a:rPr b="0" i="0" lang="en-US" sz="1600" u="none" cap="none" strike="noStrike">
                <a:solidFill>
                  <a:srgbClr val="3B4A63"/>
                </a:solidFill>
                <a:latin typeface="DM Sans"/>
                <a:ea typeface="DM Sans"/>
                <a:cs typeface="DM Sans"/>
                <a:sym typeface="DM Sans"/>
              </a:rPr>
              <a:t>?</a:t>
            </a:r>
            <a:endParaRPr b="0" i="0" sz="1600" u="none" cap="none" strike="noStrike">
              <a:solidFill>
                <a:schemeClr val="dk1"/>
              </a:solidFill>
              <a:latin typeface="Calibri"/>
              <a:ea typeface="Calibri"/>
              <a:cs typeface="Calibri"/>
              <a:sym typeface="Calibri"/>
            </a:endParaRPr>
          </a:p>
        </p:txBody>
      </p:sp>
      <p:cxnSp>
        <p:nvCxnSpPr>
          <p:cNvPr id="147" name="Google Shape;147;p5"/>
          <p:cNvCxnSpPr/>
          <p:nvPr/>
        </p:nvCxnSpPr>
        <p:spPr>
          <a:xfrm>
            <a:off x="831817" y="3324861"/>
            <a:ext cx="0" cy="289512"/>
          </a:xfrm>
          <a:prstGeom prst="straightConnector1">
            <a:avLst/>
          </a:prstGeom>
          <a:noFill/>
          <a:ln cap="flat" cmpd="sng" w="38100">
            <a:solidFill>
              <a:srgbClr val="F9A826"/>
            </a:solidFill>
            <a:prstDash val="solid"/>
            <a:round/>
            <a:headEnd len="sm" w="sm" type="none"/>
            <a:tailEnd len="sm" w="sm" type="none"/>
          </a:ln>
        </p:spPr>
      </p:cxnSp>
      <p:sp>
        <p:nvSpPr>
          <p:cNvPr id="148" name="Google Shape;148;p5"/>
          <p:cNvSpPr/>
          <p:nvPr/>
        </p:nvSpPr>
        <p:spPr>
          <a:xfrm>
            <a:off x="1002209" y="3337561"/>
            <a:ext cx="4252415" cy="28951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B4A63"/>
              </a:buClr>
              <a:buSzPts val="1600"/>
              <a:buFont typeface="DM Sans"/>
              <a:buNone/>
            </a:pPr>
            <a:r>
              <a:rPr b="0" i="0" lang="en-US" sz="1600" u="none" cap="none" strike="noStrike">
                <a:solidFill>
                  <a:srgbClr val="3B4A63"/>
                </a:solidFill>
                <a:latin typeface="DM Sans"/>
                <a:ea typeface="DM Sans"/>
                <a:cs typeface="DM Sans"/>
                <a:sym typeface="DM Sans"/>
              </a:rPr>
              <a:t>What does </a:t>
            </a:r>
            <a:r>
              <a:rPr b="1" i="0" lang="en-US" sz="1600" u="none" cap="none" strike="noStrike">
                <a:solidFill>
                  <a:srgbClr val="3B4A63"/>
                </a:solidFill>
                <a:latin typeface="DM Sans"/>
                <a:ea typeface="DM Sans"/>
                <a:cs typeface="DM Sans"/>
                <a:sym typeface="DM Sans"/>
              </a:rPr>
              <a:t>each column</a:t>
            </a:r>
            <a:r>
              <a:rPr b="0" i="0" lang="en-US" sz="1600" u="none" cap="none" strike="noStrike">
                <a:solidFill>
                  <a:srgbClr val="3B4A63"/>
                </a:solidFill>
                <a:latin typeface="DM Sans"/>
                <a:ea typeface="DM Sans"/>
                <a:cs typeface="DM Sans"/>
                <a:sym typeface="DM Sans"/>
              </a:rPr>
              <a:t> mean?</a:t>
            </a:r>
            <a:endParaRPr b="0" i="0" sz="1600" u="none" cap="none" strike="noStrike">
              <a:solidFill>
                <a:schemeClr val="dk1"/>
              </a:solidFill>
              <a:latin typeface="Calibri"/>
              <a:ea typeface="Calibri"/>
              <a:cs typeface="Calibri"/>
              <a:sym typeface="Calibri"/>
            </a:endParaRPr>
          </a:p>
        </p:txBody>
      </p:sp>
      <p:cxnSp>
        <p:nvCxnSpPr>
          <p:cNvPr id="149" name="Google Shape;149;p5"/>
          <p:cNvCxnSpPr/>
          <p:nvPr/>
        </p:nvCxnSpPr>
        <p:spPr>
          <a:xfrm>
            <a:off x="831817" y="3817565"/>
            <a:ext cx="0" cy="553641"/>
          </a:xfrm>
          <a:prstGeom prst="straightConnector1">
            <a:avLst/>
          </a:prstGeom>
          <a:noFill/>
          <a:ln cap="flat" cmpd="sng" w="38100">
            <a:solidFill>
              <a:srgbClr val="F9A826"/>
            </a:solidFill>
            <a:prstDash val="solid"/>
            <a:round/>
            <a:headEnd len="sm" w="sm" type="none"/>
            <a:tailEnd len="sm" w="sm" type="none"/>
          </a:ln>
        </p:spPr>
      </p:cxnSp>
      <p:sp>
        <p:nvSpPr>
          <p:cNvPr id="150" name="Google Shape;150;p5"/>
          <p:cNvSpPr/>
          <p:nvPr/>
        </p:nvSpPr>
        <p:spPr>
          <a:xfrm>
            <a:off x="1002209" y="3830265"/>
            <a:ext cx="4252415" cy="553641"/>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B4A63"/>
              </a:buClr>
              <a:buSzPts val="1600"/>
              <a:buFont typeface="DM Sans"/>
              <a:buNone/>
            </a:pPr>
            <a:r>
              <a:rPr b="0" i="0" lang="en-US" sz="1600" u="none" cap="none" strike="noStrike">
                <a:solidFill>
                  <a:srgbClr val="3B4A63"/>
                </a:solidFill>
                <a:latin typeface="DM Sans"/>
                <a:ea typeface="DM Sans"/>
                <a:cs typeface="DM Sans"/>
                <a:sym typeface="DM Sans"/>
              </a:rPr>
              <a:t>Which columns are </a:t>
            </a:r>
            <a:r>
              <a:rPr b="1" i="0" lang="en-US" sz="1600" u="none" cap="none" strike="noStrike">
                <a:solidFill>
                  <a:srgbClr val="3B4A63"/>
                </a:solidFill>
                <a:latin typeface="DM Sans"/>
                <a:ea typeface="DM Sans"/>
                <a:cs typeface="DM Sans"/>
                <a:sym typeface="DM Sans"/>
              </a:rPr>
              <a:t>numerical vs categorical</a:t>
            </a:r>
            <a:r>
              <a:rPr b="0" i="0" lang="en-US" sz="1600" u="none" cap="none" strike="noStrike">
                <a:solidFill>
                  <a:srgbClr val="3B4A63"/>
                </a:solidFill>
                <a:latin typeface="DM Sans"/>
                <a:ea typeface="DM Sans"/>
                <a:cs typeface="DM Sans"/>
                <a:sym typeface="DM Sans"/>
              </a:rPr>
              <a:t>?</a:t>
            </a:r>
            <a:endParaRPr b="0" i="0" sz="1600" u="none" cap="none" strike="noStrike">
              <a:solidFill>
                <a:schemeClr val="dk1"/>
              </a:solidFill>
              <a:latin typeface="Calibri"/>
              <a:ea typeface="Calibri"/>
              <a:cs typeface="Calibri"/>
              <a:sym typeface="Calibri"/>
            </a:endParaRPr>
          </a:p>
        </p:txBody>
      </p:sp>
      <p:cxnSp>
        <p:nvCxnSpPr>
          <p:cNvPr id="151" name="Google Shape;151;p5"/>
          <p:cNvCxnSpPr/>
          <p:nvPr/>
        </p:nvCxnSpPr>
        <p:spPr>
          <a:xfrm>
            <a:off x="831817" y="4574397"/>
            <a:ext cx="0" cy="289512"/>
          </a:xfrm>
          <a:prstGeom prst="straightConnector1">
            <a:avLst/>
          </a:prstGeom>
          <a:noFill/>
          <a:ln cap="flat" cmpd="sng" w="38100">
            <a:solidFill>
              <a:srgbClr val="F9A826"/>
            </a:solidFill>
            <a:prstDash val="solid"/>
            <a:round/>
            <a:headEnd len="sm" w="sm" type="none"/>
            <a:tailEnd len="sm" w="sm" type="none"/>
          </a:ln>
        </p:spPr>
      </p:cxnSp>
      <p:sp>
        <p:nvSpPr>
          <p:cNvPr id="152" name="Google Shape;152;p5"/>
          <p:cNvSpPr/>
          <p:nvPr/>
        </p:nvSpPr>
        <p:spPr>
          <a:xfrm>
            <a:off x="1002209" y="4587097"/>
            <a:ext cx="4252415" cy="28951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B4A63"/>
              </a:buClr>
              <a:buSzPts val="1600"/>
              <a:buFont typeface="DM Sans"/>
              <a:buNone/>
            </a:pPr>
            <a:r>
              <a:rPr b="0" i="0" lang="en-US" sz="1600" u="none" cap="none" strike="noStrike">
                <a:solidFill>
                  <a:srgbClr val="3B4A63"/>
                </a:solidFill>
                <a:latin typeface="DM Sans"/>
                <a:ea typeface="DM Sans"/>
                <a:cs typeface="DM Sans"/>
                <a:sym typeface="DM Sans"/>
              </a:rPr>
              <a:t>Write </a:t>
            </a:r>
            <a:r>
              <a:rPr b="1" i="0" lang="en-US" sz="1600" u="none" cap="none" strike="noStrike">
                <a:solidFill>
                  <a:srgbClr val="3B4A63"/>
                </a:solidFill>
                <a:latin typeface="DM Sans"/>
                <a:ea typeface="DM Sans"/>
                <a:cs typeface="DM Sans"/>
                <a:sym typeface="DM Sans"/>
              </a:rPr>
              <a:t>2–3 questions</a:t>
            </a:r>
            <a:r>
              <a:rPr b="0" i="0" lang="en-US" sz="1600" u="none" cap="none" strike="noStrike">
                <a:solidFill>
                  <a:srgbClr val="3B4A63"/>
                </a:solidFill>
                <a:latin typeface="DM Sans"/>
                <a:ea typeface="DM Sans"/>
                <a:cs typeface="DM Sans"/>
                <a:sym typeface="DM Sans"/>
              </a:rPr>
              <a:t> before any plots</a:t>
            </a:r>
            <a:endParaRPr b="0" i="0" sz="1600" u="none" cap="none" strike="noStrike">
              <a:solidFill>
                <a:schemeClr val="dk1"/>
              </a:solidFill>
              <a:latin typeface="Calibri"/>
              <a:ea typeface="Calibri"/>
              <a:cs typeface="Calibri"/>
              <a:sym typeface="Calibri"/>
            </a:endParaRPr>
          </a:p>
        </p:txBody>
      </p:sp>
      <p:sp>
        <p:nvSpPr>
          <p:cNvPr id="153" name="Google Shape;153;p5"/>
          <p:cNvSpPr/>
          <p:nvPr/>
        </p:nvSpPr>
        <p:spPr>
          <a:xfrm>
            <a:off x="7616610" y="2191534"/>
            <a:ext cx="173392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880"/>
              </a:buClr>
              <a:buSzPts val="1200"/>
              <a:buFont typeface="DM Sans"/>
              <a:buNone/>
            </a:pPr>
            <a:r>
              <a:rPr b="1" i="0" lang="en-US" sz="1200" u="none" cap="none" strike="noStrike">
                <a:solidFill>
                  <a:srgbClr val="5A6880"/>
                </a:solidFill>
                <a:latin typeface="DM Sans"/>
                <a:ea typeface="DM Sans"/>
                <a:cs typeface="DM Sans"/>
                <a:sym typeface="DM Sans"/>
              </a:rPr>
              <a:t>EXAMPLE COLUMNS</a:t>
            </a:r>
            <a:endParaRPr b="0" i="0" sz="1200" u="none" cap="none" strike="noStrike">
              <a:solidFill>
                <a:schemeClr val="dk1"/>
              </a:solidFill>
              <a:latin typeface="Calibri"/>
              <a:ea typeface="Calibri"/>
              <a:cs typeface="Calibri"/>
              <a:sym typeface="Calibri"/>
            </a:endParaRPr>
          </a:p>
        </p:txBody>
      </p:sp>
      <p:sp>
        <p:nvSpPr>
          <p:cNvPr id="154" name="Google Shape;154;p5"/>
          <p:cNvSpPr/>
          <p:nvPr/>
        </p:nvSpPr>
        <p:spPr>
          <a:xfrm>
            <a:off x="5829391" y="2531855"/>
            <a:ext cx="1026129" cy="314854"/>
          </a:xfrm>
          <a:prstGeom prst="roundRect">
            <a:avLst>
              <a:gd fmla="val 20168" name="adj"/>
            </a:avLst>
          </a:prstGeom>
          <a:solidFill>
            <a:srgbClr val="E3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5"/>
          <p:cNvSpPr/>
          <p:nvPr/>
        </p:nvSpPr>
        <p:spPr>
          <a:xfrm>
            <a:off x="5930991" y="2582655"/>
            <a:ext cx="873729" cy="23865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200"/>
              <a:buFont typeface="JetBrains Mono"/>
              <a:buNone/>
            </a:pPr>
            <a:r>
              <a:rPr b="0" i="0" lang="en-US" sz="1200" u="none" cap="none" strike="noStrike">
                <a:solidFill>
                  <a:srgbClr val="041E42"/>
                </a:solidFill>
                <a:latin typeface="JetBrains Mono"/>
                <a:ea typeface="JetBrains Mono"/>
                <a:cs typeface="JetBrains Mono"/>
                <a:sym typeface="JetBrains Mono"/>
              </a:rPr>
              <a:t>height_cm</a:t>
            </a:r>
            <a:endParaRPr b="0" i="0" sz="1200" u="none" cap="none" strike="noStrike">
              <a:solidFill>
                <a:schemeClr val="dk1"/>
              </a:solidFill>
              <a:latin typeface="Calibri"/>
              <a:ea typeface="Calibri"/>
              <a:cs typeface="Calibri"/>
              <a:sym typeface="Calibri"/>
            </a:endParaRPr>
          </a:p>
        </p:txBody>
      </p:sp>
      <p:sp>
        <p:nvSpPr>
          <p:cNvPr id="156" name="Google Shape;156;p5"/>
          <p:cNvSpPr/>
          <p:nvPr/>
        </p:nvSpPr>
        <p:spPr>
          <a:xfrm>
            <a:off x="6931711" y="2531855"/>
            <a:ext cx="568937" cy="314854"/>
          </a:xfrm>
          <a:prstGeom prst="roundRect">
            <a:avLst>
              <a:gd fmla="val 20168" name="adj"/>
            </a:avLst>
          </a:prstGeom>
          <a:solidFill>
            <a:srgbClr val="E3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5"/>
          <p:cNvSpPr/>
          <p:nvPr/>
        </p:nvSpPr>
        <p:spPr>
          <a:xfrm>
            <a:off x="7033311" y="2582655"/>
            <a:ext cx="416537" cy="23865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200"/>
              <a:buFont typeface="JetBrains Mono"/>
              <a:buNone/>
            </a:pPr>
            <a:r>
              <a:rPr b="0" i="0" lang="en-US" sz="1200" u="none" cap="none" strike="noStrike">
                <a:solidFill>
                  <a:srgbClr val="041E42"/>
                </a:solidFill>
                <a:latin typeface="JetBrains Mono"/>
                <a:ea typeface="JetBrains Mono"/>
                <a:cs typeface="JetBrains Mono"/>
                <a:sym typeface="JetBrains Mono"/>
              </a:rPr>
              <a:t>city</a:t>
            </a:r>
            <a:endParaRPr b="0" i="0" sz="1200" u="none" cap="none" strike="noStrike">
              <a:solidFill>
                <a:schemeClr val="dk1"/>
              </a:solidFill>
              <a:latin typeface="Calibri"/>
              <a:ea typeface="Calibri"/>
              <a:cs typeface="Calibri"/>
              <a:sym typeface="Calibri"/>
            </a:endParaRPr>
          </a:p>
        </p:txBody>
      </p:sp>
      <p:sp>
        <p:nvSpPr>
          <p:cNvPr id="158" name="Google Shape;158;p5"/>
          <p:cNvSpPr/>
          <p:nvPr/>
        </p:nvSpPr>
        <p:spPr>
          <a:xfrm>
            <a:off x="7576840" y="2531855"/>
            <a:ext cx="660383" cy="314854"/>
          </a:xfrm>
          <a:prstGeom prst="roundRect">
            <a:avLst>
              <a:gd fmla="val 20168" name="adj"/>
            </a:avLst>
          </a:prstGeom>
          <a:solidFill>
            <a:srgbClr val="E3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5"/>
          <p:cNvSpPr/>
          <p:nvPr/>
        </p:nvSpPr>
        <p:spPr>
          <a:xfrm>
            <a:off x="7678440" y="2582655"/>
            <a:ext cx="507983" cy="23865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200"/>
              <a:buFont typeface="JetBrains Mono"/>
              <a:buNone/>
            </a:pPr>
            <a:r>
              <a:rPr b="0" i="0" lang="en-US" sz="1200" u="none" cap="none" strike="noStrike">
                <a:solidFill>
                  <a:srgbClr val="041E42"/>
                </a:solidFill>
                <a:latin typeface="JetBrains Mono"/>
                <a:ea typeface="JetBrains Mono"/>
                <a:cs typeface="JetBrains Mono"/>
                <a:sym typeface="JetBrains Mono"/>
              </a:rPr>
              <a:t>price</a:t>
            </a:r>
            <a:endParaRPr b="0" i="0" sz="1200" u="none" cap="none" strike="noStrike">
              <a:solidFill>
                <a:schemeClr val="dk1"/>
              </a:solidFill>
              <a:latin typeface="Calibri"/>
              <a:ea typeface="Calibri"/>
              <a:cs typeface="Calibri"/>
              <a:sym typeface="Calibri"/>
            </a:endParaRPr>
          </a:p>
        </p:txBody>
      </p:sp>
      <p:sp>
        <p:nvSpPr>
          <p:cNvPr id="160" name="Google Shape;160;p5"/>
          <p:cNvSpPr/>
          <p:nvPr/>
        </p:nvSpPr>
        <p:spPr>
          <a:xfrm>
            <a:off x="8313415" y="2531855"/>
            <a:ext cx="660383" cy="314854"/>
          </a:xfrm>
          <a:prstGeom prst="roundRect">
            <a:avLst>
              <a:gd fmla="val 20168" name="adj"/>
            </a:avLst>
          </a:prstGeom>
          <a:solidFill>
            <a:srgbClr val="E3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5"/>
          <p:cNvSpPr/>
          <p:nvPr/>
        </p:nvSpPr>
        <p:spPr>
          <a:xfrm>
            <a:off x="8415015" y="2582655"/>
            <a:ext cx="507983" cy="23865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200"/>
              <a:buFont typeface="JetBrains Mono"/>
              <a:buNone/>
            </a:pPr>
            <a:r>
              <a:rPr b="0" i="0" lang="en-US" sz="1200" u="none" cap="none" strike="noStrike">
                <a:solidFill>
                  <a:srgbClr val="041E42"/>
                </a:solidFill>
                <a:latin typeface="JetBrains Mono"/>
                <a:ea typeface="JetBrains Mono"/>
                <a:cs typeface="JetBrains Mono"/>
                <a:sym typeface="JetBrains Mono"/>
              </a:rPr>
              <a:t>color</a:t>
            </a:r>
            <a:endParaRPr b="0" i="0" sz="1200" u="none" cap="none" strike="noStrike">
              <a:solidFill>
                <a:schemeClr val="dk1"/>
              </a:solidFill>
              <a:latin typeface="Calibri"/>
              <a:ea typeface="Calibri"/>
              <a:cs typeface="Calibri"/>
              <a:sym typeface="Calibri"/>
            </a:endParaRPr>
          </a:p>
        </p:txBody>
      </p:sp>
      <p:sp>
        <p:nvSpPr>
          <p:cNvPr id="162" name="Google Shape;162;p5"/>
          <p:cNvSpPr/>
          <p:nvPr/>
        </p:nvSpPr>
        <p:spPr>
          <a:xfrm>
            <a:off x="9049990" y="2531855"/>
            <a:ext cx="1026129" cy="314854"/>
          </a:xfrm>
          <a:prstGeom prst="roundRect">
            <a:avLst>
              <a:gd fmla="val 20168" name="adj"/>
            </a:avLst>
          </a:prstGeom>
          <a:solidFill>
            <a:srgbClr val="E3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5"/>
          <p:cNvSpPr/>
          <p:nvPr/>
        </p:nvSpPr>
        <p:spPr>
          <a:xfrm>
            <a:off x="9151590" y="2582655"/>
            <a:ext cx="873729" cy="23865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200"/>
              <a:buFont typeface="JetBrains Mono"/>
              <a:buNone/>
            </a:pPr>
            <a:r>
              <a:rPr b="0" i="0" lang="en-US" sz="1200" u="none" cap="none" strike="noStrike">
                <a:solidFill>
                  <a:srgbClr val="041E42"/>
                </a:solidFill>
                <a:latin typeface="JetBrains Mono"/>
                <a:ea typeface="JetBrains Mono"/>
                <a:cs typeface="JetBrains Mono"/>
                <a:sym typeface="JetBrains Mono"/>
              </a:rPr>
              <a:t>num_rooms</a:t>
            </a:r>
            <a:endParaRPr b="0" i="0" sz="1200" u="none" cap="none" strike="noStrike">
              <a:solidFill>
                <a:schemeClr val="dk1"/>
              </a:solidFill>
              <a:latin typeface="Calibri"/>
              <a:ea typeface="Calibri"/>
              <a:cs typeface="Calibri"/>
              <a:sym typeface="Calibri"/>
            </a:endParaRPr>
          </a:p>
        </p:txBody>
      </p:sp>
      <p:sp>
        <p:nvSpPr>
          <p:cNvPr id="164" name="Google Shape;164;p5"/>
          <p:cNvSpPr/>
          <p:nvPr/>
        </p:nvSpPr>
        <p:spPr>
          <a:xfrm>
            <a:off x="10152311" y="2531855"/>
            <a:ext cx="934682" cy="314854"/>
          </a:xfrm>
          <a:prstGeom prst="roundRect">
            <a:avLst>
              <a:gd fmla="val 20168" name="adj"/>
            </a:avLst>
          </a:prstGeom>
          <a:solidFill>
            <a:srgbClr val="E3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5"/>
          <p:cNvSpPr/>
          <p:nvPr/>
        </p:nvSpPr>
        <p:spPr>
          <a:xfrm>
            <a:off x="10253911" y="2582655"/>
            <a:ext cx="782282" cy="23865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200"/>
              <a:buFont typeface="JetBrains Mono"/>
              <a:buNone/>
            </a:pPr>
            <a:r>
              <a:rPr b="0" i="0" lang="en-US" sz="1200" u="none" cap="none" strike="noStrike">
                <a:solidFill>
                  <a:srgbClr val="041E42"/>
                </a:solidFill>
                <a:latin typeface="JetBrains Mono"/>
                <a:ea typeface="JetBrains Mono"/>
                <a:cs typeface="JetBrains Mono"/>
                <a:sym typeface="JetBrains Mono"/>
              </a:rPr>
              <a:t>category</a:t>
            </a:r>
            <a:endParaRPr b="0" i="0" sz="1200" u="none" cap="none" strike="noStrike">
              <a:solidFill>
                <a:schemeClr val="dk1"/>
              </a:solidFill>
              <a:latin typeface="Calibri"/>
              <a:ea typeface="Calibri"/>
              <a:cs typeface="Calibri"/>
              <a:sym typeface="Calibri"/>
            </a:endParaRPr>
          </a:p>
        </p:txBody>
      </p:sp>
      <p:pic>
        <p:nvPicPr>
          <p:cNvPr descr="arrow-down" id="166" name="Google Shape;166;p5"/>
          <p:cNvPicPr preferRelativeResize="0"/>
          <p:nvPr/>
        </p:nvPicPr>
        <p:blipFill rotWithShape="1">
          <a:blip r:embed="rId3">
            <a:alphaModFix/>
          </a:blip>
          <a:srcRect b="0" l="-3" r="-3" t="0"/>
          <a:stretch/>
        </p:blipFill>
        <p:spPr>
          <a:xfrm>
            <a:off x="6959575" y="2973710"/>
            <a:ext cx="203192" cy="304767"/>
          </a:xfrm>
          <a:prstGeom prst="rect">
            <a:avLst/>
          </a:prstGeom>
          <a:noFill/>
          <a:ln>
            <a:noFill/>
          </a:ln>
        </p:spPr>
      </p:pic>
      <p:pic>
        <p:nvPicPr>
          <p:cNvPr descr="arrow-down" id="167" name="Google Shape;167;p5"/>
          <p:cNvPicPr preferRelativeResize="0"/>
          <p:nvPr/>
        </p:nvPicPr>
        <p:blipFill rotWithShape="1">
          <a:blip r:embed="rId3">
            <a:alphaModFix/>
          </a:blip>
          <a:srcRect b="0" l="-3" r="-3" t="0"/>
          <a:stretch/>
        </p:blipFill>
        <p:spPr>
          <a:xfrm>
            <a:off x="9753575" y="2973710"/>
            <a:ext cx="203192" cy="304767"/>
          </a:xfrm>
          <a:prstGeom prst="rect">
            <a:avLst/>
          </a:prstGeom>
          <a:noFill/>
          <a:ln>
            <a:noFill/>
          </a:ln>
        </p:spPr>
      </p:pic>
      <p:sp>
        <p:nvSpPr>
          <p:cNvPr id="168" name="Google Shape;168;p5"/>
          <p:cNvSpPr/>
          <p:nvPr/>
        </p:nvSpPr>
        <p:spPr>
          <a:xfrm>
            <a:off x="5673716" y="3415001"/>
            <a:ext cx="2673333" cy="2080005"/>
          </a:xfrm>
          <a:prstGeom prst="roundRect">
            <a:avLst>
              <a:gd fmla="val 5648" name="adj"/>
            </a:avLst>
          </a:prstGeom>
          <a:solidFill>
            <a:srgbClr val="EEF3FA"/>
          </a:solidFill>
          <a:ln cap="flat" cmpd="sng" w="19050">
            <a:solidFill>
              <a:srgbClr val="1E407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5"/>
          <p:cNvSpPr/>
          <p:nvPr/>
        </p:nvSpPr>
        <p:spPr>
          <a:xfrm>
            <a:off x="6499076" y="3601765"/>
            <a:ext cx="1073415" cy="26923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41E42"/>
              </a:buClr>
              <a:buSzPts val="1600"/>
              <a:buFont typeface="DM Sans"/>
              <a:buNone/>
            </a:pPr>
            <a:r>
              <a:rPr b="1" i="0" lang="en-US" sz="1600" u="none" cap="none" strike="noStrike">
                <a:solidFill>
                  <a:srgbClr val="041E42"/>
                </a:solidFill>
                <a:latin typeface="DM Sans"/>
                <a:ea typeface="DM Sans"/>
                <a:cs typeface="DM Sans"/>
                <a:sym typeface="DM Sans"/>
              </a:rPr>
              <a:t>Numerical</a:t>
            </a:r>
            <a:endParaRPr b="0" i="0" sz="1600" u="none" cap="none" strike="noStrike">
              <a:solidFill>
                <a:schemeClr val="dk1"/>
              </a:solidFill>
              <a:latin typeface="Calibri"/>
              <a:ea typeface="Calibri"/>
              <a:cs typeface="Calibri"/>
              <a:sym typeface="Calibri"/>
            </a:endParaRPr>
          </a:p>
        </p:txBody>
      </p:sp>
      <p:sp>
        <p:nvSpPr>
          <p:cNvPr id="170" name="Google Shape;170;p5"/>
          <p:cNvSpPr/>
          <p:nvPr/>
        </p:nvSpPr>
        <p:spPr>
          <a:xfrm>
            <a:off x="5970860" y="3921785"/>
            <a:ext cx="214141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B4A63"/>
              </a:buClr>
              <a:buSzPts val="1200"/>
              <a:buFont typeface="DM Sans"/>
              <a:buNone/>
            </a:pPr>
            <a:r>
              <a:rPr b="0" i="0" lang="en-US" sz="1200" u="none" cap="none" strike="noStrike">
                <a:solidFill>
                  <a:srgbClr val="3B4A63"/>
                </a:solidFill>
                <a:latin typeface="DM Sans"/>
                <a:ea typeface="DM Sans"/>
                <a:cs typeface="DM Sans"/>
                <a:sym typeface="DM Sans"/>
              </a:rPr>
              <a:t>Plot with histograms, scatters</a:t>
            </a:r>
            <a:endParaRPr b="0" i="0" sz="1200" u="none" cap="none" strike="noStrike">
              <a:solidFill>
                <a:schemeClr val="dk1"/>
              </a:solidFill>
              <a:latin typeface="Calibri"/>
              <a:ea typeface="Calibri"/>
              <a:cs typeface="Calibri"/>
              <a:sym typeface="Calibri"/>
            </a:endParaRPr>
          </a:p>
        </p:txBody>
      </p:sp>
      <p:sp>
        <p:nvSpPr>
          <p:cNvPr id="171" name="Google Shape;171;p5"/>
          <p:cNvSpPr/>
          <p:nvPr/>
        </p:nvSpPr>
        <p:spPr>
          <a:xfrm>
            <a:off x="6497298" y="4211296"/>
            <a:ext cx="1026129" cy="314854"/>
          </a:xfrm>
          <a:prstGeom prst="roundRect">
            <a:avLst>
              <a:gd fmla="val 20168" name="adj"/>
            </a:avLst>
          </a:prstGeom>
          <a:solidFill>
            <a:srgbClr val="1E40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5"/>
          <p:cNvSpPr/>
          <p:nvPr/>
        </p:nvSpPr>
        <p:spPr>
          <a:xfrm>
            <a:off x="6598898" y="4262096"/>
            <a:ext cx="873729" cy="23865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6F7F9"/>
              </a:buClr>
              <a:buSzPts val="1200"/>
              <a:buFont typeface="JetBrains Mono"/>
              <a:buNone/>
            </a:pPr>
            <a:r>
              <a:rPr b="0" i="0" lang="en-US" sz="1200" u="none" cap="none" strike="noStrike">
                <a:solidFill>
                  <a:srgbClr val="F6F7F9"/>
                </a:solidFill>
                <a:latin typeface="JetBrains Mono"/>
                <a:ea typeface="JetBrains Mono"/>
                <a:cs typeface="JetBrains Mono"/>
                <a:sym typeface="JetBrains Mono"/>
              </a:rPr>
              <a:t>height_cm</a:t>
            </a:r>
            <a:endParaRPr b="0" i="0" sz="1200" u="none" cap="none" strike="noStrike">
              <a:solidFill>
                <a:schemeClr val="dk1"/>
              </a:solidFill>
              <a:latin typeface="Calibri"/>
              <a:ea typeface="Calibri"/>
              <a:cs typeface="Calibri"/>
              <a:sym typeface="Calibri"/>
            </a:endParaRPr>
          </a:p>
        </p:txBody>
      </p:sp>
      <p:sp>
        <p:nvSpPr>
          <p:cNvPr id="173" name="Google Shape;173;p5"/>
          <p:cNvSpPr/>
          <p:nvPr/>
        </p:nvSpPr>
        <p:spPr>
          <a:xfrm>
            <a:off x="6680191" y="4602342"/>
            <a:ext cx="660383" cy="314854"/>
          </a:xfrm>
          <a:prstGeom prst="roundRect">
            <a:avLst>
              <a:gd fmla="val 20168" name="adj"/>
            </a:avLst>
          </a:prstGeom>
          <a:solidFill>
            <a:srgbClr val="1E40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5"/>
          <p:cNvSpPr/>
          <p:nvPr/>
        </p:nvSpPr>
        <p:spPr>
          <a:xfrm>
            <a:off x="6781791" y="4653142"/>
            <a:ext cx="507983" cy="23865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6F7F9"/>
              </a:buClr>
              <a:buSzPts val="1200"/>
              <a:buFont typeface="JetBrains Mono"/>
              <a:buNone/>
            </a:pPr>
            <a:r>
              <a:rPr b="0" i="0" lang="en-US" sz="1200" u="none" cap="none" strike="noStrike">
                <a:solidFill>
                  <a:srgbClr val="F6F7F9"/>
                </a:solidFill>
                <a:latin typeface="JetBrains Mono"/>
                <a:ea typeface="JetBrains Mono"/>
                <a:cs typeface="JetBrains Mono"/>
                <a:sym typeface="JetBrains Mono"/>
              </a:rPr>
              <a:t>price</a:t>
            </a:r>
            <a:endParaRPr b="0" i="0" sz="1200" u="none" cap="none" strike="noStrike">
              <a:solidFill>
                <a:schemeClr val="dk1"/>
              </a:solidFill>
              <a:latin typeface="Calibri"/>
              <a:ea typeface="Calibri"/>
              <a:cs typeface="Calibri"/>
              <a:sym typeface="Calibri"/>
            </a:endParaRPr>
          </a:p>
        </p:txBody>
      </p:sp>
      <p:sp>
        <p:nvSpPr>
          <p:cNvPr id="175" name="Google Shape;175;p5"/>
          <p:cNvSpPr/>
          <p:nvPr/>
        </p:nvSpPr>
        <p:spPr>
          <a:xfrm>
            <a:off x="6497298" y="4993388"/>
            <a:ext cx="1026129" cy="314854"/>
          </a:xfrm>
          <a:prstGeom prst="roundRect">
            <a:avLst>
              <a:gd fmla="val 20168" name="adj"/>
            </a:avLst>
          </a:prstGeom>
          <a:solidFill>
            <a:srgbClr val="1E40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5"/>
          <p:cNvSpPr/>
          <p:nvPr/>
        </p:nvSpPr>
        <p:spPr>
          <a:xfrm>
            <a:off x="6598898" y="5044188"/>
            <a:ext cx="873729" cy="23865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6F7F9"/>
              </a:buClr>
              <a:buSzPts val="1200"/>
              <a:buFont typeface="JetBrains Mono"/>
              <a:buNone/>
            </a:pPr>
            <a:r>
              <a:rPr b="0" i="0" lang="en-US" sz="1200" u="none" cap="none" strike="noStrike">
                <a:solidFill>
                  <a:srgbClr val="F6F7F9"/>
                </a:solidFill>
                <a:latin typeface="JetBrains Mono"/>
                <a:ea typeface="JetBrains Mono"/>
                <a:cs typeface="JetBrains Mono"/>
                <a:sym typeface="JetBrains Mono"/>
              </a:rPr>
              <a:t>num_rooms</a:t>
            </a:r>
            <a:endParaRPr b="0" i="0" sz="1200" u="none" cap="none" strike="noStrike">
              <a:solidFill>
                <a:schemeClr val="dk1"/>
              </a:solidFill>
              <a:latin typeface="Calibri"/>
              <a:ea typeface="Calibri"/>
              <a:cs typeface="Calibri"/>
              <a:sym typeface="Calibri"/>
            </a:endParaRPr>
          </a:p>
        </p:txBody>
      </p:sp>
      <p:sp>
        <p:nvSpPr>
          <p:cNvPr id="177" name="Google Shape;177;p5"/>
          <p:cNvSpPr/>
          <p:nvPr/>
        </p:nvSpPr>
        <p:spPr>
          <a:xfrm>
            <a:off x="8569292" y="3415001"/>
            <a:ext cx="2673375" cy="2080005"/>
          </a:xfrm>
          <a:prstGeom prst="roundRect">
            <a:avLst>
              <a:gd fmla="val 5648" name="adj"/>
            </a:avLst>
          </a:prstGeom>
          <a:solidFill>
            <a:srgbClr val="FEF4E4"/>
          </a:solidFill>
          <a:ln cap="flat" cmpd="sng" w="19050">
            <a:solidFill>
              <a:srgbClr val="F9A8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5"/>
          <p:cNvSpPr/>
          <p:nvPr/>
        </p:nvSpPr>
        <p:spPr>
          <a:xfrm>
            <a:off x="9331358" y="3601765"/>
            <a:ext cx="1200042" cy="26923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41E42"/>
              </a:buClr>
              <a:buSzPts val="1600"/>
              <a:buFont typeface="DM Sans"/>
              <a:buNone/>
            </a:pPr>
            <a:r>
              <a:rPr b="1" i="0" lang="en-US" sz="1600" u="none" cap="none" strike="noStrike">
                <a:solidFill>
                  <a:srgbClr val="041E42"/>
                </a:solidFill>
                <a:latin typeface="DM Sans"/>
                <a:ea typeface="DM Sans"/>
                <a:cs typeface="DM Sans"/>
                <a:sym typeface="DM Sans"/>
              </a:rPr>
              <a:t>Categorical</a:t>
            </a:r>
            <a:endParaRPr b="0" i="0" sz="1600" u="none" cap="none" strike="noStrike">
              <a:solidFill>
                <a:schemeClr val="dk1"/>
              </a:solidFill>
              <a:latin typeface="Calibri"/>
              <a:ea typeface="Calibri"/>
              <a:cs typeface="Calibri"/>
              <a:sym typeface="Calibri"/>
            </a:endParaRPr>
          </a:p>
        </p:txBody>
      </p:sp>
      <p:sp>
        <p:nvSpPr>
          <p:cNvPr id="179" name="Google Shape;179;p5"/>
          <p:cNvSpPr/>
          <p:nvPr/>
        </p:nvSpPr>
        <p:spPr>
          <a:xfrm>
            <a:off x="8939361" y="3921785"/>
            <a:ext cx="199119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B4A63"/>
              </a:buClr>
              <a:buSzPts val="1200"/>
              <a:buFont typeface="DM Sans"/>
              <a:buNone/>
            </a:pPr>
            <a:r>
              <a:rPr b="0" i="0" lang="en-US" sz="1200" u="none" cap="none" strike="noStrike">
                <a:solidFill>
                  <a:srgbClr val="3B4A63"/>
                </a:solidFill>
                <a:latin typeface="DM Sans"/>
                <a:ea typeface="DM Sans"/>
                <a:cs typeface="DM Sans"/>
                <a:sym typeface="DM Sans"/>
              </a:rPr>
              <a:t>Plot with bar charts, counts</a:t>
            </a:r>
            <a:endParaRPr b="0" i="0" sz="1200" u="none" cap="none" strike="noStrike">
              <a:solidFill>
                <a:schemeClr val="dk1"/>
              </a:solidFill>
              <a:latin typeface="Calibri"/>
              <a:ea typeface="Calibri"/>
              <a:cs typeface="Calibri"/>
              <a:sym typeface="Calibri"/>
            </a:endParaRPr>
          </a:p>
        </p:txBody>
      </p:sp>
      <p:sp>
        <p:nvSpPr>
          <p:cNvPr id="180" name="Google Shape;180;p5"/>
          <p:cNvSpPr/>
          <p:nvPr/>
        </p:nvSpPr>
        <p:spPr>
          <a:xfrm>
            <a:off x="9621490" y="4211296"/>
            <a:ext cx="568937" cy="314854"/>
          </a:xfrm>
          <a:prstGeom prst="roundRect">
            <a:avLst>
              <a:gd fmla="val 20168" name="adj"/>
            </a:avLst>
          </a:prstGeom>
          <a:solidFill>
            <a:srgbClr val="F9A8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5"/>
          <p:cNvSpPr/>
          <p:nvPr/>
        </p:nvSpPr>
        <p:spPr>
          <a:xfrm>
            <a:off x="9723090" y="4262096"/>
            <a:ext cx="416537" cy="23865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200"/>
              <a:buFont typeface="JetBrains Mono"/>
              <a:buNone/>
            </a:pPr>
            <a:r>
              <a:rPr b="0" i="0" lang="en-US" sz="1200" u="none" cap="none" strike="noStrike">
                <a:solidFill>
                  <a:srgbClr val="041E42"/>
                </a:solidFill>
                <a:latin typeface="JetBrains Mono"/>
                <a:ea typeface="JetBrains Mono"/>
                <a:cs typeface="JetBrains Mono"/>
                <a:sym typeface="JetBrains Mono"/>
              </a:rPr>
              <a:t>city</a:t>
            </a:r>
            <a:endParaRPr b="0" i="0" sz="1200" u="none" cap="none" strike="noStrike">
              <a:solidFill>
                <a:schemeClr val="dk1"/>
              </a:solidFill>
              <a:latin typeface="Calibri"/>
              <a:ea typeface="Calibri"/>
              <a:cs typeface="Calibri"/>
              <a:sym typeface="Calibri"/>
            </a:endParaRPr>
          </a:p>
        </p:txBody>
      </p:sp>
      <p:sp>
        <p:nvSpPr>
          <p:cNvPr id="182" name="Google Shape;182;p5"/>
          <p:cNvSpPr/>
          <p:nvPr/>
        </p:nvSpPr>
        <p:spPr>
          <a:xfrm>
            <a:off x="9575767" y="4602342"/>
            <a:ext cx="660383" cy="314854"/>
          </a:xfrm>
          <a:prstGeom prst="roundRect">
            <a:avLst>
              <a:gd fmla="val 20168" name="adj"/>
            </a:avLst>
          </a:prstGeom>
          <a:solidFill>
            <a:srgbClr val="F9A8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5"/>
          <p:cNvSpPr/>
          <p:nvPr/>
        </p:nvSpPr>
        <p:spPr>
          <a:xfrm>
            <a:off x="9677367" y="4653142"/>
            <a:ext cx="507983" cy="23865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200"/>
              <a:buFont typeface="JetBrains Mono"/>
              <a:buNone/>
            </a:pPr>
            <a:r>
              <a:rPr b="0" i="0" lang="en-US" sz="1200" u="none" cap="none" strike="noStrike">
                <a:solidFill>
                  <a:srgbClr val="041E42"/>
                </a:solidFill>
                <a:latin typeface="JetBrains Mono"/>
                <a:ea typeface="JetBrains Mono"/>
                <a:cs typeface="JetBrains Mono"/>
                <a:sym typeface="JetBrains Mono"/>
              </a:rPr>
              <a:t>color</a:t>
            </a:r>
            <a:endParaRPr b="0" i="0" sz="1200" u="none" cap="none" strike="noStrike">
              <a:solidFill>
                <a:schemeClr val="dk1"/>
              </a:solidFill>
              <a:latin typeface="Calibri"/>
              <a:ea typeface="Calibri"/>
              <a:cs typeface="Calibri"/>
              <a:sym typeface="Calibri"/>
            </a:endParaRPr>
          </a:p>
        </p:txBody>
      </p:sp>
      <p:sp>
        <p:nvSpPr>
          <p:cNvPr id="184" name="Google Shape;184;p5"/>
          <p:cNvSpPr/>
          <p:nvPr/>
        </p:nvSpPr>
        <p:spPr>
          <a:xfrm>
            <a:off x="9438638" y="4993388"/>
            <a:ext cx="934682" cy="314854"/>
          </a:xfrm>
          <a:prstGeom prst="roundRect">
            <a:avLst>
              <a:gd fmla="val 20168" name="adj"/>
            </a:avLst>
          </a:prstGeom>
          <a:solidFill>
            <a:srgbClr val="F9A8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5"/>
          <p:cNvSpPr/>
          <p:nvPr/>
        </p:nvSpPr>
        <p:spPr>
          <a:xfrm>
            <a:off x="9540238" y="5044188"/>
            <a:ext cx="782282" cy="23865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200"/>
              <a:buFont typeface="JetBrains Mono"/>
              <a:buNone/>
            </a:pPr>
            <a:r>
              <a:rPr b="0" i="0" lang="en-US" sz="1200" u="none" cap="none" strike="noStrike">
                <a:solidFill>
                  <a:srgbClr val="041E42"/>
                </a:solidFill>
                <a:latin typeface="JetBrains Mono"/>
                <a:ea typeface="JetBrains Mono"/>
                <a:cs typeface="JetBrains Mono"/>
                <a:sym typeface="JetBrains Mono"/>
              </a:rPr>
              <a:t>category</a:t>
            </a:r>
            <a:endParaRPr b="0" i="0" sz="1200" u="none" cap="none" strike="noStrike">
              <a:solidFill>
                <a:schemeClr val="dk1"/>
              </a:solidFill>
              <a:latin typeface="Calibri"/>
              <a:ea typeface="Calibri"/>
              <a:cs typeface="Calibri"/>
              <a:sym typeface="Calibri"/>
            </a:endParaRPr>
          </a:p>
        </p:txBody>
      </p:sp>
      <p:sp>
        <p:nvSpPr>
          <p:cNvPr id="186" name="Google Shape;186;p5"/>
          <p:cNvSpPr/>
          <p:nvPr/>
        </p:nvSpPr>
        <p:spPr>
          <a:xfrm>
            <a:off x="9385350" y="711191"/>
            <a:ext cx="279383" cy="279383"/>
          </a:xfrm>
          <a:prstGeom prst="roundRect">
            <a:avLst>
              <a:gd fmla="val 50000" name="adj"/>
            </a:avLst>
          </a:prstGeom>
          <a:solidFill>
            <a:srgbClr val="F9A8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5"/>
          <p:cNvSpPr/>
          <p:nvPr/>
        </p:nvSpPr>
        <p:spPr>
          <a:xfrm>
            <a:off x="9359950" y="711191"/>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041E42"/>
              </a:buClr>
              <a:buSzPts val="1200"/>
              <a:buFont typeface="DM Sans"/>
              <a:buNone/>
            </a:pPr>
            <a:r>
              <a:rPr b="1" i="0" lang="en-US" sz="1200" u="none" cap="none" strike="noStrike">
                <a:solidFill>
                  <a:srgbClr val="041E42"/>
                </a:solidFill>
                <a:latin typeface="DM Sans"/>
                <a:ea typeface="DM Sans"/>
                <a:cs typeface="DM Sans"/>
                <a:sym typeface="DM Sans"/>
              </a:rPr>
              <a:t>1</a:t>
            </a:r>
            <a:endParaRPr b="0" i="0" sz="1200" u="none" cap="none" strike="noStrike">
              <a:solidFill>
                <a:schemeClr val="dk1"/>
              </a:solidFill>
              <a:latin typeface="Calibri"/>
              <a:ea typeface="Calibri"/>
              <a:cs typeface="Calibri"/>
              <a:sym typeface="Calibri"/>
            </a:endParaRPr>
          </a:p>
        </p:txBody>
      </p:sp>
      <p:sp>
        <p:nvSpPr>
          <p:cNvPr id="188" name="Google Shape;188;p5"/>
          <p:cNvSpPr/>
          <p:nvPr/>
        </p:nvSpPr>
        <p:spPr>
          <a:xfrm>
            <a:off x="9728233" y="711191"/>
            <a:ext cx="279383" cy="279383"/>
          </a:xfrm>
          <a:prstGeom prst="roundRect">
            <a:avLst>
              <a:gd fmla="val 50000" name="adj"/>
            </a:avLst>
          </a:prstGeom>
          <a:solidFill>
            <a:srgbClr val="DCE6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5"/>
          <p:cNvSpPr/>
          <p:nvPr/>
        </p:nvSpPr>
        <p:spPr>
          <a:xfrm>
            <a:off x="9702833" y="711191"/>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1E407C"/>
              </a:buClr>
              <a:buSzPts val="1200"/>
              <a:buFont typeface="DM Sans"/>
              <a:buNone/>
            </a:pPr>
            <a:r>
              <a:rPr b="1" i="0" lang="en-US" sz="1200" u="none" cap="none" strike="noStrike">
                <a:solidFill>
                  <a:srgbClr val="1E407C"/>
                </a:solidFill>
                <a:latin typeface="DM Sans"/>
                <a:ea typeface="DM Sans"/>
                <a:cs typeface="DM Sans"/>
                <a:sym typeface="DM Sans"/>
              </a:rPr>
              <a:t>2</a:t>
            </a:r>
            <a:endParaRPr b="0" i="0" sz="1200" u="none" cap="none" strike="noStrike">
              <a:solidFill>
                <a:schemeClr val="dk1"/>
              </a:solidFill>
              <a:latin typeface="Calibri"/>
              <a:ea typeface="Calibri"/>
              <a:cs typeface="Calibri"/>
              <a:sym typeface="Calibri"/>
            </a:endParaRPr>
          </a:p>
        </p:txBody>
      </p:sp>
      <p:sp>
        <p:nvSpPr>
          <p:cNvPr id="190" name="Google Shape;190;p5"/>
          <p:cNvSpPr/>
          <p:nvPr/>
        </p:nvSpPr>
        <p:spPr>
          <a:xfrm>
            <a:off x="10071116" y="711191"/>
            <a:ext cx="279383" cy="279383"/>
          </a:xfrm>
          <a:prstGeom prst="roundRect">
            <a:avLst>
              <a:gd fmla="val 50000" name="adj"/>
            </a:avLst>
          </a:prstGeom>
          <a:solidFill>
            <a:srgbClr val="DCE6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5"/>
          <p:cNvSpPr/>
          <p:nvPr/>
        </p:nvSpPr>
        <p:spPr>
          <a:xfrm>
            <a:off x="10045716" y="711191"/>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1E407C"/>
              </a:buClr>
              <a:buSzPts val="1200"/>
              <a:buFont typeface="DM Sans"/>
              <a:buNone/>
            </a:pPr>
            <a:r>
              <a:rPr b="1" i="0" lang="en-US" sz="1200" u="none" cap="none" strike="noStrike">
                <a:solidFill>
                  <a:srgbClr val="1E407C"/>
                </a:solidFill>
                <a:latin typeface="DM Sans"/>
                <a:ea typeface="DM Sans"/>
                <a:cs typeface="DM Sans"/>
                <a:sym typeface="DM Sans"/>
              </a:rPr>
              <a:t>3</a:t>
            </a:r>
            <a:endParaRPr b="0" i="0" sz="1200" u="none" cap="none" strike="noStrike">
              <a:solidFill>
                <a:schemeClr val="dk1"/>
              </a:solidFill>
              <a:latin typeface="Calibri"/>
              <a:ea typeface="Calibri"/>
              <a:cs typeface="Calibri"/>
              <a:sym typeface="Calibri"/>
            </a:endParaRPr>
          </a:p>
        </p:txBody>
      </p:sp>
      <p:sp>
        <p:nvSpPr>
          <p:cNvPr id="192" name="Google Shape;192;p5"/>
          <p:cNvSpPr/>
          <p:nvPr/>
        </p:nvSpPr>
        <p:spPr>
          <a:xfrm>
            <a:off x="10414000" y="711191"/>
            <a:ext cx="279383" cy="279383"/>
          </a:xfrm>
          <a:prstGeom prst="roundRect">
            <a:avLst>
              <a:gd fmla="val 50000" name="adj"/>
            </a:avLst>
          </a:prstGeom>
          <a:solidFill>
            <a:srgbClr val="DCE6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5"/>
          <p:cNvSpPr/>
          <p:nvPr/>
        </p:nvSpPr>
        <p:spPr>
          <a:xfrm>
            <a:off x="10388600" y="711191"/>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1E407C"/>
              </a:buClr>
              <a:buSzPts val="1200"/>
              <a:buFont typeface="DM Sans"/>
              <a:buNone/>
            </a:pPr>
            <a:r>
              <a:rPr b="1" i="0" lang="en-US" sz="1200" u="none" cap="none" strike="noStrike">
                <a:solidFill>
                  <a:srgbClr val="1E407C"/>
                </a:solidFill>
                <a:latin typeface="DM Sans"/>
                <a:ea typeface="DM Sans"/>
                <a:cs typeface="DM Sans"/>
                <a:sym typeface="DM Sans"/>
              </a:rPr>
              <a:t>4</a:t>
            </a:r>
            <a:endParaRPr b="0" i="0" sz="1200" u="none" cap="none" strike="noStrike">
              <a:solidFill>
                <a:schemeClr val="dk1"/>
              </a:solidFill>
              <a:latin typeface="Calibri"/>
              <a:ea typeface="Calibri"/>
              <a:cs typeface="Calibri"/>
              <a:sym typeface="Calibri"/>
            </a:endParaRPr>
          </a:p>
        </p:txBody>
      </p:sp>
      <p:sp>
        <p:nvSpPr>
          <p:cNvPr id="194" name="Google Shape;194;p5"/>
          <p:cNvSpPr/>
          <p:nvPr/>
        </p:nvSpPr>
        <p:spPr>
          <a:xfrm>
            <a:off x="10756883" y="711191"/>
            <a:ext cx="279383" cy="279383"/>
          </a:xfrm>
          <a:prstGeom prst="roundRect">
            <a:avLst>
              <a:gd fmla="val 50000" name="adj"/>
            </a:avLst>
          </a:prstGeom>
          <a:solidFill>
            <a:srgbClr val="DCE6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5"/>
          <p:cNvSpPr/>
          <p:nvPr/>
        </p:nvSpPr>
        <p:spPr>
          <a:xfrm>
            <a:off x="10731483" y="711191"/>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1E407C"/>
              </a:buClr>
              <a:buSzPts val="1200"/>
              <a:buFont typeface="DM Sans"/>
              <a:buNone/>
            </a:pPr>
            <a:r>
              <a:rPr b="1" i="0" lang="en-US" sz="1200" u="none" cap="none" strike="noStrike">
                <a:solidFill>
                  <a:srgbClr val="1E407C"/>
                </a:solidFill>
                <a:latin typeface="DM Sans"/>
                <a:ea typeface="DM Sans"/>
                <a:cs typeface="DM Sans"/>
                <a:sym typeface="DM Sans"/>
              </a:rPr>
              <a:t>5</a:t>
            </a:r>
            <a:endParaRPr b="0" i="0" sz="1200" u="none" cap="none" strike="noStrike">
              <a:solidFill>
                <a:schemeClr val="dk1"/>
              </a:solidFill>
              <a:latin typeface="Calibri"/>
              <a:ea typeface="Calibri"/>
              <a:cs typeface="Calibri"/>
              <a:sym typeface="Calibri"/>
            </a:endParaRPr>
          </a:p>
        </p:txBody>
      </p:sp>
      <p:sp>
        <p:nvSpPr>
          <p:cNvPr id="196" name="Google Shape;196;p5"/>
          <p:cNvSpPr/>
          <p:nvPr/>
        </p:nvSpPr>
        <p:spPr>
          <a:xfrm>
            <a:off x="11099767" y="711191"/>
            <a:ext cx="279383" cy="279383"/>
          </a:xfrm>
          <a:prstGeom prst="roundRect">
            <a:avLst>
              <a:gd fmla="val 50000" name="adj"/>
            </a:avLst>
          </a:prstGeom>
          <a:solidFill>
            <a:srgbClr val="DCE6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5"/>
          <p:cNvSpPr/>
          <p:nvPr/>
        </p:nvSpPr>
        <p:spPr>
          <a:xfrm>
            <a:off x="11074367" y="711191"/>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1E407C"/>
              </a:buClr>
              <a:buSzPts val="1200"/>
              <a:buFont typeface="DM Sans"/>
              <a:buNone/>
            </a:pPr>
            <a:r>
              <a:rPr b="1" i="0" lang="en-US" sz="1200" u="none" cap="none" strike="noStrike">
                <a:solidFill>
                  <a:srgbClr val="1E407C"/>
                </a:solidFill>
                <a:latin typeface="DM Sans"/>
                <a:ea typeface="DM Sans"/>
                <a:cs typeface="DM Sans"/>
                <a:sym typeface="DM Sans"/>
              </a:rPr>
              <a:t>6</a:t>
            </a:r>
            <a:endParaRPr b="0" i="0" sz="1200" u="none" cap="none" strike="noStrike">
              <a:solidFill>
                <a:schemeClr val="dk1"/>
              </a:solidFill>
              <a:latin typeface="Calibri"/>
              <a:ea typeface="Calibri"/>
              <a:cs typeface="Calibri"/>
              <a:sym typeface="Calibri"/>
            </a:endParaRPr>
          </a:p>
        </p:txBody>
      </p:sp>
      <p:sp>
        <p:nvSpPr>
          <p:cNvPr id="198" name="Google Shape;198;p5"/>
          <p:cNvSpPr/>
          <p:nvPr/>
        </p:nvSpPr>
        <p:spPr>
          <a:xfrm>
            <a:off x="812767" y="6237015"/>
            <a:ext cx="325734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880"/>
              </a:buClr>
              <a:buSzPts val="1200"/>
              <a:buFont typeface="DM Sans"/>
              <a:buNone/>
            </a:pPr>
            <a:r>
              <a:rPr b="0" i="0" lang="en-US" sz="1200" u="none" cap="none" strike="noStrike">
                <a:solidFill>
                  <a:srgbClr val="5A6880"/>
                </a:solidFill>
                <a:latin typeface="DM Sans"/>
                <a:ea typeface="DM Sans"/>
                <a:cs typeface="DM Sans"/>
                <a:sym typeface="DM Sans"/>
              </a:rPr>
              <a:t>Nittany Data Labs · Exploratory Data Analysis</a:t>
            </a:r>
            <a:endParaRPr b="0" i="0" sz="1200" u="none" cap="none" strike="noStrike">
              <a:solidFill>
                <a:schemeClr val="dk1"/>
              </a:solidFill>
              <a:latin typeface="Calibri"/>
              <a:ea typeface="Calibri"/>
              <a:cs typeface="Calibri"/>
              <a:sym typeface="Calibri"/>
            </a:endParaRPr>
          </a:p>
        </p:txBody>
      </p:sp>
      <p:sp>
        <p:nvSpPr>
          <p:cNvPr id="199" name="Google Shape;199;p5"/>
          <p:cNvSpPr/>
          <p:nvPr/>
        </p:nvSpPr>
        <p:spPr>
          <a:xfrm>
            <a:off x="11286174" y="6237015"/>
            <a:ext cx="14377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880"/>
              </a:buClr>
              <a:buSzPts val="1200"/>
              <a:buFont typeface="DM Sans"/>
              <a:buNone/>
            </a:pPr>
            <a:r>
              <a:rPr b="0" i="0" lang="en-US" sz="1200" u="none" cap="none" strike="noStrike">
                <a:solidFill>
                  <a:srgbClr val="5A6880"/>
                </a:solidFill>
                <a:latin typeface="DM Sans"/>
                <a:ea typeface="DM Sans"/>
                <a:cs typeface="DM Sans"/>
                <a:sym typeface="DM Sans"/>
              </a:rPr>
              <a:t>5</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9"/>
        </a:solidFill>
      </p:bgPr>
    </p:bg>
    <p:spTree>
      <p:nvGrpSpPr>
        <p:cNvPr id="204" name="Shape 204"/>
        <p:cNvGrpSpPr/>
        <p:nvPr/>
      </p:nvGrpSpPr>
      <p:grpSpPr>
        <a:xfrm>
          <a:off x="0" y="0"/>
          <a:ext cx="0" cy="0"/>
          <a:chOff x="0" y="0"/>
          <a:chExt cx="0" cy="0"/>
        </a:xfrm>
      </p:grpSpPr>
      <p:sp>
        <p:nvSpPr>
          <p:cNvPr id="205" name="Google Shape;205;p6"/>
          <p:cNvSpPr/>
          <p:nvPr/>
        </p:nvSpPr>
        <p:spPr>
          <a:xfrm>
            <a:off x="812767" y="812766"/>
            <a:ext cx="1088346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E407C"/>
              </a:buClr>
              <a:buSzPts val="1200"/>
              <a:buFont typeface="DM Sans"/>
              <a:buNone/>
            </a:pPr>
            <a:r>
              <a:rPr b="1" i="0" lang="en-US" sz="1200" u="none" cap="none" strike="noStrike">
                <a:solidFill>
                  <a:srgbClr val="1E407C"/>
                </a:solidFill>
                <a:latin typeface="DM Sans"/>
                <a:ea typeface="DM Sans"/>
                <a:cs typeface="DM Sans"/>
                <a:sym typeface="DM Sans"/>
              </a:rPr>
              <a:t>STEP 2 OF 6</a:t>
            </a:r>
            <a:endParaRPr b="0" i="0" sz="1200" u="none" cap="none" strike="noStrike">
              <a:solidFill>
                <a:schemeClr val="dk1"/>
              </a:solidFill>
              <a:latin typeface="Calibri"/>
              <a:ea typeface="Calibri"/>
              <a:cs typeface="Calibri"/>
              <a:sym typeface="Calibri"/>
            </a:endParaRPr>
          </a:p>
        </p:txBody>
      </p:sp>
      <p:sp>
        <p:nvSpPr>
          <p:cNvPr id="206" name="Google Shape;206;p6"/>
          <p:cNvSpPr/>
          <p:nvPr/>
        </p:nvSpPr>
        <p:spPr>
          <a:xfrm>
            <a:off x="812767" y="1102277"/>
            <a:ext cx="10883460" cy="472422"/>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041E42"/>
              </a:buClr>
              <a:buSzPts val="3200"/>
              <a:buFont typeface="DM Sans"/>
              <a:buNone/>
            </a:pPr>
            <a:r>
              <a:rPr b="1" i="0" lang="en-US" sz="3200" u="none" cap="none" strike="noStrike">
                <a:solidFill>
                  <a:srgbClr val="041E42"/>
                </a:solidFill>
                <a:latin typeface="DM Sans"/>
                <a:ea typeface="DM Sans"/>
                <a:cs typeface="DM Sans"/>
                <a:sym typeface="DM Sans"/>
              </a:rPr>
              <a:t>Take a first look</a:t>
            </a:r>
            <a:endParaRPr b="0" i="0" sz="3200" u="none" cap="none" strike="noStrike">
              <a:solidFill>
                <a:schemeClr val="dk1"/>
              </a:solidFill>
              <a:latin typeface="Calibri"/>
              <a:ea typeface="Calibri"/>
              <a:cs typeface="Calibri"/>
              <a:sym typeface="Calibri"/>
            </a:endParaRPr>
          </a:p>
        </p:txBody>
      </p:sp>
      <p:sp>
        <p:nvSpPr>
          <p:cNvPr id="207" name="Google Shape;207;p6"/>
          <p:cNvSpPr/>
          <p:nvPr/>
        </p:nvSpPr>
        <p:spPr>
          <a:xfrm>
            <a:off x="812767" y="1854067"/>
            <a:ext cx="6604000" cy="3987932"/>
          </a:xfrm>
          <a:prstGeom prst="roundRect">
            <a:avLst>
              <a:gd fmla="val 3822" name="adj"/>
            </a:avLst>
          </a:prstGeom>
          <a:solidFill>
            <a:srgbClr val="041E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6"/>
          <p:cNvSpPr/>
          <p:nvPr/>
        </p:nvSpPr>
        <p:spPr>
          <a:xfrm>
            <a:off x="1117534" y="2291125"/>
            <a:ext cx="3924300" cy="309868"/>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6F7F9"/>
              </a:buClr>
              <a:buSzPts val="1600"/>
              <a:buFont typeface="JetBrains Mono"/>
              <a:buNone/>
            </a:pPr>
            <a:r>
              <a:rPr b="0" i="0" lang="en-US" sz="1600" u="none" cap="none" strike="noStrike">
                <a:solidFill>
                  <a:srgbClr val="F6F7F9"/>
                </a:solidFill>
                <a:latin typeface="JetBrains Mono"/>
                <a:ea typeface="JetBrains Mono"/>
                <a:cs typeface="JetBrains Mono"/>
                <a:sym typeface="JetBrains Mono"/>
              </a:rPr>
              <a:t>df = pd.</a:t>
            </a:r>
            <a:r>
              <a:rPr b="0" i="0" lang="en-US" sz="1600" u="none" cap="none" strike="noStrike">
                <a:solidFill>
                  <a:srgbClr val="F9A826"/>
                </a:solidFill>
                <a:latin typeface="JetBrains Mono"/>
                <a:ea typeface="JetBrains Mono"/>
                <a:cs typeface="JetBrains Mono"/>
                <a:sym typeface="JetBrains Mono"/>
              </a:rPr>
              <a:t>read_csv</a:t>
            </a:r>
            <a:r>
              <a:rPr b="0" i="0" lang="en-US" sz="1600" u="none" cap="none" strike="noStrike">
                <a:solidFill>
                  <a:srgbClr val="F6F7F9"/>
                </a:solidFill>
                <a:latin typeface="JetBrains Mono"/>
                <a:ea typeface="JetBrains Mono"/>
                <a:cs typeface="JetBrains Mono"/>
                <a:sym typeface="JetBrains Mono"/>
              </a:rPr>
              <a:t>("clean.csv")</a:t>
            </a:r>
            <a:endParaRPr b="0" i="0" sz="1600" u="none" cap="none" strike="noStrike">
              <a:solidFill>
                <a:schemeClr val="dk1"/>
              </a:solidFill>
              <a:latin typeface="Calibri"/>
              <a:ea typeface="Calibri"/>
              <a:cs typeface="Calibri"/>
              <a:sym typeface="Calibri"/>
            </a:endParaRPr>
          </a:p>
        </p:txBody>
      </p:sp>
      <p:sp>
        <p:nvSpPr>
          <p:cNvPr id="209" name="Google Shape;209;p6"/>
          <p:cNvSpPr/>
          <p:nvPr/>
        </p:nvSpPr>
        <p:spPr>
          <a:xfrm>
            <a:off x="5130726" y="2326680"/>
            <a:ext cx="2040713"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FC3E0"/>
              </a:buClr>
              <a:buSzPts val="1200"/>
              <a:buFont typeface="DM Sans"/>
              <a:buNone/>
            </a:pPr>
            <a:r>
              <a:rPr b="0" i="0" lang="en-US" sz="1200" u="none" cap="none" strike="noStrike">
                <a:solidFill>
                  <a:srgbClr val="AFC3E0"/>
                </a:solidFill>
                <a:latin typeface="DM Sans"/>
                <a:ea typeface="DM Sans"/>
                <a:cs typeface="DM Sans"/>
                <a:sym typeface="DM Sans"/>
              </a:rPr>
              <a:t>last week's cleaned data</a:t>
            </a:r>
            <a:endParaRPr b="0" i="0" sz="1200" u="none" cap="none" strike="noStrike">
              <a:solidFill>
                <a:schemeClr val="dk1"/>
              </a:solidFill>
              <a:latin typeface="Calibri"/>
              <a:ea typeface="Calibri"/>
              <a:cs typeface="Calibri"/>
              <a:sym typeface="Calibri"/>
            </a:endParaRPr>
          </a:p>
        </p:txBody>
      </p:sp>
      <p:sp>
        <p:nvSpPr>
          <p:cNvPr id="210" name="Google Shape;210;p6"/>
          <p:cNvSpPr/>
          <p:nvPr/>
        </p:nvSpPr>
        <p:spPr>
          <a:xfrm>
            <a:off x="1117534" y="2715285"/>
            <a:ext cx="3924300" cy="309868"/>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6F7F9"/>
              </a:buClr>
              <a:buSzPts val="1600"/>
              <a:buFont typeface="JetBrains Mono"/>
              <a:buNone/>
            </a:pPr>
            <a:r>
              <a:rPr b="0" i="0" lang="en-US" sz="1600" u="none" cap="none" strike="noStrike">
                <a:solidFill>
                  <a:srgbClr val="F6F7F9"/>
                </a:solidFill>
                <a:latin typeface="JetBrains Mono"/>
                <a:ea typeface="JetBrains Mono"/>
                <a:cs typeface="JetBrains Mono"/>
                <a:sym typeface="JetBrains Mono"/>
              </a:rPr>
              <a:t>df.</a:t>
            </a:r>
            <a:r>
              <a:rPr b="0" i="0" lang="en-US" sz="1600" u="none" cap="none" strike="noStrike">
                <a:solidFill>
                  <a:srgbClr val="F9A826"/>
                </a:solidFill>
                <a:latin typeface="JetBrains Mono"/>
                <a:ea typeface="JetBrains Mono"/>
                <a:cs typeface="JetBrains Mono"/>
                <a:sym typeface="JetBrains Mono"/>
              </a:rPr>
              <a:t>shape</a:t>
            </a:r>
            <a:endParaRPr b="0" i="0" sz="1600" u="none" cap="none" strike="noStrike">
              <a:solidFill>
                <a:schemeClr val="dk1"/>
              </a:solidFill>
              <a:latin typeface="Calibri"/>
              <a:ea typeface="Calibri"/>
              <a:cs typeface="Calibri"/>
              <a:sym typeface="Calibri"/>
            </a:endParaRPr>
          </a:p>
        </p:txBody>
      </p:sp>
      <p:sp>
        <p:nvSpPr>
          <p:cNvPr id="211" name="Google Shape;211;p6"/>
          <p:cNvSpPr/>
          <p:nvPr/>
        </p:nvSpPr>
        <p:spPr>
          <a:xfrm>
            <a:off x="5130726" y="2750840"/>
            <a:ext cx="2040713"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FC3E0"/>
              </a:buClr>
              <a:buSzPts val="1200"/>
              <a:buFont typeface="DM Sans"/>
              <a:buNone/>
            </a:pPr>
            <a:r>
              <a:rPr b="0" i="0" lang="en-US" sz="1200" u="none" cap="none" strike="noStrike">
                <a:solidFill>
                  <a:srgbClr val="AFC3E0"/>
                </a:solidFill>
                <a:latin typeface="DM Sans"/>
                <a:ea typeface="DM Sans"/>
                <a:cs typeface="DM Sans"/>
                <a:sym typeface="DM Sans"/>
              </a:rPr>
              <a:t>(rows, columns)</a:t>
            </a:r>
            <a:endParaRPr b="0" i="0" sz="1200" u="none" cap="none" strike="noStrike">
              <a:solidFill>
                <a:schemeClr val="dk1"/>
              </a:solidFill>
              <a:latin typeface="Calibri"/>
              <a:ea typeface="Calibri"/>
              <a:cs typeface="Calibri"/>
              <a:sym typeface="Calibri"/>
            </a:endParaRPr>
          </a:p>
        </p:txBody>
      </p:sp>
      <p:sp>
        <p:nvSpPr>
          <p:cNvPr id="212" name="Google Shape;212;p6"/>
          <p:cNvSpPr/>
          <p:nvPr/>
        </p:nvSpPr>
        <p:spPr>
          <a:xfrm>
            <a:off x="1117534" y="3139446"/>
            <a:ext cx="3924300" cy="309868"/>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6F7F9"/>
              </a:buClr>
              <a:buSzPts val="1600"/>
              <a:buFont typeface="JetBrains Mono"/>
              <a:buNone/>
            </a:pPr>
            <a:r>
              <a:rPr b="0" i="0" lang="en-US" sz="1600" u="none" cap="none" strike="noStrike">
                <a:solidFill>
                  <a:srgbClr val="F6F7F9"/>
                </a:solidFill>
                <a:latin typeface="JetBrains Mono"/>
                <a:ea typeface="JetBrains Mono"/>
                <a:cs typeface="JetBrains Mono"/>
                <a:sym typeface="JetBrains Mono"/>
              </a:rPr>
              <a:t>df.</a:t>
            </a:r>
            <a:r>
              <a:rPr b="0" i="0" lang="en-US" sz="1600" u="none" cap="none" strike="noStrike">
                <a:solidFill>
                  <a:srgbClr val="F9A826"/>
                </a:solidFill>
                <a:latin typeface="JetBrains Mono"/>
                <a:ea typeface="JetBrains Mono"/>
                <a:cs typeface="JetBrains Mono"/>
                <a:sym typeface="JetBrains Mono"/>
              </a:rPr>
              <a:t>head</a:t>
            </a:r>
            <a:r>
              <a:rPr b="0" i="0" lang="en-US" sz="1600" u="none" cap="none" strike="noStrike">
                <a:solidFill>
                  <a:srgbClr val="F6F7F9"/>
                </a:solidFill>
                <a:latin typeface="JetBrains Mono"/>
                <a:ea typeface="JetBrains Mono"/>
                <a:cs typeface="JetBrains Mono"/>
                <a:sym typeface="JetBrains Mono"/>
              </a:rPr>
              <a:t>()</a:t>
            </a:r>
            <a:endParaRPr b="0" i="0" sz="1600" u="none" cap="none" strike="noStrike">
              <a:solidFill>
                <a:schemeClr val="dk1"/>
              </a:solidFill>
              <a:latin typeface="Calibri"/>
              <a:ea typeface="Calibri"/>
              <a:cs typeface="Calibri"/>
              <a:sym typeface="Calibri"/>
            </a:endParaRPr>
          </a:p>
        </p:txBody>
      </p:sp>
      <p:sp>
        <p:nvSpPr>
          <p:cNvPr id="213" name="Google Shape;213;p6"/>
          <p:cNvSpPr/>
          <p:nvPr/>
        </p:nvSpPr>
        <p:spPr>
          <a:xfrm>
            <a:off x="5130726" y="3175000"/>
            <a:ext cx="2040713"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FC3E0"/>
              </a:buClr>
              <a:buSzPts val="1200"/>
              <a:buFont typeface="DM Sans"/>
              <a:buNone/>
            </a:pPr>
            <a:r>
              <a:rPr b="0" i="0" lang="en-US" sz="1200" u="none" cap="none" strike="noStrike">
                <a:solidFill>
                  <a:srgbClr val="AFC3E0"/>
                </a:solidFill>
                <a:latin typeface="DM Sans"/>
                <a:ea typeface="DM Sans"/>
                <a:cs typeface="DM Sans"/>
                <a:sym typeface="DM Sans"/>
              </a:rPr>
              <a:t>eyeball the first 5 rows</a:t>
            </a:r>
            <a:endParaRPr b="0" i="0" sz="1200" u="none" cap="none" strike="noStrike">
              <a:solidFill>
                <a:schemeClr val="dk1"/>
              </a:solidFill>
              <a:latin typeface="Calibri"/>
              <a:ea typeface="Calibri"/>
              <a:cs typeface="Calibri"/>
              <a:sym typeface="Calibri"/>
            </a:endParaRPr>
          </a:p>
        </p:txBody>
      </p:sp>
      <p:sp>
        <p:nvSpPr>
          <p:cNvPr id="214" name="Google Shape;214;p6"/>
          <p:cNvSpPr/>
          <p:nvPr/>
        </p:nvSpPr>
        <p:spPr>
          <a:xfrm>
            <a:off x="1117534" y="3563606"/>
            <a:ext cx="3924300" cy="309868"/>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6F7F9"/>
              </a:buClr>
              <a:buSzPts val="1600"/>
              <a:buFont typeface="JetBrains Mono"/>
              <a:buNone/>
            </a:pPr>
            <a:r>
              <a:rPr b="0" i="0" lang="en-US" sz="1600" u="none" cap="none" strike="noStrike">
                <a:solidFill>
                  <a:srgbClr val="F6F7F9"/>
                </a:solidFill>
                <a:latin typeface="JetBrains Mono"/>
                <a:ea typeface="JetBrains Mono"/>
                <a:cs typeface="JetBrains Mono"/>
                <a:sym typeface="JetBrains Mono"/>
              </a:rPr>
              <a:t>df.</a:t>
            </a:r>
            <a:r>
              <a:rPr b="0" i="0" lang="en-US" sz="1600" u="none" cap="none" strike="noStrike">
                <a:solidFill>
                  <a:srgbClr val="F9A826"/>
                </a:solidFill>
                <a:latin typeface="JetBrains Mono"/>
                <a:ea typeface="JetBrains Mono"/>
                <a:cs typeface="JetBrains Mono"/>
                <a:sym typeface="JetBrains Mono"/>
              </a:rPr>
              <a:t>dtypes</a:t>
            </a:r>
            <a:endParaRPr b="0" i="0" sz="1600" u="none" cap="none" strike="noStrike">
              <a:solidFill>
                <a:schemeClr val="dk1"/>
              </a:solidFill>
              <a:latin typeface="Calibri"/>
              <a:ea typeface="Calibri"/>
              <a:cs typeface="Calibri"/>
              <a:sym typeface="Calibri"/>
            </a:endParaRPr>
          </a:p>
        </p:txBody>
      </p:sp>
      <p:sp>
        <p:nvSpPr>
          <p:cNvPr id="215" name="Google Shape;215;p6"/>
          <p:cNvSpPr/>
          <p:nvPr/>
        </p:nvSpPr>
        <p:spPr>
          <a:xfrm>
            <a:off x="5130726" y="3599160"/>
            <a:ext cx="2040713"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FC3E0"/>
              </a:buClr>
              <a:buSzPts val="1200"/>
              <a:buFont typeface="DM Sans"/>
              <a:buNone/>
            </a:pPr>
            <a:r>
              <a:rPr b="0" i="0" lang="en-US" sz="1200" u="none" cap="none" strike="noStrike">
                <a:solidFill>
                  <a:srgbClr val="AFC3E0"/>
                </a:solidFill>
                <a:latin typeface="DM Sans"/>
                <a:ea typeface="DM Sans"/>
                <a:cs typeface="DM Sans"/>
                <a:sym typeface="DM Sans"/>
              </a:rPr>
              <a:t>type of each column</a:t>
            </a:r>
            <a:endParaRPr b="0" i="0" sz="1200" u="none" cap="none" strike="noStrike">
              <a:solidFill>
                <a:schemeClr val="dk1"/>
              </a:solidFill>
              <a:latin typeface="Calibri"/>
              <a:ea typeface="Calibri"/>
              <a:cs typeface="Calibri"/>
              <a:sym typeface="Calibri"/>
            </a:endParaRPr>
          </a:p>
        </p:txBody>
      </p:sp>
      <p:sp>
        <p:nvSpPr>
          <p:cNvPr id="216" name="Google Shape;216;p6"/>
          <p:cNvSpPr/>
          <p:nvPr/>
        </p:nvSpPr>
        <p:spPr>
          <a:xfrm>
            <a:off x="1117534" y="4058831"/>
            <a:ext cx="3924300" cy="309868"/>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6F7F9"/>
              </a:buClr>
              <a:buSzPts val="1600"/>
              <a:buFont typeface="JetBrains Mono"/>
              <a:buNone/>
            </a:pPr>
            <a:r>
              <a:rPr b="0" i="0" lang="en-US" sz="1600" u="none" cap="none" strike="noStrike">
                <a:solidFill>
                  <a:srgbClr val="F6F7F9"/>
                </a:solidFill>
                <a:latin typeface="JetBrains Mono"/>
                <a:ea typeface="JetBrains Mono"/>
                <a:cs typeface="JetBrains Mono"/>
                <a:sym typeface="JetBrains Mono"/>
              </a:rPr>
              <a:t>df.</a:t>
            </a:r>
            <a:r>
              <a:rPr b="0" i="0" lang="en-US" sz="1600" u="none" cap="none" strike="noStrike">
                <a:solidFill>
                  <a:srgbClr val="F9A826"/>
                </a:solidFill>
                <a:latin typeface="JetBrains Mono"/>
                <a:ea typeface="JetBrains Mono"/>
                <a:cs typeface="JetBrains Mono"/>
                <a:sym typeface="JetBrains Mono"/>
              </a:rPr>
              <a:t>describe</a:t>
            </a:r>
            <a:r>
              <a:rPr b="0" i="0" lang="en-US" sz="1600" u="none" cap="none" strike="noStrike">
                <a:solidFill>
                  <a:srgbClr val="F6F7F9"/>
                </a:solidFill>
                <a:latin typeface="JetBrains Mono"/>
                <a:ea typeface="JetBrains Mono"/>
                <a:cs typeface="JetBrains Mono"/>
                <a:sym typeface="JetBrains Mono"/>
              </a:rPr>
              <a:t>()</a:t>
            </a:r>
            <a:endParaRPr b="0" i="0" sz="1600" u="none" cap="none" strike="noStrike">
              <a:solidFill>
                <a:schemeClr val="dk1"/>
              </a:solidFill>
              <a:latin typeface="Calibri"/>
              <a:ea typeface="Calibri"/>
              <a:cs typeface="Calibri"/>
              <a:sym typeface="Calibri"/>
            </a:endParaRPr>
          </a:p>
        </p:txBody>
      </p:sp>
      <p:sp>
        <p:nvSpPr>
          <p:cNvPr id="217" name="Google Shape;217;p6"/>
          <p:cNvSpPr/>
          <p:nvPr/>
        </p:nvSpPr>
        <p:spPr>
          <a:xfrm>
            <a:off x="5130726" y="3987766"/>
            <a:ext cx="2040713"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FC3E0"/>
              </a:buClr>
              <a:buSzPts val="1200"/>
              <a:buFont typeface="DM Sans"/>
              <a:buNone/>
            </a:pPr>
            <a:r>
              <a:rPr b="0" i="0" lang="en-US" sz="1200" u="none" cap="none" strike="noStrike">
                <a:solidFill>
                  <a:srgbClr val="AFC3E0"/>
                </a:solidFill>
                <a:latin typeface="DM Sans"/>
                <a:ea typeface="DM Sans"/>
                <a:cs typeface="DM Sans"/>
                <a:sym typeface="DM Sans"/>
              </a:rPr>
              <a:t>mean, std, min, quartiles, max</a:t>
            </a:r>
            <a:endParaRPr b="0" i="0" sz="1200" u="none" cap="none" strike="noStrike">
              <a:solidFill>
                <a:schemeClr val="dk1"/>
              </a:solidFill>
              <a:latin typeface="Calibri"/>
              <a:ea typeface="Calibri"/>
              <a:cs typeface="Calibri"/>
              <a:sym typeface="Calibri"/>
            </a:endParaRPr>
          </a:p>
        </p:txBody>
      </p:sp>
      <p:sp>
        <p:nvSpPr>
          <p:cNvPr id="218" name="Google Shape;218;p6"/>
          <p:cNvSpPr/>
          <p:nvPr/>
        </p:nvSpPr>
        <p:spPr>
          <a:xfrm>
            <a:off x="1117534" y="4554097"/>
            <a:ext cx="3924300" cy="309868"/>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6F7F9"/>
              </a:buClr>
              <a:buSzPts val="1600"/>
              <a:buFont typeface="JetBrains Mono"/>
              <a:buNone/>
            </a:pPr>
            <a:r>
              <a:rPr b="0" i="0" lang="en-US" sz="1600" u="none" cap="none" strike="noStrike">
                <a:solidFill>
                  <a:srgbClr val="F6F7F9"/>
                </a:solidFill>
                <a:latin typeface="JetBrains Mono"/>
                <a:ea typeface="JetBrains Mono"/>
                <a:cs typeface="JetBrains Mono"/>
                <a:sym typeface="JetBrains Mono"/>
              </a:rPr>
              <a:t>df.</a:t>
            </a:r>
            <a:r>
              <a:rPr b="0" i="0" lang="en-US" sz="1600" u="none" cap="none" strike="noStrike">
                <a:solidFill>
                  <a:srgbClr val="F9A826"/>
                </a:solidFill>
                <a:latin typeface="JetBrains Mono"/>
                <a:ea typeface="JetBrains Mono"/>
                <a:cs typeface="JetBrains Mono"/>
                <a:sym typeface="JetBrains Mono"/>
              </a:rPr>
              <a:t>nunique</a:t>
            </a:r>
            <a:r>
              <a:rPr b="0" i="0" lang="en-US" sz="1600" u="none" cap="none" strike="noStrike">
                <a:solidFill>
                  <a:srgbClr val="F6F7F9"/>
                </a:solidFill>
                <a:latin typeface="JetBrains Mono"/>
                <a:ea typeface="JetBrains Mono"/>
                <a:cs typeface="JetBrains Mono"/>
                <a:sym typeface="JetBrains Mono"/>
              </a:rPr>
              <a:t>()</a:t>
            </a:r>
            <a:endParaRPr b="0" i="0" sz="1600" u="none" cap="none" strike="noStrike">
              <a:solidFill>
                <a:schemeClr val="dk1"/>
              </a:solidFill>
              <a:latin typeface="Calibri"/>
              <a:ea typeface="Calibri"/>
              <a:cs typeface="Calibri"/>
              <a:sym typeface="Calibri"/>
            </a:endParaRPr>
          </a:p>
        </p:txBody>
      </p:sp>
      <p:sp>
        <p:nvSpPr>
          <p:cNvPr id="219" name="Google Shape;219;p6"/>
          <p:cNvSpPr/>
          <p:nvPr/>
        </p:nvSpPr>
        <p:spPr>
          <a:xfrm>
            <a:off x="5130726" y="4589652"/>
            <a:ext cx="2040713"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FC3E0"/>
              </a:buClr>
              <a:buSzPts val="1200"/>
              <a:buFont typeface="DM Sans"/>
              <a:buNone/>
            </a:pPr>
            <a:r>
              <a:rPr b="0" i="0" lang="en-US" sz="1200" u="none" cap="none" strike="noStrike">
                <a:solidFill>
                  <a:srgbClr val="AFC3E0"/>
                </a:solidFill>
                <a:latin typeface="DM Sans"/>
                <a:ea typeface="DM Sans"/>
                <a:cs typeface="DM Sans"/>
                <a:sym typeface="DM Sans"/>
              </a:rPr>
              <a:t>unique values per column</a:t>
            </a:r>
            <a:endParaRPr b="0" i="0" sz="1200" u="none" cap="none" strike="noStrike">
              <a:solidFill>
                <a:schemeClr val="dk1"/>
              </a:solidFill>
              <a:latin typeface="Calibri"/>
              <a:ea typeface="Calibri"/>
              <a:cs typeface="Calibri"/>
              <a:sym typeface="Calibri"/>
            </a:endParaRPr>
          </a:p>
        </p:txBody>
      </p:sp>
      <p:sp>
        <p:nvSpPr>
          <p:cNvPr id="220" name="Google Shape;220;p6"/>
          <p:cNvSpPr/>
          <p:nvPr/>
        </p:nvSpPr>
        <p:spPr>
          <a:xfrm>
            <a:off x="1117534" y="5049323"/>
            <a:ext cx="3924300" cy="309868"/>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6F7F9"/>
              </a:buClr>
              <a:buSzPts val="1600"/>
              <a:buFont typeface="JetBrains Mono"/>
              <a:buNone/>
            </a:pPr>
            <a:r>
              <a:rPr b="0" i="0" lang="en-US" sz="1600" u="none" cap="none" strike="noStrike">
                <a:solidFill>
                  <a:srgbClr val="F6F7F9"/>
                </a:solidFill>
                <a:latin typeface="JetBrains Mono"/>
                <a:ea typeface="JetBrains Mono"/>
                <a:cs typeface="JetBrains Mono"/>
                <a:sym typeface="JetBrains Mono"/>
              </a:rPr>
              <a:t>df["col"].</a:t>
            </a:r>
            <a:r>
              <a:rPr b="0" i="0" lang="en-US" sz="1600" u="none" cap="none" strike="noStrike">
                <a:solidFill>
                  <a:srgbClr val="F9A826"/>
                </a:solidFill>
                <a:latin typeface="JetBrains Mono"/>
                <a:ea typeface="JetBrains Mono"/>
                <a:cs typeface="JetBrains Mono"/>
                <a:sym typeface="JetBrains Mono"/>
              </a:rPr>
              <a:t>value_counts</a:t>
            </a:r>
            <a:r>
              <a:rPr b="0" i="0" lang="en-US" sz="1600" u="none" cap="none" strike="noStrike">
                <a:solidFill>
                  <a:srgbClr val="F6F7F9"/>
                </a:solidFill>
                <a:latin typeface="JetBrains Mono"/>
                <a:ea typeface="JetBrains Mono"/>
                <a:cs typeface="JetBrains Mono"/>
                <a:sym typeface="JetBrains Mono"/>
              </a:rPr>
              <a:t>()</a:t>
            </a:r>
            <a:endParaRPr b="0" i="0" sz="1600" u="none" cap="none" strike="noStrike">
              <a:solidFill>
                <a:schemeClr val="dk1"/>
              </a:solidFill>
              <a:latin typeface="Calibri"/>
              <a:ea typeface="Calibri"/>
              <a:cs typeface="Calibri"/>
              <a:sym typeface="Calibri"/>
            </a:endParaRPr>
          </a:p>
        </p:txBody>
      </p:sp>
      <p:sp>
        <p:nvSpPr>
          <p:cNvPr id="221" name="Google Shape;221;p6"/>
          <p:cNvSpPr/>
          <p:nvPr/>
        </p:nvSpPr>
        <p:spPr>
          <a:xfrm>
            <a:off x="5130726" y="4978257"/>
            <a:ext cx="2040713"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FC3E0"/>
              </a:buClr>
              <a:buSzPts val="1200"/>
              <a:buFont typeface="DM Sans"/>
              <a:buNone/>
            </a:pPr>
            <a:r>
              <a:rPr b="0" i="0" lang="en-US" sz="1200" u="none" cap="none" strike="noStrike">
                <a:solidFill>
                  <a:srgbClr val="AFC3E0"/>
                </a:solidFill>
                <a:latin typeface="DM Sans"/>
                <a:ea typeface="DM Sans"/>
                <a:cs typeface="DM Sans"/>
                <a:sym typeface="DM Sans"/>
              </a:rPr>
              <a:t>how often each category shows up</a:t>
            </a:r>
            <a:endParaRPr b="0" i="0" sz="1200" u="none" cap="none" strike="noStrike">
              <a:solidFill>
                <a:schemeClr val="dk1"/>
              </a:solidFill>
              <a:latin typeface="Calibri"/>
              <a:ea typeface="Calibri"/>
              <a:cs typeface="Calibri"/>
              <a:sym typeface="Calibri"/>
            </a:endParaRPr>
          </a:p>
        </p:txBody>
      </p:sp>
      <p:sp>
        <p:nvSpPr>
          <p:cNvPr id="222" name="Google Shape;222;p6"/>
          <p:cNvSpPr/>
          <p:nvPr/>
        </p:nvSpPr>
        <p:spPr>
          <a:xfrm>
            <a:off x="9385350" y="711191"/>
            <a:ext cx="279383" cy="279383"/>
          </a:xfrm>
          <a:prstGeom prst="roundRect">
            <a:avLst>
              <a:gd fmla="val 50000" name="adj"/>
            </a:avLst>
          </a:prstGeom>
          <a:solidFill>
            <a:srgbClr val="1E40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6"/>
          <p:cNvSpPr/>
          <p:nvPr/>
        </p:nvSpPr>
        <p:spPr>
          <a:xfrm>
            <a:off x="9359950" y="711191"/>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F6F7F9"/>
              </a:buClr>
              <a:buSzPts val="1200"/>
              <a:buFont typeface="DM Sans"/>
              <a:buNone/>
            </a:pPr>
            <a:r>
              <a:rPr b="1" i="0" lang="en-US" sz="1200" u="none" cap="none" strike="noStrike">
                <a:solidFill>
                  <a:srgbClr val="F6F7F9"/>
                </a:solidFill>
                <a:latin typeface="DM Sans"/>
                <a:ea typeface="DM Sans"/>
                <a:cs typeface="DM Sans"/>
                <a:sym typeface="DM Sans"/>
              </a:rPr>
              <a:t>1</a:t>
            </a:r>
            <a:endParaRPr b="0" i="0" sz="1200" u="none" cap="none" strike="noStrike">
              <a:solidFill>
                <a:schemeClr val="dk1"/>
              </a:solidFill>
              <a:latin typeface="Calibri"/>
              <a:ea typeface="Calibri"/>
              <a:cs typeface="Calibri"/>
              <a:sym typeface="Calibri"/>
            </a:endParaRPr>
          </a:p>
        </p:txBody>
      </p:sp>
      <p:sp>
        <p:nvSpPr>
          <p:cNvPr id="224" name="Google Shape;224;p6"/>
          <p:cNvSpPr/>
          <p:nvPr/>
        </p:nvSpPr>
        <p:spPr>
          <a:xfrm>
            <a:off x="9728233" y="711191"/>
            <a:ext cx="279383" cy="279383"/>
          </a:xfrm>
          <a:prstGeom prst="roundRect">
            <a:avLst>
              <a:gd fmla="val 50000" name="adj"/>
            </a:avLst>
          </a:prstGeom>
          <a:solidFill>
            <a:srgbClr val="F9A8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6"/>
          <p:cNvSpPr/>
          <p:nvPr/>
        </p:nvSpPr>
        <p:spPr>
          <a:xfrm>
            <a:off x="9702833" y="711191"/>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041E42"/>
              </a:buClr>
              <a:buSzPts val="1200"/>
              <a:buFont typeface="DM Sans"/>
              <a:buNone/>
            </a:pPr>
            <a:r>
              <a:rPr b="1" i="0" lang="en-US" sz="1200" u="none" cap="none" strike="noStrike">
                <a:solidFill>
                  <a:srgbClr val="041E42"/>
                </a:solidFill>
                <a:latin typeface="DM Sans"/>
                <a:ea typeface="DM Sans"/>
                <a:cs typeface="DM Sans"/>
                <a:sym typeface="DM Sans"/>
              </a:rPr>
              <a:t>2</a:t>
            </a:r>
            <a:endParaRPr b="0" i="0" sz="1200" u="none" cap="none" strike="noStrike">
              <a:solidFill>
                <a:schemeClr val="dk1"/>
              </a:solidFill>
              <a:latin typeface="Calibri"/>
              <a:ea typeface="Calibri"/>
              <a:cs typeface="Calibri"/>
              <a:sym typeface="Calibri"/>
            </a:endParaRPr>
          </a:p>
        </p:txBody>
      </p:sp>
      <p:sp>
        <p:nvSpPr>
          <p:cNvPr id="226" name="Google Shape;226;p6"/>
          <p:cNvSpPr/>
          <p:nvPr/>
        </p:nvSpPr>
        <p:spPr>
          <a:xfrm>
            <a:off x="10071116" y="711191"/>
            <a:ext cx="279383" cy="279383"/>
          </a:xfrm>
          <a:prstGeom prst="roundRect">
            <a:avLst>
              <a:gd fmla="val 50000" name="adj"/>
            </a:avLst>
          </a:prstGeom>
          <a:solidFill>
            <a:srgbClr val="DCE6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6"/>
          <p:cNvSpPr/>
          <p:nvPr/>
        </p:nvSpPr>
        <p:spPr>
          <a:xfrm>
            <a:off x="10045716" y="711191"/>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1E407C"/>
              </a:buClr>
              <a:buSzPts val="1200"/>
              <a:buFont typeface="DM Sans"/>
              <a:buNone/>
            </a:pPr>
            <a:r>
              <a:rPr b="1" i="0" lang="en-US" sz="1200" u="none" cap="none" strike="noStrike">
                <a:solidFill>
                  <a:srgbClr val="1E407C"/>
                </a:solidFill>
                <a:latin typeface="DM Sans"/>
                <a:ea typeface="DM Sans"/>
                <a:cs typeface="DM Sans"/>
                <a:sym typeface="DM Sans"/>
              </a:rPr>
              <a:t>3</a:t>
            </a:r>
            <a:endParaRPr b="0" i="0" sz="1200" u="none" cap="none" strike="noStrike">
              <a:solidFill>
                <a:schemeClr val="dk1"/>
              </a:solidFill>
              <a:latin typeface="Calibri"/>
              <a:ea typeface="Calibri"/>
              <a:cs typeface="Calibri"/>
              <a:sym typeface="Calibri"/>
            </a:endParaRPr>
          </a:p>
        </p:txBody>
      </p:sp>
      <p:sp>
        <p:nvSpPr>
          <p:cNvPr id="228" name="Google Shape;228;p6"/>
          <p:cNvSpPr/>
          <p:nvPr/>
        </p:nvSpPr>
        <p:spPr>
          <a:xfrm>
            <a:off x="10414000" y="711191"/>
            <a:ext cx="279383" cy="279383"/>
          </a:xfrm>
          <a:prstGeom prst="roundRect">
            <a:avLst>
              <a:gd fmla="val 50000" name="adj"/>
            </a:avLst>
          </a:prstGeom>
          <a:solidFill>
            <a:srgbClr val="DCE6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6"/>
          <p:cNvSpPr/>
          <p:nvPr/>
        </p:nvSpPr>
        <p:spPr>
          <a:xfrm>
            <a:off x="10388600" y="711191"/>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1E407C"/>
              </a:buClr>
              <a:buSzPts val="1200"/>
              <a:buFont typeface="DM Sans"/>
              <a:buNone/>
            </a:pPr>
            <a:r>
              <a:rPr b="1" i="0" lang="en-US" sz="1200" u="none" cap="none" strike="noStrike">
                <a:solidFill>
                  <a:srgbClr val="1E407C"/>
                </a:solidFill>
                <a:latin typeface="DM Sans"/>
                <a:ea typeface="DM Sans"/>
                <a:cs typeface="DM Sans"/>
                <a:sym typeface="DM Sans"/>
              </a:rPr>
              <a:t>4</a:t>
            </a:r>
            <a:endParaRPr b="0" i="0" sz="1200" u="none" cap="none" strike="noStrike">
              <a:solidFill>
                <a:schemeClr val="dk1"/>
              </a:solidFill>
              <a:latin typeface="Calibri"/>
              <a:ea typeface="Calibri"/>
              <a:cs typeface="Calibri"/>
              <a:sym typeface="Calibri"/>
            </a:endParaRPr>
          </a:p>
        </p:txBody>
      </p:sp>
      <p:sp>
        <p:nvSpPr>
          <p:cNvPr id="230" name="Google Shape;230;p6"/>
          <p:cNvSpPr/>
          <p:nvPr/>
        </p:nvSpPr>
        <p:spPr>
          <a:xfrm>
            <a:off x="10756883" y="711191"/>
            <a:ext cx="279383" cy="279383"/>
          </a:xfrm>
          <a:prstGeom prst="roundRect">
            <a:avLst>
              <a:gd fmla="val 50000" name="adj"/>
            </a:avLst>
          </a:prstGeom>
          <a:solidFill>
            <a:srgbClr val="DCE6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6"/>
          <p:cNvSpPr/>
          <p:nvPr/>
        </p:nvSpPr>
        <p:spPr>
          <a:xfrm>
            <a:off x="10731483" y="711191"/>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1E407C"/>
              </a:buClr>
              <a:buSzPts val="1200"/>
              <a:buFont typeface="DM Sans"/>
              <a:buNone/>
            </a:pPr>
            <a:r>
              <a:rPr b="1" i="0" lang="en-US" sz="1200" u="none" cap="none" strike="noStrike">
                <a:solidFill>
                  <a:srgbClr val="1E407C"/>
                </a:solidFill>
                <a:latin typeface="DM Sans"/>
                <a:ea typeface="DM Sans"/>
                <a:cs typeface="DM Sans"/>
                <a:sym typeface="DM Sans"/>
              </a:rPr>
              <a:t>5</a:t>
            </a:r>
            <a:endParaRPr b="0" i="0" sz="1200" u="none" cap="none" strike="noStrike">
              <a:solidFill>
                <a:schemeClr val="dk1"/>
              </a:solidFill>
              <a:latin typeface="Calibri"/>
              <a:ea typeface="Calibri"/>
              <a:cs typeface="Calibri"/>
              <a:sym typeface="Calibri"/>
            </a:endParaRPr>
          </a:p>
        </p:txBody>
      </p:sp>
      <p:sp>
        <p:nvSpPr>
          <p:cNvPr id="232" name="Google Shape;232;p6"/>
          <p:cNvSpPr/>
          <p:nvPr/>
        </p:nvSpPr>
        <p:spPr>
          <a:xfrm>
            <a:off x="11099767" y="711191"/>
            <a:ext cx="279383" cy="279383"/>
          </a:xfrm>
          <a:prstGeom prst="roundRect">
            <a:avLst>
              <a:gd fmla="val 50000" name="adj"/>
            </a:avLst>
          </a:prstGeom>
          <a:solidFill>
            <a:srgbClr val="DCE6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6"/>
          <p:cNvSpPr/>
          <p:nvPr/>
        </p:nvSpPr>
        <p:spPr>
          <a:xfrm>
            <a:off x="11074367" y="711191"/>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1E407C"/>
              </a:buClr>
              <a:buSzPts val="1200"/>
              <a:buFont typeface="DM Sans"/>
              <a:buNone/>
            </a:pPr>
            <a:r>
              <a:rPr b="1" i="0" lang="en-US" sz="1200" u="none" cap="none" strike="noStrike">
                <a:solidFill>
                  <a:srgbClr val="1E407C"/>
                </a:solidFill>
                <a:latin typeface="DM Sans"/>
                <a:ea typeface="DM Sans"/>
                <a:cs typeface="DM Sans"/>
                <a:sym typeface="DM Sans"/>
              </a:rPr>
              <a:t>6</a:t>
            </a:r>
            <a:endParaRPr b="0" i="0" sz="1200" u="none" cap="none" strike="noStrike">
              <a:solidFill>
                <a:schemeClr val="dk1"/>
              </a:solidFill>
              <a:latin typeface="Calibri"/>
              <a:ea typeface="Calibri"/>
              <a:cs typeface="Calibri"/>
              <a:sym typeface="Calibri"/>
            </a:endParaRPr>
          </a:p>
        </p:txBody>
      </p:sp>
      <p:sp>
        <p:nvSpPr>
          <p:cNvPr id="234" name="Google Shape;234;p6"/>
          <p:cNvSpPr/>
          <p:nvPr/>
        </p:nvSpPr>
        <p:spPr>
          <a:xfrm>
            <a:off x="812767" y="6237015"/>
            <a:ext cx="325734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880"/>
              </a:buClr>
              <a:buSzPts val="1200"/>
              <a:buFont typeface="DM Sans"/>
              <a:buNone/>
            </a:pPr>
            <a:r>
              <a:rPr b="0" i="0" lang="en-US" sz="1200" u="none" cap="none" strike="noStrike">
                <a:solidFill>
                  <a:srgbClr val="5A6880"/>
                </a:solidFill>
                <a:latin typeface="DM Sans"/>
                <a:ea typeface="DM Sans"/>
                <a:cs typeface="DM Sans"/>
                <a:sym typeface="DM Sans"/>
              </a:rPr>
              <a:t>Nittany Data Labs · Exploratory Data Analysis</a:t>
            </a:r>
            <a:endParaRPr b="0" i="0" sz="1200" u="none" cap="none" strike="noStrike">
              <a:solidFill>
                <a:schemeClr val="dk1"/>
              </a:solidFill>
              <a:latin typeface="Calibri"/>
              <a:ea typeface="Calibri"/>
              <a:cs typeface="Calibri"/>
              <a:sym typeface="Calibri"/>
            </a:endParaRPr>
          </a:p>
        </p:txBody>
      </p:sp>
      <p:sp>
        <p:nvSpPr>
          <p:cNvPr id="235" name="Google Shape;235;p6"/>
          <p:cNvSpPr/>
          <p:nvPr/>
        </p:nvSpPr>
        <p:spPr>
          <a:xfrm>
            <a:off x="11283404" y="6237015"/>
            <a:ext cx="14654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880"/>
              </a:buClr>
              <a:buSzPts val="1200"/>
              <a:buFont typeface="DM Sans"/>
              <a:buNone/>
            </a:pPr>
            <a:r>
              <a:rPr b="0" i="0" lang="en-US" sz="1200" u="none" cap="none" strike="noStrike">
                <a:solidFill>
                  <a:srgbClr val="5A6880"/>
                </a:solidFill>
                <a:latin typeface="DM Sans"/>
                <a:ea typeface="DM Sans"/>
                <a:cs typeface="DM Sans"/>
                <a:sym typeface="DM Sans"/>
              </a:rPr>
              <a:t>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9"/>
        </a:solidFill>
      </p:bgPr>
    </p:bg>
    <p:spTree>
      <p:nvGrpSpPr>
        <p:cNvPr id="240" name="Shape 240"/>
        <p:cNvGrpSpPr/>
        <p:nvPr/>
      </p:nvGrpSpPr>
      <p:grpSpPr>
        <a:xfrm>
          <a:off x="0" y="0"/>
          <a:ext cx="0" cy="0"/>
          <a:chOff x="0" y="0"/>
          <a:chExt cx="0" cy="0"/>
        </a:xfrm>
      </p:grpSpPr>
      <p:sp>
        <p:nvSpPr>
          <p:cNvPr id="241" name="Google Shape;241;p7"/>
          <p:cNvSpPr/>
          <p:nvPr/>
        </p:nvSpPr>
        <p:spPr>
          <a:xfrm>
            <a:off x="812767" y="812766"/>
            <a:ext cx="1088346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E407C"/>
              </a:buClr>
              <a:buSzPts val="1200"/>
              <a:buFont typeface="DM Sans"/>
              <a:buNone/>
            </a:pPr>
            <a:r>
              <a:rPr b="1" i="0" lang="en-US" sz="1200" u="none" cap="none" strike="noStrike">
                <a:solidFill>
                  <a:srgbClr val="1E407C"/>
                </a:solidFill>
                <a:latin typeface="DM Sans"/>
                <a:ea typeface="DM Sans"/>
                <a:cs typeface="DM Sans"/>
                <a:sym typeface="DM Sans"/>
              </a:rPr>
              <a:t>STEP 3 OF 6</a:t>
            </a:r>
            <a:endParaRPr b="0" i="0" sz="1200" u="none" cap="none" strike="noStrike">
              <a:solidFill>
                <a:schemeClr val="dk1"/>
              </a:solidFill>
              <a:latin typeface="Calibri"/>
              <a:ea typeface="Calibri"/>
              <a:cs typeface="Calibri"/>
              <a:sym typeface="Calibri"/>
            </a:endParaRPr>
          </a:p>
        </p:txBody>
      </p:sp>
      <p:sp>
        <p:nvSpPr>
          <p:cNvPr id="242" name="Google Shape;242;p7"/>
          <p:cNvSpPr/>
          <p:nvPr/>
        </p:nvSpPr>
        <p:spPr>
          <a:xfrm>
            <a:off x="812767" y="1102277"/>
            <a:ext cx="10883460" cy="472422"/>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041E42"/>
              </a:buClr>
              <a:buSzPts val="3200"/>
              <a:buFont typeface="DM Sans"/>
              <a:buNone/>
            </a:pPr>
            <a:r>
              <a:rPr b="1" i="0" lang="en-US" sz="3200" u="none" cap="none" strike="noStrike">
                <a:solidFill>
                  <a:srgbClr val="041E42"/>
                </a:solidFill>
                <a:latin typeface="DM Sans"/>
                <a:ea typeface="DM Sans"/>
                <a:cs typeface="DM Sans"/>
                <a:sym typeface="DM Sans"/>
              </a:rPr>
              <a:t>One variable: distributions</a:t>
            </a:r>
            <a:endParaRPr b="0" i="0" sz="3200" u="none" cap="none" strike="noStrike">
              <a:solidFill>
                <a:schemeClr val="dk1"/>
              </a:solidFill>
              <a:latin typeface="Calibri"/>
              <a:ea typeface="Calibri"/>
              <a:cs typeface="Calibri"/>
              <a:sym typeface="Calibri"/>
            </a:endParaRPr>
          </a:p>
        </p:txBody>
      </p:sp>
      <p:cxnSp>
        <p:nvCxnSpPr>
          <p:cNvPr id="243" name="Google Shape;243;p7"/>
          <p:cNvCxnSpPr/>
          <p:nvPr/>
        </p:nvCxnSpPr>
        <p:spPr>
          <a:xfrm>
            <a:off x="831817" y="2964200"/>
            <a:ext cx="0" cy="289512"/>
          </a:xfrm>
          <a:prstGeom prst="straightConnector1">
            <a:avLst/>
          </a:prstGeom>
          <a:noFill/>
          <a:ln cap="flat" cmpd="sng" w="38100">
            <a:solidFill>
              <a:srgbClr val="F9A826"/>
            </a:solidFill>
            <a:prstDash val="solid"/>
            <a:round/>
            <a:headEnd len="sm" w="sm" type="none"/>
            <a:tailEnd len="sm" w="sm" type="none"/>
          </a:ln>
        </p:spPr>
      </p:cxnSp>
      <p:sp>
        <p:nvSpPr>
          <p:cNvPr id="244" name="Google Shape;244;p7"/>
          <p:cNvSpPr/>
          <p:nvPr/>
        </p:nvSpPr>
        <p:spPr>
          <a:xfrm>
            <a:off x="1002209" y="2976900"/>
            <a:ext cx="3990795" cy="28951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B4A63"/>
              </a:buClr>
              <a:buSzPts val="1600"/>
              <a:buFont typeface="DM Sans"/>
              <a:buNone/>
            </a:pPr>
            <a:r>
              <a:rPr b="1" i="0" lang="en-US" sz="1600" u="none" cap="none" strike="noStrike">
                <a:solidFill>
                  <a:srgbClr val="3B4A63"/>
                </a:solidFill>
                <a:latin typeface="DM Sans"/>
                <a:ea typeface="DM Sans"/>
                <a:cs typeface="DM Sans"/>
                <a:sym typeface="DM Sans"/>
              </a:rPr>
              <a:t>Shape</a:t>
            </a:r>
            <a:r>
              <a:rPr b="0" i="0" lang="en-US" sz="1600" u="none" cap="none" strike="noStrike">
                <a:solidFill>
                  <a:srgbClr val="3B4A63"/>
                </a:solidFill>
                <a:latin typeface="DM Sans"/>
                <a:ea typeface="DM Sans"/>
                <a:cs typeface="DM Sans"/>
                <a:sym typeface="DM Sans"/>
              </a:rPr>
              <a:t>: how are the values spread out?</a:t>
            </a:r>
            <a:endParaRPr b="0" i="0" sz="1600" u="none" cap="none" strike="noStrike">
              <a:solidFill>
                <a:schemeClr val="dk1"/>
              </a:solidFill>
              <a:latin typeface="Calibri"/>
              <a:ea typeface="Calibri"/>
              <a:cs typeface="Calibri"/>
              <a:sym typeface="Calibri"/>
            </a:endParaRPr>
          </a:p>
        </p:txBody>
      </p:sp>
      <p:cxnSp>
        <p:nvCxnSpPr>
          <p:cNvPr id="245" name="Google Shape;245;p7"/>
          <p:cNvCxnSpPr/>
          <p:nvPr/>
        </p:nvCxnSpPr>
        <p:spPr>
          <a:xfrm>
            <a:off x="831817" y="3456905"/>
            <a:ext cx="0" cy="289512"/>
          </a:xfrm>
          <a:prstGeom prst="straightConnector1">
            <a:avLst/>
          </a:prstGeom>
          <a:noFill/>
          <a:ln cap="flat" cmpd="sng" w="38100">
            <a:solidFill>
              <a:srgbClr val="F9A826"/>
            </a:solidFill>
            <a:prstDash val="solid"/>
            <a:round/>
            <a:headEnd len="sm" w="sm" type="none"/>
            <a:tailEnd len="sm" w="sm" type="none"/>
          </a:ln>
        </p:spPr>
      </p:cxnSp>
      <p:sp>
        <p:nvSpPr>
          <p:cNvPr id="246" name="Google Shape;246;p7"/>
          <p:cNvSpPr/>
          <p:nvPr/>
        </p:nvSpPr>
        <p:spPr>
          <a:xfrm>
            <a:off x="1002209" y="3469605"/>
            <a:ext cx="3990795" cy="28951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B4A63"/>
              </a:buClr>
              <a:buSzPts val="1600"/>
              <a:buFont typeface="DM Sans"/>
              <a:buNone/>
            </a:pPr>
            <a:r>
              <a:rPr b="1" i="0" lang="en-US" sz="1600" u="none" cap="none" strike="noStrike">
                <a:solidFill>
                  <a:srgbClr val="3B4A63"/>
                </a:solidFill>
                <a:latin typeface="DM Sans"/>
                <a:ea typeface="DM Sans"/>
                <a:cs typeface="DM Sans"/>
                <a:sym typeface="DM Sans"/>
              </a:rPr>
              <a:t>Center</a:t>
            </a:r>
            <a:r>
              <a:rPr b="0" i="0" lang="en-US" sz="1600" u="none" cap="none" strike="noStrike">
                <a:solidFill>
                  <a:srgbClr val="3B4A63"/>
                </a:solidFill>
                <a:latin typeface="DM Sans"/>
                <a:ea typeface="DM Sans"/>
                <a:cs typeface="DM Sans"/>
                <a:sym typeface="DM Sans"/>
              </a:rPr>
              <a:t>: mean, median, mode</a:t>
            </a:r>
            <a:endParaRPr b="0" i="0" sz="1600" u="none" cap="none" strike="noStrike">
              <a:solidFill>
                <a:schemeClr val="dk1"/>
              </a:solidFill>
              <a:latin typeface="Calibri"/>
              <a:ea typeface="Calibri"/>
              <a:cs typeface="Calibri"/>
              <a:sym typeface="Calibri"/>
            </a:endParaRPr>
          </a:p>
        </p:txBody>
      </p:sp>
      <p:cxnSp>
        <p:nvCxnSpPr>
          <p:cNvPr id="247" name="Google Shape;247;p7"/>
          <p:cNvCxnSpPr/>
          <p:nvPr/>
        </p:nvCxnSpPr>
        <p:spPr>
          <a:xfrm>
            <a:off x="831817" y="3949607"/>
            <a:ext cx="0" cy="289512"/>
          </a:xfrm>
          <a:prstGeom prst="straightConnector1">
            <a:avLst/>
          </a:prstGeom>
          <a:noFill/>
          <a:ln cap="flat" cmpd="sng" w="38100">
            <a:solidFill>
              <a:srgbClr val="F9A826"/>
            </a:solidFill>
            <a:prstDash val="solid"/>
            <a:round/>
            <a:headEnd len="sm" w="sm" type="none"/>
            <a:tailEnd len="sm" w="sm" type="none"/>
          </a:ln>
        </p:spPr>
      </p:cxnSp>
      <p:sp>
        <p:nvSpPr>
          <p:cNvPr id="248" name="Google Shape;248;p7"/>
          <p:cNvSpPr/>
          <p:nvPr/>
        </p:nvSpPr>
        <p:spPr>
          <a:xfrm>
            <a:off x="1002209" y="3962307"/>
            <a:ext cx="3990795" cy="28951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B4A63"/>
              </a:buClr>
              <a:buSzPts val="1600"/>
              <a:buFont typeface="DM Sans"/>
              <a:buNone/>
            </a:pPr>
            <a:r>
              <a:rPr b="1" i="0" lang="en-US" sz="1600" u="none" cap="none" strike="noStrike">
                <a:solidFill>
                  <a:srgbClr val="3B4A63"/>
                </a:solidFill>
                <a:latin typeface="DM Sans"/>
                <a:ea typeface="DM Sans"/>
                <a:cs typeface="DM Sans"/>
                <a:sym typeface="DM Sans"/>
              </a:rPr>
              <a:t>Spread</a:t>
            </a:r>
            <a:r>
              <a:rPr b="0" i="0" lang="en-US" sz="1600" u="none" cap="none" strike="noStrike">
                <a:solidFill>
                  <a:srgbClr val="3B4A63"/>
                </a:solidFill>
                <a:latin typeface="DM Sans"/>
                <a:ea typeface="DM Sans"/>
                <a:cs typeface="DM Sans"/>
                <a:sym typeface="DM Sans"/>
              </a:rPr>
              <a:t>: standard deviation, range</a:t>
            </a:r>
            <a:endParaRPr b="0" i="0" sz="1600" u="none" cap="none" strike="noStrike">
              <a:solidFill>
                <a:schemeClr val="dk1"/>
              </a:solidFill>
              <a:latin typeface="Calibri"/>
              <a:ea typeface="Calibri"/>
              <a:cs typeface="Calibri"/>
              <a:sym typeface="Calibri"/>
            </a:endParaRPr>
          </a:p>
        </p:txBody>
      </p:sp>
      <p:cxnSp>
        <p:nvCxnSpPr>
          <p:cNvPr id="249" name="Google Shape;249;p7"/>
          <p:cNvCxnSpPr/>
          <p:nvPr/>
        </p:nvCxnSpPr>
        <p:spPr>
          <a:xfrm>
            <a:off x="831817" y="4442312"/>
            <a:ext cx="0" cy="289512"/>
          </a:xfrm>
          <a:prstGeom prst="straightConnector1">
            <a:avLst/>
          </a:prstGeom>
          <a:noFill/>
          <a:ln cap="flat" cmpd="sng" w="38100">
            <a:solidFill>
              <a:srgbClr val="F9A826"/>
            </a:solidFill>
            <a:prstDash val="solid"/>
            <a:round/>
            <a:headEnd len="sm" w="sm" type="none"/>
            <a:tailEnd len="sm" w="sm" type="none"/>
          </a:ln>
        </p:spPr>
      </p:cxnSp>
      <p:sp>
        <p:nvSpPr>
          <p:cNvPr id="250" name="Google Shape;250;p7"/>
          <p:cNvSpPr/>
          <p:nvPr/>
        </p:nvSpPr>
        <p:spPr>
          <a:xfrm>
            <a:off x="1002209" y="4455012"/>
            <a:ext cx="3990795" cy="28951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B4A63"/>
              </a:buClr>
              <a:buSzPts val="1600"/>
              <a:buFont typeface="DM Sans"/>
              <a:buNone/>
            </a:pPr>
            <a:r>
              <a:rPr b="1" i="0" lang="en-US" sz="1600" u="none" cap="none" strike="noStrike">
                <a:solidFill>
                  <a:srgbClr val="3B4A63"/>
                </a:solidFill>
                <a:latin typeface="DM Sans"/>
                <a:ea typeface="DM Sans"/>
                <a:cs typeface="DM Sans"/>
                <a:sym typeface="DM Sans"/>
              </a:rPr>
              <a:t>Skew</a:t>
            </a:r>
            <a:r>
              <a:rPr b="0" i="0" lang="en-US" sz="1600" u="none" cap="none" strike="noStrike">
                <a:solidFill>
                  <a:srgbClr val="3B4A63"/>
                </a:solidFill>
                <a:latin typeface="DM Sans"/>
                <a:ea typeface="DM Sans"/>
                <a:cs typeface="DM Sans"/>
                <a:sym typeface="DM Sans"/>
              </a:rPr>
              <a:t>: a long tail drags the mean</a:t>
            </a:r>
            <a:endParaRPr b="0" i="0" sz="1600" u="none" cap="none" strike="noStrike">
              <a:solidFill>
                <a:schemeClr val="dk1"/>
              </a:solidFill>
              <a:latin typeface="Calibri"/>
              <a:ea typeface="Calibri"/>
              <a:cs typeface="Calibri"/>
              <a:sym typeface="Calibri"/>
            </a:endParaRPr>
          </a:p>
        </p:txBody>
      </p:sp>
      <p:pic>
        <p:nvPicPr>
          <p:cNvPr descr="Histogram of a normal, symmetric distribution" id="251" name="Google Shape;251;p7"/>
          <p:cNvPicPr preferRelativeResize="0"/>
          <p:nvPr/>
        </p:nvPicPr>
        <p:blipFill rotWithShape="1">
          <a:blip r:embed="rId3">
            <a:alphaModFix/>
          </a:blip>
          <a:srcRect b="0" l="0" r="0" t="0"/>
          <a:stretch/>
        </p:blipFill>
        <p:spPr>
          <a:xfrm>
            <a:off x="5283150" y="2578116"/>
            <a:ext cx="1905000" cy="1397000"/>
          </a:xfrm>
          <a:prstGeom prst="rect">
            <a:avLst/>
          </a:prstGeom>
          <a:noFill/>
          <a:ln>
            <a:noFill/>
          </a:ln>
        </p:spPr>
      </p:pic>
      <p:sp>
        <p:nvSpPr>
          <p:cNvPr id="252" name="Google Shape;252;p7"/>
          <p:cNvSpPr/>
          <p:nvPr/>
        </p:nvSpPr>
        <p:spPr>
          <a:xfrm>
            <a:off x="5875651" y="4051306"/>
            <a:ext cx="770756" cy="309868"/>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600"/>
              <a:buFont typeface="DM Sans"/>
              <a:buNone/>
            </a:pPr>
            <a:r>
              <a:rPr b="1" i="0" lang="en-US" sz="1600" u="none" cap="none" strike="noStrike">
                <a:solidFill>
                  <a:srgbClr val="041E42"/>
                </a:solidFill>
                <a:latin typeface="DM Sans"/>
                <a:ea typeface="DM Sans"/>
                <a:cs typeface="DM Sans"/>
                <a:sym typeface="DM Sans"/>
              </a:rPr>
              <a:t>Normal</a:t>
            </a:r>
            <a:endParaRPr b="0" i="0" sz="1600" u="none" cap="none" strike="noStrike">
              <a:solidFill>
                <a:schemeClr val="dk1"/>
              </a:solidFill>
              <a:latin typeface="Calibri"/>
              <a:ea typeface="Calibri"/>
              <a:cs typeface="Calibri"/>
              <a:sym typeface="Calibri"/>
            </a:endParaRPr>
          </a:p>
        </p:txBody>
      </p:sp>
      <p:pic>
        <p:nvPicPr>
          <p:cNvPr descr="Right-skewed histogram with the mean pulled right of the median" id="253" name="Google Shape;253;p7"/>
          <p:cNvPicPr preferRelativeResize="0"/>
          <p:nvPr/>
        </p:nvPicPr>
        <p:blipFill rotWithShape="1">
          <a:blip r:embed="rId4">
            <a:alphaModFix/>
          </a:blip>
          <a:srcRect b="0" l="0" r="0" t="0"/>
          <a:stretch/>
        </p:blipFill>
        <p:spPr>
          <a:xfrm>
            <a:off x="7378650" y="2578116"/>
            <a:ext cx="1905000" cy="1397000"/>
          </a:xfrm>
          <a:prstGeom prst="rect">
            <a:avLst/>
          </a:prstGeom>
          <a:noFill/>
          <a:ln>
            <a:noFill/>
          </a:ln>
        </p:spPr>
      </p:pic>
      <p:sp>
        <p:nvSpPr>
          <p:cNvPr id="254" name="Google Shape;254;p7"/>
          <p:cNvSpPr/>
          <p:nvPr/>
        </p:nvSpPr>
        <p:spPr>
          <a:xfrm>
            <a:off x="7636536" y="4051306"/>
            <a:ext cx="1439987" cy="309868"/>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600"/>
              <a:buFont typeface="DM Sans"/>
              <a:buNone/>
            </a:pPr>
            <a:r>
              <a:rPr b="1" i="0" lang="en-US" sz="1600" u="none" cap="none" strike="noStrike">
                <a:solidFill>
                  <a:srgbClr val="041E42"/>
                </a:solidFill>
                <a:latin typeface="DM Sans"/>
                <a:ea typeface="DM Sans"/>
                <a:cs typeface="DM Sans"/>
                <a:sym typeface="DM Sans"/>
              </a:rPr>
              <a:t>Right-skewed</a:t>
            </a:r>
            <a:endParaRPr b="0" i="0" sz="1600" u="none" cap="none" strike="noStrike">
              <a:solidFill>
                <a:schemeClr val="dk1"/>
              </a:solidFill>
              <a:latin typeface="Calibri"/>
              <a:ea typeface="Calibri"/>
              <a:cs typeface="Calibri"/>
              <a:sym typeface="Calibri"/>
            </a:endParaRPr>
          </a:p>
        </p:txBody>
      </p:sp>
      <p:pic>
        <p:nvPicPr>
          <p:cNvPr descr="Left-skewed histogram with the mean pulled left of the median" id="255" name="Google Shape;255;p7"/>
          <p:cNvPicPr preferRelativeResize="0"/>
          <p:nvPr/>
        </p:nvPicPr>
        <p:blipFill rotWithShape="1">
          <a:blip r:embed="rId5">
            <a:alphaModFix/>
          </a:blip>
          <a:srcRect b="0" l="0" r="0" t="0"/>
          <a:stretch/>
        </p:blipFill>
        <p:spPr>
          <a:xfrm>
            <a:off x="9474150" y="2578116"/>
            <a:ext cx="1905000" cy="1397000"/>
          </a:xfrm>
          <a:prstGeom prst="rect">
            <a:avLst/>
          </a:prstGeom>
          <a:noFill/>
          <a:ln>
            <a:noFill/>
          </a:ln>
        </p:spPr>
      </p:pic>
      <p:sp>
        <p:nvSpPr>
          <p:cNvPr id="256" name="Google Shape;256;p7"/>
          <p:cNvSpPr/>
          <p:nvPr/>
        </p:nvSpPr>
        <p:spPr>
          <a:xfrm>
            <a:off x="9793924" y="4051306"/>
            <a:ext cx="1316211" cy="309868"/>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600"/>
              <a:buFont typeface="DM Sans"/>
              <a:buNone/>
            </a:pPr>
            <a:r>
              <a:rPr b="1" i="0" lang="en-US" sz="1600" u="none" cap="none" strike="noStrike">
                <a:solidFill>
                  <a:srgbClr val="041E42"/>
                </a:solidFill>
                <a:latin typeface="DM Sans"/>
                <a:ea typeface="DM Sans"/>
                <a:cs typeface="DM Sans"/>
                <a:sym typeface="DM Sans"/>
              </a:rPr>
              <a:t>Left-skewed</a:t>
            </a:r>
            <a:endParaRPr b="0" i="0" sz="1600" u="none" cap="none" strike="noStrike">
              <a:solidFill>
                <a:schemeClr val="dk1"/>
              </a:solidFill>
              <a:latin typeface="Calibri"/>
              <a:ea typeface="Calibri"/>
              <a:cs typeface="Calibri"/>
              <a:sym typeface="Calibri"/>
            </a:endParaRPr>
          </a:p>
        </p:txBody>
      </p:sp>
      <p:sp>
        <p:nvSpPr>
          <p:cNvPr id="257" name="Google Shape;257;p7"/>
          <p:cNvSpPr/>
          <p:nvPr/>
        </p:nvSpPr>
        <p:spPr>
          <a:xfrm>
            <a:off x="6793590" y="4601146"/>
            <a:ext cx="304767" cy="38075"/>
          </a:xfrm>
          <a:prstGeom prst="rect">
            <a:avLst/>
          </a:prstGeom>
          <a:solidFill>
            <a:srgbClr val="041E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7"/>
          <p:cNvSpPr/>
          <p:nvPr/>
        </p:nvSpPr>
        <p:spPr>
          <a:xfrm>
            <a:off x="7174549" y="4513542"/>
            <a:ext cx="105224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B4A63"/>
              </a:buClr>
              <a:buSzPts val="1200"/>
              <a:buFont typeface="DM Sans"/>
              <a:buNone/>
            </a:pPr>
            <a:r>
              <a:rPr b="0" i="0" lang="en-US" sz="1200" u="none" cap="none" strike="noStrike">
                <a:solidFill>
                  <a:srgbClr val="3B4A63"/>
                </a:solidFill>
                <a:latin typeface="DM Sans"/>
                <a:ea typeface="DM Sans"/>
                <a:cs typeface="DM Sans"/>
                <a:sym typeface="DM Sans"/>
              </a:rPr>
              <a:t>Median (solid)</a:t>
            </a:r>
            <a:endParaRPr b="0" i="0" sz="1200" u="none" cap="none" strike="noStrike">
              <a:solidFill>
                <a:schemeClr val="dk1"/>
              </a:solidFill>
              <a:latin typeface="Calibri"/>
              <a:ea typeface="Calibri"/>
              <a:cs typeface="Calibri"/>
              <a:sym typeface="Calibri"/>
            </a:endParaRPr>
          </a:p>
        </p:txBody>
      </p:sp>
      <p:sp>
        <p:nvSpPr>
          <p:cNvPr id="259" name="Google Shape;259;p7"/>
          <p:cNvSpPr/>
          <p:nvPr/>
        </p:nvSpPr>
        <p:spPr>
          <a:xfrm>
            <a:off x="8429997" y="4601146"/>
            <a:ext cx="304767" cy="38075"/>
          </a:xfrm>
          <a:prstGeom prst="rect">
            <a:avLst/>
          </a:prstGeom>
          <a:solidFill>
            <a:srgbClr val="F9A8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7"/>
          <p:cNvSpPr/>
          <p:nvPr/>
        </p:nvSpPr>
        <p:spPr>
          <a:xfrm>
            <a:off x="8810955" y="4513542"/>
            <a:ext cx="1108637"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B4A63"/>
              </a:buClr>
              <a:buSzPts val="1200"/>
              <a:buFont typeface="DM Sans"/>
              <a:buNone/>
            </a:pPr>
            <a:r>
              <a:rPr b="0" i="0" lang="en-US" sz="1200" u="none" cap="none" strike="noStrike">
                <a:solidFill>
                  <a:srgbClr val="3B4A63"/>
                </a:solidFill>
                <a:latin typeface="DM Sans"/>
                <a:ea typeface="DM Sans"/>
                <a:cs typeface="DM Sans"/>
                <a:sym typeface="DM Sans"/>
              </a:rPr>
              <a:t>Mean (dashed)</a:t>
            </a:r>
            <a:endParaRPr b="0" i="0" sz="1200" u="none" cap="none" strike="noStrike">
              <a:solidFill>
                <a:schemeClr val="dk1"/>
              </a:solidFill>
              <a:latin typeface="Calibri"/>
              <a:ea typeface="Calibri"/>
              <a:cs typeface="Calibri"/>
              <a:sym typeface="Calibri"/>
            </a:endParaRPr>
          </a:p>
        </p:txBody>
      </p:sp>
      <p:sp>
        <p:nvSpPr>
          <p:cNvPr id="261" name="Google Shape;261;p7"/>
          <p:cNvSpPr/>
          <p:nvPr/>
        </p:nvSpPr>
        <p:spPr>
          <a:xfrm>
            <a:off x="5191709" y="4904631"/>
            <a:ext cx="6278965" cy="23872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5A6880"/>
              </a:buClr>
              <a:buSzPts val="1200"/>
              <a:buFont typeface="DM Sans"/>
              <a:buNone/>
            </a:pPr>
            <a:r>
              <a:rPr b="0" i="0" lang="en-US" sz="1200" u="none" cap="none" strike="noStrike">
                <a:solidFill>
                  <a:srgbClr val="5A6880"/>
                </a:solidFill>
                <a:latin typeface="DM Sans"/>
                <a:ea typeface="DM Sans"/>
                <a:cs typeface="DM Sans"/>
                <a:sym typeface="DM Sans"/>
              </a:rPr>
              <a:t>Sample data. The mean gets pulled toward the long tail; the median stays put.</a:t>
            </a:r>
            <a:endParaRPr b="0" i="0" sz="1200" u="none" cap="none" strike="noStrike">
              <a:solidFill>
                <a:schemeClr val="dk1"/>
              </a:solidFill>
              <a:latin typeface="Calibri"/>
              <a:ea typeface="Calibri"/>
              <a:cs typeface="Calibri"/>
              <a:sym typeface="Calibri"/>
            </a:endParaRPr>
          </a:p>
        </p:txBody>
      </p:sp>
      <p:sp>
        <p:nvSpPr>
          <p:cNvPr id="262" name="Google Shape;262;p7"/>
          <p:cNvSpPr/>
          <p:nvPr/>
        </p:nvSpPr>
        <p:spPr>
          <a:xfrm>
            <a:off x="9385350" y="711191"/>
            <a:ext cx="279383" cy="279383"/>
          </a:xfrm>
          <a:prstGeom prst="roundRect">
            <a:avLst>
              <a:gd fmla="val 50000" name="adj"/>
            </a:avLst>
          </a:prstGeom>
          <a:solidFill>
            <a:srgbClr val="1E40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7"/>
          <p:cNvSpPr/>
          <p:nvPr/>
        </p:nvSpPr>
        <p:spPr>
          <a:xfrm>
            <a:off x="9359950" y="711191"/>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F6F7F9"/>
              </a:buClr>
              <a:buSzPts val="1200"/>
              <a:buFont typeface="DM Sans"/>
              <a:buNone/>
            </a:pPr>
            <a:r>
              <a:rPr b="1" i="0" lang="en-US" sz="1200" u="none" cap="none" strike="noStrike">
                <a:solidFill>
                  <a:srgbClr val="F6F7F9"/>
                </a:solidFill>
                <a:latin typeface="DM Sans"/>
                <a:ea typeface="DM Sans"/>
                <a:cs typeface="DM Sans"/>
                <a:sym typeface="DM Sans"/>
              </a:rPr>
              <a:t>1</a:t>
            </a:r>
            <a:endParaRPr b="0" i="0" sz="1200" u="none" cap="none" strike="noStrike">
              <a:solidFill>
                <a:schemeClr val="dk1"/>
              </a:solidFill>
              <a:latin typeface="Calibri"/>
              <a:ea typeface="Calibri"/>
              <a:cs typeface="Calibri"/>
              <a:sym typeface="Calibri"/>
            </a:endParaRPr>
          </a:p>
        </p:txBody>
      </p:sp>
      <p:sp>
        <p:nvSpPr>
          <p:cNvPr id="264" name="Google Shape;264;p7"/>
          <p:cNvSpPr/>
          <p:nvPr/>
        </p:nvSpPr>
        <p:spPr>
          <a:xfrm>
            <a:off x="9728233" y="711191"/>
            <a:ext cx="279383" cy="279383"/>
          </a:xfrm>
          <a:prstGeom prst="roundRect">
            <a:avLst>
              <a:gd fmla="val 50000" name="adj"/>
            </a:avLst>
          </a:prstGeom>
          <a:solidFill>
            <a:srgbClr val="1E40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7"/>
          <p:cNvSpPr/>
          <p:nvPr/>
        </p:nvSpPr>
        <p:spPr>
          <a:xfrm>
            <a:off x="9702833" y="711191"/>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F6F7F9"/>
              </a:buClr>
              <a:buSzPts val="1200"/>
              <a:buFont typeface="DM Sans"/>
              <a:buNone/>
            </a:pPr>
            <a:r>
              <a:rPr b="1" i="0" lang="en-US" sz="1200" u="none" cap="none" strike="noStrike">
                <a:solidFill>
                  <a:srgbClr val="F6F7F9"/>
                </a:solidFill>
                <a:latin typeface="DM Sans"/>
                <a:ea typeface="DM Sans"/>
                <a:cs typeface="DM Sans"/>
                <a:sym typeface="DM Sans"/>
              </a:rPr>
              <a:t>2</a:t>
            </a:r>
            <a:endParaRPr b="0" i="0" sz="1200" u="none" cap="none" strike="noStrike">
              <a:solidFill>
                <a:schemeClr val="dk1"/>
              </a:solidFill>
              <a:latin typeface="Calibri"/>
              <a:ea typeface="Calibri"/>
              <a:cs typeface="Calibri"/>
              <a:sym typeface="Calibri"/>
            </a:endParaRPr>
          </a:p>
        </p:txBody>
      </p:sp>
      <p:sp>
        <p:nvSpPr>
          <p:cNvPr id="266" name="Google Shape;266;p7"/>
          <p:cNvSpPr/>
          <p:nvPr/>
        </p:nvSpPr>
        <p:spPr>
          <a:xfrm>
            <a:off x="10071116" y="711191"/>
            <a:ext cx="279383" cy="279383"/>
          </a:xfrm>
          <a:prstGeom prst="roundRect">
            <a:avLst>
              <a:gd fmla="val 50000" name="adj"/>
            </a:avLst>
          </a:prstGeom>
          <a:solidFill>
            <a:srgbClr val="F9A8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7"/>
          <p:cNvSpPr/>
          <p:nvPr/>
        </p:nvSpPr>
        <p:spPr>
          <a:xfrm>
            <a:off x="10045716" y="711191"/>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041E42"/>
              </a:buClr>
              <a:buSzPts val="1200"/>
              <a:buFont typeface="DM Sans"/>
              <a:buNone/>
            </a:pPr>
            <a:r>
              <a:rPr b="1" i="0" lang="en-US" sz="1200" u="none" cap="none" strike="noStrike">
                <a:solidFill>
                  <a:srgbClr val="041E42"/>
                </a:solidFill>
                <a:latin typeface="DM Sans"/>
                <a:ea typeface="DM Sans"/>
                <a:cs typeface="DM Sans"/>
                <a:sym typeface="DM Sans"/>
              </a:rPr>
              <a:t>3</a:t>
            </a:r>
            <a:endParaRPr b="0" i="0" sz="1200" u="none" cap="none" strike="noStrike">
              <a:solidFill>
                <a:schemeClr val="dk1"/>
              </a:solidFill>
              <a:latin typeface="Calibri"/>
              <a:ea typeface="Calibri"/>
              <a:cs typeface="Calibri"/>
              <a:sym typeface="Calibri"/>
            </a:endParaRPr>
          </a:p>
        </p:txBody>
      </p:sp>
      <p:sp>
        <p:nvSpPr>
          <p:cNvPr id="268" name="Google Shape;268;p7"/>
          <p:cNvSpPr/>
          <p:nvPr/>
        </p:nvSpPr>
        <p:spPr>
          <a:xfrm>
            <a:off x="10414000" y="711191"/>
            <a:ext cx="279383" cy="279383"/>
          </a:xfrm>
          <a:prstGeom prst="roundRect">
            <a:avLst>
              <a:gd fmla="val 50000" name="adj"/>
            </a:avLst>
          </a:prstGeom>
          <a:solidFill>
            <a:srgbClr val="DCE6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7"/>
          <p:cNvSpPr/>
          <p:nvPr/>
        </p:nvSpPr>
        <p:spPr>
          <a:xfrm>
            <a:off x="10388600" y="711191"/>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1E407C"/>
              </a:buClr>
              <a:buSzPts val="1200"/>
              <a:buFont typeface="DM Sans"/>
              <a:buNone/>
            </a:pPr>
            <a:r>
              <a:rPr b="1" i="0" lang="en-US" sz="1200" u="none" cap="none" strike="noStrike">
                <a:solidFill>
                  <a:srgbClr val="1E407C"/>
                </a:solidFill>
                <a:latin typeface="DM Sans"/>
                <a:ea typeface="DM Sans"/>
                <a:cs typeface="DM Sans"/>
                <a:sym typeface="DM Sans"/>
              </a:rPr>
              <a:t>4</a:t>
            </a:r>
            <a:endParaRPr b="0" i="0" sz="1200" u="none" cap="none" strike="noStrike">
              <a:solidFill>
                <a:schemeClr val="dk1"/>
              </a:solidFill>
              <a:latin typeface="Calibri"/>
              <a:ea typeface="Calibri"/>
              <a:cs typeface="Calibri"/>
              <a:sym typeface="Calibri"/>
            </a:endParaRPr>
          </a:p>
        </p:txBody>
      </p:sp>
      <p:sp>
        <p:nvSpPr>
          <p:cNvPr id="270" name="Google Shape;270;p7"/>
          <p:cNvSpPr/>
          <p:nvPr/>
        </p:nvSpPr>
        <p:spPr>
          <a:xfrm>
            <a:off x="10756883" y="711191"/>
            <a:ext cx="279383" cy="279383"/>
          </a:xfrm>
          <a:prstGeom prst="roundRect">
            <a:avLst>
              <a:gd fmla="val 50000" name="adj"/>
            </a:avLst>
          </a:prstGeom>
          <a:solidFill>
            <a:srgbClr val="DCE6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7"/>
          <p:cNvSpPr/>
          <p:nvPr/>
        </p:nvSpPr>
        <p:spPr>
          <a:xfrm>
            <a:off x="10731483" y="711191"/>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1E407C"/>
              </a:buClr>
              <a:buSzPts val="1200"/>
              <a:buFont typeface="DM Sans"/>
              <a:buNone/>
            </a:pPr>
            <a:r>
              <a:rPr b="1" i="0" lang="en-US" sz="1200" u="none" cap="none" strike="noStrike">
                <a:solidFill>
                  <a:srgbClr val="1E407C"/>
                </a:solidFill>
                <a:latin typeface="DM Sans"/>
                <a:ea typeface="DM Sans"/>
                <a:cs typeface="DM Sans"/>
                <a:sym typeface="DM Sans"/>
              </a:rPr>
              <a:t>5</a:t>
            </a:r>
            <a:endParaRPr b="0" i="0" sz="1200" u="none" cap="none" strike="noStrike">
              <a:solidFill>
                <a:schemeClr val="dk1"/>
              </a:solidFill>
              <a:latin typeface="Calibri"/>
              <a:ea typeface="Calibri"/>
              <a:cs typeface="Calibri"/>
              <a:sym typeface="Calibri"/>
            </a:endParaRPr>
          </a:p>
        </p:txBody>
      </p:sp>
      <p:sp>
        <p:nvSpPr>
          <p:cNvPr id="272" name="Google Shape;272;p7"/>
          <p:cNvSpPr/>
          <p:nvPr/>
        </p:nvSpPr>
        <p:spPr>
          <a:xfrm>
            <a:off x="11099767" y="711191"/>
            <a:ext cx="279383" cy="279383"/>
          </a:xfrm>
          <a:prstGeom prst="roundRect">
            <a:avLst>
              <a:gd fmla="val 50000" name="adj"/>
            </a:avLst>
          </a:prstGeom>
          <a:solidFill>
            <a:srgbClr val="DCE6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7"/>
          <p:cNvSpPr/>
          <p:nvPr/>
        </p:nvSpPr>
        <p:spPr>
          <a:xfrm>
            <a:off x="11074367" y="711191"/>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1E407C"/>
              </a:buClr>
              <a:buSzPts val="1200"/>
              <a:buFont typeface="DM Sans"/>
              <a:buNone/>
            </a:pPr>
            <a:r>
              <a:rPr b="1" i="0" lang="en-US" sz="1200" u="none" cap="none" strike="noStrike">
                <a:solidFill>
                  <a:srgbClr val="1E407C"/>
                </a:solidFill>
                <a:latin typeface="DM Sans"/>
                <a:ea typeface="DM Sans"/>
                <a:cs typeface="DM Sans"/>
                <a:sym typeface="DM Sans"/>
              </a:rPr>
              <a:t>6</a:t>
            </a:r>
            <a:endParaRPr b="0" i="0" sz="1200" u="none" cap="none" strike="noStrike">
              <a:solidFill>
                <a:schemeClr val="dk1"/>
              </a:solidFill>
              <a:latin typeface="Calibri"/>
              <a:ea typeface="Calibri"/>
              <a:cs typeface="Calibri"/>
              <a:sym typeface="Calibri"/>
            </a:endParaRPr>
          </a:p>
        </p:txBody>
      </p:sp>
      <p:sp>
        <p:nvSpPr>
          <p:cNvPr id="274" name="Google Shape;274;p7"/>
          <p:cNvSpPr/>
          <p:nvPr/>
        </p:nvSpPr>
        <p:spPr>
          <a:xfrm>
            <a:off x="812767" y="6237015"/>
            <a:ext cx="325734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880"/>
              </a:buClr>
              <a:buSzPts val="1200"/>
              <a:buFont typeface="DM Sans"/>
              <a:buNone/>
            </a:pPr>
            <a:r>
              <a:rPr b="0" i="0" lang="en-US" sz="1200" u="none" cap="none" strike="noStrike">
                <a:solidFill>
                  <a:srgbClr val="5A6880"/>
                </a:solidFill>
                <a:latin typeface="DM Sans"/>
                <a:ea typeface="DM Sans"/>
                <a:cs typeface="DM Sans"/>
                <a:sym typeface="DM Sans"/>
              </a:rPr>
              <a:t>Nittany Data Labs · Exploratory Data Analysis</a:t>
            </a:r>
            <a:endParaRPr b="0" i="0" sz="1200" u="none" cap="none" strike="noStrike">
              <a:solidFill>
                <a:schemeClr val="dk1"/>
              </a:solidFill>
              <a:latin typeface="Calibri"/>
              <a:ea typeface="Calibri"/>
              <a:cs typeface="Calibri"/>
              <a:sym typeface="Calibri"/>
            </a:endParaRPr>
          </a:p>
        </p:txBody>
      </p:sp>
      <p:sp>
        <p:nvSpPr>
          <p:cNvPr id="275" name="Google Shape;275;p7"/>
          <p:cNvSpPr/>
          <p:nvPr/>
        </p:nvSpPr>
        <p:spPr>
          <a:xfrm>
            <a:off x="11297749" y="6237015"/>
            <a:ext cx="13220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880"/>
              </a:buClr>
              <a:buSzPts val="1200"/>
              <a:buFont typeface="DM Sans"/>
              <a:buNone/>
            </a:pPr>
            <a:r>
              <a:rPr b="0" i="0" lang="en-US" sz="1200" u="none" cap="none" strike="noStrike">
                <a:solidFill>
                  <a:srgbClr val="5A6880"/>
                </a:solidFill>
                <a:latin typeface="DM Sans"/>
                <a:ea typeface="DM Sans"/>
                <a:cs typeface="DM Sans"/>
                <a:sym typeface="DM Sans"/>
              </a:rPr>
              <a:t>7</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9"/>
        </a:solidFill>
      </p:bgPr>
    </p:bg>
    <p:spTree>
      <p:nvGrpSpPr>
        <p:cNvPr id="280" name="Shape 280"/>
        <p:cNvGrpSpPr/>
        <p:nvPr/>
      </p:nvGrpSpPr>
      <p:grpSpPr>
        <a:xfrm>
          <a:off x="0" y="0"/>
          <a:ext cx="0" cy="0"/>
          <a:chOff x="0" y="0"/>
          <a:chExt cx="0" cy="0"/>
        </a:xfrm>
      </p:grpSpPr>
      <p:sp>
        <p:nvSpPr>
          <p:cNvPr id="281" name="Google Shape;281;p8"/>
          <p:cNvSpPr/>
          <p:nvPr/>
        </p:nvSpPr>
        <p:spPr>
          <a:xfrm>
            <a:off x="812767" y="812766"/>
            <a:ext cx="1088346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E407C"/>
              </a:buClr>
              <a:buSzPts val="1200"/>
              <a:buFont typeface="DM Sans"/>
              <a:buNone/>
            </a:pPr>
            <a:r>
              <a:rPr b="1" i="0" lang="en-US" sz="1200" u="none" cap="none" strike="noStrike">
                <a:solidFill>
                  <a:srgbClr val="1E407C"/>
                </a:solidFill>
                <a:latin typeface="DM Sans"/>
                <a:ea typeface="DM Sans"/>
                <a:cs typeface="DM Sans"/>
                <a:sym typeface="DM Sans"/>
              </a:rPr>
              <a:t>STEP 3 OF 6</a:t>
            </a:r>
            <a:endParaRPr b="0" i="0" sz="1200" u="none" cap="none" strike="noStrike">
              <a:solidFill>
                <a:schemeClr val="dk1"/>
              </a:solidFill>
              <a:latin typeface="Calibri"/>
              <a:ea typeface="Calibri"/>
              <a:cs typeface="Calibri"/>
              <a:sym typeface="Calibri"/>
            </a:endParaRPr>
          </a:p>
        </p:txBody>
      </p:sp>
      <p:sp>
        <p:nvSpPr>
          <p:cNvPr id="282" name="Google Shape;282;p8"/>
          <p:cNvSpPr/>
          <p:nvPr/>
        </p:nvSpPr>
        <p:spPr>
          <a:xfrm>
            <a:off x="812767" y="1102277"/>
            <a:ext cx="10883460" cy="472422"/>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041E42"/>
              </a:buClr>
              <a:buSzPts val="3200"/>
              <a:buFont typeface="DM Sans"/>
              <a:buNone/>
            </a:pPr>
            <a:r>
              <a:rPr b="1" i="0" lang="en-US" sz="3200" u="none" cap="none" strike="noStrike">
                <a:solidFill>
                  <a:srgbClr val="041E42"/>
                </a:solidFill>
                <a:latin typeface="DM Sans"/>
                <a:ea typeface="DM Sans"/>
                <a:cs typeface="DM Sans"/>
                <a:sym typeface="DM Sans"/>
              </a:rPr>
              <a:t>One variable: box plots &amp; counts</a:t>
            </a:r>
            <a:endParaRPr b="0" i="0" sz="3200" u="none" cap="none" strike="noStrike">
              <a:solidFill>
                <a:schemeClr val="dk1"/>
              </a:solidFill>
              <a:latin typeface="Calibri"/>
              <a:ea typeface="Calibri"/>
              <a:cs typeface="Calibri"/>
              <a:sym typeface="Calibri"/>
            </a:endParaRPr>
          </a:p>
        </p:txBody>
      </p:sp>
      <p:cxnSp>
        <p:nvCxnSpPr>
          <p:cNvPr id="283" name="Google Shape;283;p8"/>
          <p:cNvCxnSpPr/>
          <p:nvPr/>
        </p:nvCxnSpPr>
        <p:spPr>
          <a:xfrm>
            <a:off x="831817" y="2700071"/>
            <a:ext cx="0" cy="553641"/>
          </a:xfrm>
          <a:prstGeom prst="straightConnector1">
            <a:avLst/>
          </a:prstGeom>
          <a:noFill/>
          <a:ln cap="flat" cmpd="sng" w="38100">
            <a:solidFill>
              <a:srgbClr val="F9A826"/>
            </a:solidFill>
            <a:prstDash val="solid"/>
            <a:round/>
            <a:headEnd len="sm" w="sm" type="none"/>
            <a:tailEnd len="sm" w="sm" type="none"/>
          </a:ln>
        </p:spPr>
      </p:cxnSp>
      <p:sp>
        <p:nvSpPr>
          <p:cNvPr id="284" name="Google Shape;284;p8"/>
          <p:cNvSpPr/>
          <p:nvPr/>
        </p:nvSpPr>
        <p:spPr>
          <a:xfrm>
            <a:off x="1002209" y="2712771"/>
            <a:ext cx="3990795" cy="553641"/>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B4A63"/>
              </a:buClr>
              <a:buSzPts val="1600"/>
              <a:buFont typeface="DM Sans"/>
              <a:buNone/>
            </a:pPr>
            <a:r>
              <a:rPr b="0" i="0" lang="en-US" sz="1600" u="none" cap="none" strike="noStrike">
                <a:solidFill>
                  <a:srgbClr val="3B4A63"/>
                </a:solidFill>
                <a:latin typeface="DM Sans"/>
                <a:ea typeface="DM Sans"/>
                <a:cs typeface="DM Sans"/>
                <a:sym typeface="DM Sans"/>
              </a:rPr>
              <a:t>A </a:t>
            </a:r>
            <a:r>
              <a:rPr b="1" i="0" lang="en-US" sz="1600" u="none" cap="none" strike="noStrike">
                <a:solidFill>
                  <a:srgbClr val="3B4A63"/>
                </a:solidFill>
                <a:latin typeface="DM Sans"/>
                <a:ea typeface="DM Sans"/>
                <a:cs typeface="DM Sans"/>
                <a:sym typeface="DM Sans"/>
              </a:rPr>
              <a:t>box plot</a:t>
            </a:r>
            <a:r>
              <a:rPr b="0" i="0" lang="en-US" sz="1600" u="none" cap="none" strike="noStrike">
                <a:solidFill>
                  <a:srgbClr val="3B4A63"/>
                </a:solidFill>
                <a:latin typeface="DM Sans"/>
                <a:ea typeface="DM Sans"/>
                <a:cs typeface="DM Sans"/>
                <a:sym typeface="DM Sans"/>
              </a:rPr>
              <a:t> summarizes a column in one picture</a:t>
            </a:r>
            <a:endParaRPr b="0" i="0" sz="1600" u="none" cap="none" strike="noStrike">
              <a:solidFill>
                <a:schemeClr val="dk1"/>
              </a:solidFill>
              <a:latin typeface="Calibri"/>
              <a:ea typeface="Calibri"/>
              <a:cs typeface="Calibri"/>
              <a:sym typeface="Calibri"/>
            </a:endParaRPr>
          </a:p>
        </p:txBody>
      </p:sp>
      <p:cxnSp>
        <p:nvCxnSpPr>
          <p:cNvPr id="285" name="Google Shape;285;p8"/>
          <p:cNvCxnSpPr/>
          <p:nvPr/>
        </p:nvCxnSpPr>
        <p:spPr>
          <a:xfrm>
            <a:off x="831817" y="3456905"/>
            <a:ext cx="0" cy="289512"/>
          </a:xfrm>
          <a:prstGeom prst="straightConnector1">
            <a:avLst/>
          </a:prstGeom>
          <a:noFill/>
          <a:ln cap="flat" cmpd="sng" w="38100">
            <a:solidFill>
              <a:srgbClr val="F9A826"/>
            </a:solidFill>
            <a:prstDash val="solid"/>
            <a:round/>
            <a:headEnd len="sm" w="sm" type="none"/>
            <a:tailEnd len="sm" w="sm" type="none"/>
          </a:ln>
        </p:spPr>
      </p:cxnSp>
      <p:sp>
        <p:nvSpPr>
          <p:cNvPr id="286" name="Google Shape;286;p8"/>
          <p:cNvSpPr/>
          <p:nvPr/>
        </p:nvSpPr>
        <p:spPr>
          <a:xfrm>
            <a:off x="1002209" y="3469605"/>
            <a:ext cx="3990795" cy="28951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B4A63"/>
              </a:buClr>
              <a:buSzPts val="1600"/>
              <a:buFont typeface="DM Sans"/>
              <a:buNone/>
            </a:pPr>
            <a:r>
              <a:rPr b="0" i="0" lang="en-US" sz="1600" u="none" cap="none" strike="noStrike">
                <a:solidFill>
                  <a:srgbClr val="3B4A63"/>
                </a:solidFill>
                <a:latin typeface="DM Sans"/>
                <a:ea typeface="DM Sans"/>
                <a:cs typeface="DM Sans"/>
                <a:sym typeface="DM Sans"/>
              </a:rPr>
              <a:t>The box = the </a:t>
            </a:r>
            <a:r>
              <a:rPr b="1" i="0" lang="en-US" sz="1600" u="none" cap="none" strike="noStrike">
                <a:solidFill>
                  <a:srgbClr val="3B4A63"/>
                </a:solidFill>
                <a:latin typeface="DM Sans"/>
                <a:ea typeface="DM Sans"/>
                <a:cs typeface="DM Sans"/>
                <a:sym typeface="DM Sans"/>
              </a:rPr>
              <a:t>middle 50%</a:t>
            </a:r>
            <a:r>
              <a:rPr b="0" i="0" lang="en-US" sz="1600" u="none" cap="none" strike="noStrike">
                <a:solidFill>
                  <a:srgbClr val="3B4A63"/>
                </a:solidFill>
                <a:latin typeface="DM Sans"/>
                <a:ea typeface="DM Sans"/>
                <a:cs typeface="DM Sans"/>
                <a:sym typeface="DM Sans"/>
              </a:rPr>
              <a:t> (IQR)</a:t>
            </a:r>
            <a:endParaRPr b="0" i="0" sz="1600" u="none" cap="none" strike="noStrike">
              <a:solidFill>
                <a:schemeClr val="dk1"/>
              </a:solidFill>
              <a:latin typeface="Calibri"/>
              <a:ea typeface="Calibri"/>
              <a:cs typeface="Calibri"/>
              <a:sym typeface="Calibri"/>
            </a:endParaRPr>
          </a:p>
        </p:txBody>
      </p:sp>
      <p:cxnSp>
        <p:nvCxnSpPr>
          <p:cNvPr id="287" name="Google Shape;287;p8"/>
          <p:cNvCxnSpPr/>
          <p:nvPr/>
        </p:nvCxnSpPr>
        <p:spPr>
          <a:xfrm>
            <a:off x="831817" y="3949607"/>
            <a:ext cx="0" cy="553641"/>
          </a:xfrm>
          <a:prstGeom prst="straightConnector1">
            <a:avLst/>
          </a:prstGeom>
          <a:noFill/>
          <a:ln cap="flat" cmpd="sng" w="38100">
            <a:solidFill>
              <a:srgbClr val="F9A826"/>
            </a:solidFill>
            <a:prstDash val="solid"/>
            <a:round/>
            <a:headEnd len="sm" w="sm" type="none"/>
            <a:tailEnd len="sm" w="sm" type="none"/>
          </a:ln>
        </p:spPr>
      </p:cxnSp>
      <p:sp>
        <p:nvSpPr>
          <p:cNvPr id="288" name="Google Shape;288;p8"/>
          <p:cNvSpPr/>
          <p:nvPr/>
        </p:nvSpPr>
        <p:spPr>
          <a:xfrm>
            <a:off x="1002209" y="3962307"/>
            <a:ext cx="3990795" cy="553641"/>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B4A63"/>
              </a:buClr>
              <a:buSzPts val="1600"/>
              <a:buFont typeface="DM Sans"/>
              <a:buNone/>
            </a:pPr>
            <a:r>
              <a:rPr b="0" i="0" lang="en-US" sz="1600" u="none" cap="none" strike="noStrike">
                <a:solidFill>
                  <a:srgbClr val="3B4A63"/>
                </a:solidFill>
                <a:latin typeface="DM Sans"/>
                <a:ea typeface="DM Sans"/>
                <a:cs typeface="DM Sans"/>
                <a:sym typeface="DM Sans"/>
              </a:rPr>
              <a:t>Far-out points are </a:t>
            </a:r>
            <a:r>
              <a:rPr b="1" i="0" lang="en-US" sz="1600" u="none" cap="none" strike="noStrike">
                <a:solidFill>
                  <a:srgbClr val="3B4A63"/>
                </a:solidFill>
                <a:latin typeface="DM Sans"/>
                <a:ea typeface="DM Sans"/>
                <a:cs typeface="DM Sans"/>
                <a:sym typeface="DM Sans"/>
              </a:rPr>
              <a:t>clues</a:t>
            </a:r>
            <a:r>
              <a:rPr b="0" i="0" lang="en-US" sz="1600" u="none" cap="none" strike="noStrike">
                <a:solidFill>
                  <a:srgbClr val="3B4A63"/>
                </a:solidFill>
                <a:latin typeface="DM Sans"/>
                <a:ea typeface="DM Sans"/>
                <a:cs typeface="DM Sans"/>
                <a:sym typeface="DM Sans"/>
              </a:rPr>
              <a:t>: what's going on there?</a:t>
            </a:r>
            <a:endParaRPr b="0" i="0" sz="1600" u="none" cap="none" strike="noStrike">
              <a:solidFill>
                <a:schemeClr val="dk1"/>
              </a:solidFill>
              <a:latin typeface="Calibri"/>
              <a:ea typeface="Calibri"/>
              <a:cs typeface="Calibri"/>
              <a:sym typeface="Calibri"/>
            </a:endParaRPr>
          </a:p>
        </p:txBody>
      </p:sp>
      <p:cxnSp>
        <p:nvCxnSpPr>
          <p:cNvPr id="289" name="Google Shape;289;p8"/>
          <p:cNvCxnSpPr/>
          <p:nvPr/>
        </p:nvCxnSpPr>
        <p:spPr>
          <a:xfrm>
            <a:off x="831817" y="4706441"/>
            <a:ext cx="0" cy="289512"/>
          </a:xfrm>
          <a:prstGeom prst="straightConnector1">
            <a:avLst/>
          </a:prstGeom>
          <a:noFill/>
          <a:ln cap="flat" cmpd="sng" w="38100">
            <a:solidFill>
              <a:srgbClr val="F9A826"/>
            </a:solidFill>
            <a:prstDash val="solid"/>
            <a:round/>
            <a:headEnd len="sm" w="sm" type="none"/>
            <a:tailEnd len="sm" w="sm" type="none"/>
          </a:ln>
        </p:spPr>
      </p:cxnSp>
      <p:sp>
        <p:nvSpPr>
          <p:cNvPr id="290" name="Google Shape;290;p8"/>
          <p:cNvSpPr/>
          <p:nvPr/>
        </p:nvSpPr>
        <p:spPr>
          <a:xfrm>
            <a:off x="1002209" y="4719141"/>
            <a:ext cx="3990795" cy="28951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B4A63"/>
              </a:buClr>
              <a:buSzPts val="1600"/>
              <a:buFont typeface="DM Sans"/>
              <a:buNone/>
            </a:pPr>
            <a:r>
              <a:rPr b="0" i="0" lang="en-US" sz="1600" u="none" cap="none" strike="noStrike">
                <a:solidFill>
                  <a:srgbClr val="3B4A63"/>
                </a:solidFill>
                <a:latin typeface="DM Sans"/>
                <a:ea typeface="DM Sans"/>
                <a:cs typeface="DM Sans"/>
                <a:sym typeface="DM Sans"/>
              </a:rPr>
              <a:t>Categories: a </a:t>
            </a:r>
            <a:r>
              <a:rPr b="1" i="0" lang="en-US" sz="1600" u="none" cap="none" strike="noStrike">
                <a:solidFill>
                  <a:srgbClr val="3B4A63"/>
                </a:solidFill>
                <a:latin typeface="DM Sans"/>
                <a:ea typeface="DM Sans"/>
                <a:cs typeface="DM Sans"/>
                <a:sym typeface="DM Sans"/>
              </a:rPr>
              <a:t>bar chart</a:t>
            </a:r>
            <a:r>
              <a:rPr b="0" i="0" lang="en-US" sz="1600" u="none" cap="none" strike="noStrike">
                <a:solidFill>
                  <a:srgbClr val="3B4A63"/>
                </a:solidFill>
                <a:latin typeface="DM Sans"/>
                <a:ea typeface="DM Sans"/>
                <a:cs typeface="DM Sans"/>
                <a:sym typeface="DM Sans"/>
              </a:rPr>
              <a:t> of counts</a:t>
            </a:r>
            <a:endParaRPr b="0" i="0" sz="1600" u="none" cap="none" strike="noStrike">
              <a:solidFill>
                <a:schemeClr val="dk1"/>
              </a:solidFill>
              <a:latin typeface="Calibri"/>
              <a:ea typeface="Calibri"/>
              <a:cs typeface="Calibri"/>
              <a:sym typeface="Calibri"/>
            </a:endParaRPr>
          </a:p>
        </p:txBody>
      </p:sp>
      <p:pic>
        <p:nvPicPr>
          <p:cNvPr descr="Labeled box plot showing whiskers, Q1, median, Q3, the IQR, and one far-out point" id="291" name="Google Shape;291;p8"/>
          <p:cNvPicPr preferRelativeResize="0"/>
          <p:nvPr/>
        </p:nvPicPr>
        <p:blipFill rotWithShape="1">
          <a:blip r:embed="rId3">
            <a:alphaModFix/>
          </a:blip>
          <a:srcRect b="0" l="0" r="0" t="0"/>
          <a:stretch/>
        </p:blipFill>
        <p:spPr>
          <a:xfrm>
            <a:off x="5283150" y="2279715"/>
            <a:ext cx="6096000" cy="1587500"/>
          </a:xfrm>
          <a:prstGeom prst="rect">
            <a:avLst/>
          </a:prstGeom>
          <a:noFill/>
          <a:ln>
            <a:noFill/>
          </a:ln>
        </p:spPr>
      </p:pic>
      <p:sp>
        <p:nvSpPr>
          <p:cNvPr id="292" name="Google Shape;292;p8"/>
          <p:cNvSpPr/>
          <p:nvPr/>
        </p:nvSpPr>
        <p:spPr>
          <a:xfrm>
            <a:off x="6845250" y="2419406"/>
            <a:ext cx="1701800" cy="23872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1E407C"/>
              </a:buClr>
              <a:buSzPts val="1200"/>
              <a:buFont typeface="DM Sans"/>
              <a:buNone/>
            </a:pPr>
            <a:r>
              <a:rPr b="1" i="0" lang="en-US" sz="1200" u="none" cap="none" strike="noStrike">
                <a:solidFill>
                  <a:srgbClr val="1E407C"/>
                </a:solidFill>
                <a:latin typeface="DM Sans"/>
                <a:ea typeface="DM Sans"/>
                <a:cs typeface="DM Sans"/>
                <a:sym typeface="DM Sans"/>
              </a:rPr>
              <a:t>IQR (middle 50%)</a:t>
            </a:r>
            <a:endParaRPr b="0" i="0" sz="1200" u="none" cap="none" strike="noStrike">
              <a:solidFill>
                <a:schemeClr val="dk1"/>
              </a:solidFill>
              <a:latin typeface="Calibri"/>
              <a:ea typeface="Calibri"/>
              <a:cs typeface="Calibri"/>
              <a:sym typeface="Calibri"/>
            </a:endParaRPr>
          </a:p>
        </p:txBody>
      </p:sp>
      <p:sp>
        <p:nvSpPr>
          <p:cNvPr id="293" name="Google Shape;293;p8"/>
          <p:cNvSpPr/>
          <p:nvPr/>
        </p:nvSpPr>
        <p:spPr>
          <a:xfrm>
            <a:off x="9601150" y="2305100"/>
            <a:ext cx="1778000" cy="314854"/>
          </a:xfrm>
          <a:prstGeom prst="roundRect">
            <a:avLst>
              <a:gd fmla="val 50000" name="adj"/>
            </a:avLst>
          </a:prstGeom>
          <a:solidFill>
            <a:srgbClr val="F9A8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8"/>
          <p:cNvSpPr/>
          <p:nvPr/>
        </p:nvSpPr>
        <p:spPr>
          <a:xfrm>
            <a:off x="9677350" y="2355900"/>
            <a:ext cx="1625600" cy="238654"/>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041E42"/>
              </a:buClr>
              <a:buSzPts val="1200"/>
              <a:buFont typeface="DM Sans"/>
              <a:buNone/>
            </a:pPr>
            <a:r>
              <a:rPr b="1" i="0" lang="en-US" sz="1200" u="none" cap="none" strike="noStrike">
                <a:solidFill>
                  <a:srgbClr val="041E42"/>
                </a:solidFill>
                <a:latin typeface="DM Sans"/>
                <a:ea typeface="DM Sans"/>
                <a:cs typeface="DM Sans"/>
                <a:sym typeface="DM Sans"/>
              </a:rPr>
              <a:t>Why is this here?</a:t>
            </a:r>
            <a:endParaRPr b="0" i="0" sz="1200" u="none" cap="none" strike="noStrike">
              <a:solidFill>
                <a:schemeClr val="dk1"/>
              </a:solidFill>
              <a:latin typeface="Calibri"/>
              <a:ea typeface="Calibri"/>
              <a:cs typeface="Calibri"/>
              <a:sym typeface="Calibri"/>
            </a:endParaRPr>
          </a:p>
        </p:txBody>
      </p:sp>
      <p:sp>
        <p:nvSpPr>
          <p:cNvPr id="295" name="Google Shape;295;p8"/>
          <p:cNvSpPr/>
          <p:nvPr/>
        </p:nvSpPr>
        <p:spPr>
          <a:xfrm>
            <a:off x="5638750" y="3549715"/>
            <a:ext cx="812800" cy="23872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3B4A63"/>
              </a:buClr>
              <a:buSzPts val="1200"/>
              <a:buFont typeface="DM Sans"/>
              <a:buNone/>
            </a:pPr>
            <a:r>
              <a:rPr b="0" i="0" lang="en-US" sz="1200" u="none" cap="none" strike="noStrike">
                <a:solidFill>
                  <a:srgbClr val="3B4A63"/>
                </a:solidFill>
                <a:latin typeface="DM Sans"/>
                <a:ea typeface="DM Sans"/>
                <a:cs typeface="DM Sans"/>
                <a:sym typeface="DM Sans"/>
              </a:rPr>
              <a:t>Whisker</a:t>
            </a:r>
            <a:endParaRPr b="0" i="0" sz="1200" u="none" cap="none" strike="noStrike">
              <a:solidFill>
                <a:schemeClr val="dk1"/>
              </a:solidFill>
              <a:latin typeface="Calibri"/>
              <a:ea typeface="Calibri"/>
              <a:cs typeface="Calibri"/>
              <a:sym typeface="Calibri"/>
            </a:endParaRPr>
          </a:p>
        </p:txBody>
      </p:sp>
      <p:sp>
        <p:nvSpPr>
          <p:cNvPr id="296" name="Google Shape;296;p8"/>
          <p:cNvSpPr/>
          <p:nvPr/>
        </p:nvSpPr>
        <p:spPr>
          <a:xfrm>
            <a:off x="6972250" y="3549715"/>
            <a:ext cx="431800" cy="23872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041E42"/>
              </a:buClr>
              <a:buSzPts val="1200"/>
              <a:buFont typeface="DM Sans"/>
              <a:buNone/>
            </a:pPr>
            <a:r>
              <a:rPr b="1" i="0" lang="en-US" sz="1200" u="none" cap="none" strike="noStrike">
                <a:solidFill>
                  <a:srgbClr val="041E42"/>
                </a:solidFill>
                <a:latin typeface="DM Sans"/>
                <a:ea typeface="DM Sans"/>
                <a:cs typeface="DM Sans"/>
                <a:sym typeface="DM Sans"/>
              </a:rPr>
              <a:t>Q1</a:t>
            </a:r>
            <a:endParaRPr b="0" i="0" sz="1200" u="none" cap="none" strike="noStrike">
              <a:solidFill>
                <a:schemeClr val="dk1"/>
              </a:solidFill>
              <a:latin typeface="Calibri"/>
              <a:ea typeface="Calibri"/>
              <a:cs typeface="Calibri"/>
              <a:sym typeface="Calibri"/>
            </a:endParaRPr>
          </a:p>
        </p:txBody>
      </p:sp>
      <p:sp>
        <p:nvSpPr>
          <p:cNvPr id="297" name="Google Shape;297;p8"/>
          <p:cNvSpPr/>
          <p:nvPr/>
        </p:nvSpPr>
        <p:spPr>
          <a:xfrm>
            <a:off x="7448500" y="3549715"/>
            <a:ext cx="622300" cy="23872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041E42"/>
              </a:buClr>
              <a:buSzPts val="1200"/>
              <a:buFont typeface="DM Sans"/>
              <a:buNone/>
            </a:pPr>
            <a:r>
              <a:rPr b="1" i="0" lang="en-US" sz="1200" u="none" cap="none" strike="noStrike">
                <a:solidFill>
                  <a:srgbClr val="041E42"/>
                </a:solidFill>
                <a:latin typeface="DM Sans"/>
                <a:ea typeface="DM Sans"/>
                <a:cs typeface="DM Sans"/>
                <a:sym typeface="DM Sans"/>
              </a:rPr>
              <a:t>Median</a:t>
            </a:r>
            <a:endParaRPr b="0" i="0" sz="1200" u="none" cap="none" strike="noStrike">
              <a:solidFill>
                <a:schemeClr val="dk1"/>
              </a:solidFill>
              <a:latin typeface="Calibri"/>
              <a:ea typeface="Calibri"/>
              <a:cs typeface="Calibri"/>
              <a:sym typeface="Calibri"/>
            </a:endParaRPr>
          </a:p>
        </p:txBody>
      </p:sp>
      <p:sp>
        <p:nvSpPr>
          <p:cNvPr id="298" name="Google Shape;298;p8"/>
          <p:cNvSpPr/>
          <p:nvPr/>
        </p:nvSpPr>
        <p:spPr>
          <a:xfrm>
            <a:off x="8026326" y="3549715"/>
            <a:ext cx="368300" cy="23872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041E42"/>
              </a:buClr>
              <a:buSzPts val="1200"/>
              <a:buFont typeface="DM Sans"/>
              <a:buNone/>
            </a:pPr>
            <a:r>
              <a:rPr b="1" i="0" lang="en-US" sz="1200" u="none" cap="none" strike="noStrike">
                <a:solidFill>
                  <a:srgbClr val="041E42"/>
                </a:solidFill>
                <a:latin typeface="DM Sans"/>
                <a:ea typeface="DM Sans"/>
                <a:cs typeface="DM Sans"/>
                <a:sym typeface="DM Sans"/>
              </a:rPr>
              <a:t>Q3</a:t>
            </a:r>
            <a:endParaRPr b="0" i="0" sz="1200" u="none" cap="none" strike="noStrike">
              <a:solidFill>
                <a:schemeClr val="dk1"/>
              </a:solidFill>
              <a:latin typeface="Calibri"/>
              <a:ea typeface="Calibri"/>
              <a:cs typeface="Calibri"/>
              <a:sym typeface="Calibri"/>
            </a:endParaRPr>
          </a:p>
        </p:txBody>
      </p:sp>
      <p:sp>
        <p:nvSpPr>
          <p:cNvPr id="299" name="Google Shape;299;p8"/>
          <p:cNvSpPr/>
          <p:nvPr/>
        </p:nvSpPr>
        <p:spPr>
          <a:xfrm>
            <a:off x="9131250" y="3549715"/>
            <a:ext cx="685800" cy="23872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3B4A63"/>
              </a:buClr>
              <a:buSzPts val="1200"/>
              <a:buFont typeface="DM Sans"/>
              <a:buNone/>
            </a:pPr>
            <a:r>
              <a:rPr b="0" i="0" lang="en-US" sz="1200" u="none" cap="none" strike="noStrike">
                <a:solidFill>
                  <a:srgbClr val="3B4A63"/>
                </a:solidFill>
                <a:latin typeface="DM Sans"/>
                <a:ea typeface="DM Sans"/>
                <a:cs typeface="DM Sans"/>
                <a:sym typeface="DM Sans"/>
              </a:rPr>
              <a:t>Whisker</a:t>
            </a:r>
            <a:endParaRPr b="0" i="0" sz="1200" u="none" cap="none" strike="noStrike">
              <a:solidFill>
                <a:schemeClr val="dk1"/>
              </a:solidFill>
              <a:latin typeface="Calibri"/>
              <a:ea typeface="Calibri"/>
              <a:cs typeface="Calibri"/>
              <a:sym typeface="Calibri"/>
            </a:endParaRPr>
          </a:p>
        </p:txBody>
      </p:sp>
      <p:sp>
        <p:nvSpPr>
          <p:cNvPr id="300" name="Google Shape;300;p8"/>
          <p:cNvSpPr/>
          <p:nvPr/>
        </p:nvSpPr>
        <p:spPr>
          <a:xfrm>
            <a:off x="5283150" y="4044981"/>
            <a:ext cx="627896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880"/>
              </a:buClr>
              <a:buSzPts val="1200"/>
              <a:buFont typeface="DM Sans"/>
              <a:buNone/>
            </a:pPr>
            <a:r>
              <a:rPr b="1" i="0" lang="en-US" sz="1200" u="none" cap="none" strike="noStrike">
                <a:solidFill>
                  <a:srgbClr val="5A6880"/>
                </a:solidFill>
                <a:latin typeface="DM Sans"/>
                <a:ea typeface="DM Sans"/>
                <a:cs typeface="DM Sans"/>
                <a:sym typeface="DM Sans"/>
              </a:rPr>
              <a:t>COUNTS PER CATEGORY</a:t>
            </a:r>
            <a:endParaRPr b="0" i="0" sz="1200" u="none" cap="none" strike="noStrike">
              <a:solidFill>
                <a:schemeClr val="dk1"/>
              </a:solidFill>
              <a:latin typeface="Calibri"/>
              <a:ea typeface="Calibri"/>
              <a:cs typeface="Calibri"/>
              <a:sym typeface="Calibri"/>
            </a:endParaRPr>
          </a:p>
        </p:txBody>
      </p:sp>
      <p:sp>
        <p:nvSpPr>
          <p:cNvPr id="301" name="Google Shape;301;p8"/>
          <p:cNvSpPr/>
          <p:nvPr/>
        </p:nvSpPr>
        <p:spPr>
          <a:xfrm>
            <a:off x="5283150" y="4334495"/>
            <a:ext cx="11303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200"/>
              <a:buFont typeface="DM Sans"/>
              <a:buNone/>
            </a:pPr>
            <a:r>
              <a:rPr b="0" i="0" lang="en-US" sz="1200" u="none" cap="none" strike="noStrike">
                <a:solidFill>
                  <a:srgbClr val="041E42"/>
                </a:solidFill>
                <a:latin typeface="DM Sans"/>
                <a:ea typeface="DM Sans"/>
                <a:cs typeface="DM Sans"/>
                <a:sym typeface="DM Sans"/>
              </a:rPr>
              <a:t>Category A</a:t>
            </a:r>
            <a:endParaRPr b="0" i="0" sz="1200" u="none" cap="none" strike="noStrike">
              <a:solidFill>
                <a:schemeClr val="dk1"/>
              </a:solidFill>
              <a:latin typeface="Calibri"/>
              <a:ea typeface="Calibri"/>
              <a:cs typeface="Calibri"/>
              <a:sym typeface="Calibri"/>
            </a:endParaRPr>
          </a:p>
        </p:txBody>
      </p:sp>
      <p:sp>
        <p:nvSpPr>
          <p:cNvPr id="302" name="Google Shape;302;p8"/>
          <p:cNvSpPr/>
          <p:nvPr/>
        </p:nvSpPr>
        <p:spPr>
          <a:xfrm>
            <a:off x="6464226" y="4339537"/>
            <a:ext cx="3048000" cy="203192"/>
          </a:xfrm>
          <a:prstGeom prst="roundRect">
            <a:avLst>
              <a:gd fmla="val 18751" name="adj"/>
            </a:avLst>
          </a:prstGeom>
          <a:solidFill>
            <a:srgbClr val="1E40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8"/>
          <p:cNvSpPr/>
          <p:nvPr/>
        </p:nvSpPr>
        <p:spPr>
          <a:xfrm>
            <a:off x="9613801" y="4334495"/>
            <a:ext cx="24626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200"/>
              <a:buFont typeface="DM Sans"/>
              <a:buNone/>
            </a:pPr>
            <a:r>
              <a:rPr b="1" i="0" lang="en-US" sz="1200" u="none" cap="none" strike="noStrike">
                <a:solidFill>
                  <a:srgbClr val="041E42"/>
                </a:solidFill>
                <a:latin typeface="DM Sans"/>
                <a:ea typeface="DM Sans"/>
                <a:cs typeface="DM Sans"/>
                <a:sym typeface="DM Sans"/>
              </a:rPr>
              <a:t>48</a:t>
            </a:r>
            <a:endParaRPr b="0" i="0" sz="1200" u="none" cap="none" strike="noStrike">
              <a:solidFill>
                <a:schemeClr val="dk1"/>
              </a:solidFill>
              <a:latin typeface="Calibri"/>
              <a:ea typeface="Calibri"/>
              <a:cs typeface="Calibri"/>
              <a:sym typeface="Calibri"/>
            </a:endParaRPr>
          </a:p>
        </p:txBody>
      </p:sp>
      <p:sp>
        <p:nvSpPr>
          <p:cNvPr id="304" name="Google Shape;304;p8"/>
          <p:cNvSpPr/>
          <p:nvPr/>
        </p:nvSpPr>
        <p:spPr>
          <a:xfrm>
            <a:off x="5283150" y="4624003"/>
            <a:ext cx="11303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200"/>
              <a:buFont typeface="DM Sans"/>
              <a:buNone/>
            </a:pPr>
            <a:r>
              <a:rPr b="0" i="0" lang="en-US" sz="1200" u="none" cap="none" strike="noStrike">
                <a:solidFill>
                  <a:srgbClr val="041E42"/>
                </a:solidFill>
                <a:latin typeface="DM Sans"/>
                <a:ea typeface="DM Sans"/>
                <a:cs typeface="DM Sans"/>
                <a:sym typeface="DM Sans"/>
              </a:rPr>
              <a:t>Category B</a:t>
            </a:r>
            <a:endParaRPr b="0" i="0" sz="1200" u="none" cap="none" strike="noStrike">
              <a:solidFill>
                <a:schemeClr val="dk1"/>
              </a:solidFill>
              <a:latin typeface="Calibri"/>
              <a:ea typeface="Calibri"/>
              <a:cs typeface="Calibri"/>
              <a:sym typeface="Calibri"/>
            </a:endParaRPr>
          </a:p>
        </p:txBody>
      </p:sp>
      <p:sp>
        <p:nvSpPr>
          <p:cNvPr id="305" name="Google Shape;305;p8"/>
          <p:cNvSpPr/>
          <p:nvPr/>
        </p:nvSpPr>
        <p:spPr>
          <a:xfrm>
            <a:off x="6464226" y="4629051"/>
            <a:ext cx="2032000" cy="203192"/>
          </a:xfrm>
          <a:prstGeom prst="roundRect">
            <a:avLst>
              <a:gd fmla="val 18751" name="adj"/>
            </a:avLst>
          </a:prstGeom>
          <a:solidFill>
            <a:srgbClr val="1E40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8"/>
          <p:cNvSpPr/>
          <p:nvPr/>
        </p:nvSpPr>
        <p:spPr>
          <a:xfrm>
            <a:off x="8597801" y="4624003"/>
            <a:ext cx="230717"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200"/>
              <a:buFont typeface="DM Sans"/>
              <a:buNone/>
            </a:pPr>
            <a:r>
              <a:rPr b="1" i="0" lang="en-US" sz="1200" u="none" cap="none" strike="noStrike">
                <a:solidFill>
                  <a:srgbClr val="041E42"/>
                </a:solidFill>
                <a:latin typeface="DM Sans"/>
                <a:ea typeface="DM Sans"/>
                <a:cs typeface="DM Sans"/>
                <a:sym typeface="DM Sans"/>
              </a:rPr>
              <a:t>32</a:t>
            </a:r>
            <a:endParaRPr b="0" i="0" sz="1200" u="none" cap="none" strike="noStrike">
              <a:solidFill>
                <a:schemeClr val="dk1"/>
              </a:solidFill>
              <a:latin typeface="Calibri"/>
              <a:ea typeface="Calibri"/>
              <a:cs typeface="Calibri"/>
              <a:sym typeface="Calibri"/>
            </a:endParaRPr>
          </a:p>
        </p:txBody>
      </p:sp>
      <p:sp>
        <p:nvSpPr>
          <p:cNvPr id="307" name="Google Shape;307;p8"/>
          <p:cNvSpPr/>
          <p:nvPr/>
        </p:nvSpPr>
        <p:spPr>
          <a:xfrm>
            <a:off x="5283150" y="4913517"/>
            <a:ext cx="11303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200"/>
              <a:buFont typeface="DM Sans"/>
              <a:buNone/>
            </a:pPr>
            <a:r>
              <a:rPr b="0" i="0" lang="en-US" sz="1200" u="none" cap="none" strike="noStrike">
                <a:solidFill>
                  <a:srgbClr val="041E42"/>
                </a:solidFill>
                <a:latin typeface="DM Sans"/>
                <a:ea typeface="DM Sans"/>
                <a:cs typeface="DM Sans"/>
                <a:sym typeface="DM Sans"/>
              </a:rPr>
              <a:t>Category C</a:t>
            </a:r>
            <a:endParaRPr b="0" i="0" sz="1200" u="none" cap="none" strike="noStrike">
              <a:solidFill>
                <a:schemeClr val="dk1"/>
              </a:solidFill>
              <a:latin typeface="Calibri"/>
              <a:ea typeface="Calibri"/>
              <a:cs typeface="Calibri"/>
              <a:sym typeface="Calibri"/>
            </a:endParaRPr>
          </a:p>
        </p:txBody>
      </p:sp>
      <p:sp>
        <p:nvSpPr>
          <p:cNvPr id="308" name="Google Shape;308;p8"/>
          <p:cNvSpPr/>
          <p:nvPr/>
        </p:nvSpPr>
        <p:spPr>
          <a:xfrm>
            <a:off x="6464226" y="4918559"/>
            <a:ext cx="952500" cy="203192"/>
          </a:xfrm>
          <a:prstGeom prst="roundRect">
            <a:avLst>
              <a:gd fmla="val 18751" name="adj"/>
            </a:avLst>
          </a:prstGeom>
          <a:solidFill>
            <a:srgbClr val="1E40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8"/>
          <p:cNvSpPr/>
          <p:nvPr/>
        </p:nvSpPr>
        <p:spPr>
          <a:xfrm>
            <a:off x="7518301" y="4913517"/>
            <a:ext cx="20091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200"/>
              <a:buFont typeface="DM Sans"/>
              <a:buNone/>
            </a:pPr>
            <a:r>
              <a:rPr b="1" i="0" lang="en-US" sz="1200" u="none" cap="none" strike="noStrike">
                <a:solidFill>
                  <a:srgbClr val="041E42"/>
                </a:solidFill>
                <a:latin typeface="DM Sans"/>
                <a:ea typeface="DM Sans"/>
                <a:cs typeface="DM Sans"/>
                <a:sym typeface="DM Sans"/>
              </a:rPr>
              <a:t>15</a:t>
            </a:r>
            <a:endParaRPr b="0" i="0" sz="1200" u="none" cap="none" strike="noStrike">
              <a:solidFill>
                <a:schemeClr val="dk1"/>
              </a:solidFill>
              <a:latin typeface="Calibri"/>
              <a:ea typeface="Calibri"/>
              <a:cs typeface="Calibri"/>
              <a:sym typeface="Calibri"/>
            </a:endParaRPr>
          </a:p>
        </p:txBody>
      </p:sp>
      <p:sp>
        <p:nvSpPr>
          <p:cNvPr id="310" name="Google Shape;310;p8"/>
          <p:cNvSpPr/>
          <p:nvPr/>
        </p:nvSpPr>
        <p:spPr>
          <a:xfrm>
            <a:off x="5283150" y="5203031"/>
            <a:ext cx="11303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200"/>
              <a:buFont typeface="DM Sans"/>
              <a:buNone/>
            </a:pPr>
            <a:r>
              <a:rPr b="0" i="0" lang="en-US" sz="1200" u="none" cap="none" strike="noStrike">
                <a:solidFill>
                  <a:srgbClr val="041E42"/>
                </a:solidFill>
                <a:latin typeface="DM Sans"/>
                <a:ea typeface="DM Sans"/>
                <a:cs typeface="DM Sans"/>
                <a:sym typeface="DM Sans"/>
              </a:rPr>
              <a:t>Category D</a:t>
            </a:r>
            <a:endParaRPr b="0" i="0" sz="1200" u="none" cap="none" strike="noStrike">
              <a:solidFill>
                <a:schemeClr val="dk1"/>
              </a:solidFill>
              <a:latin typeface="Calibri"/>
              <a:ea typeface="Calibri"/>
              <a:cs typeface="Calibri"/>
              <a:sym typeface="Calibri"/>
            </a:endParaRPr>
          </a:p>
        </p:txBody>
      </p:sp>
      <p:sp>
        <p:nvSpPr>
          <p:cNvPr id="311" name="Google Shape;311;p8"/>
          <p:cNvSpPr/>
          <p:nvPr/>
        </p:nvSpPr>
        <p:spPr>
          <a:xfrm>
            <a:off x="6464226" y="5208073"/>
            <a:ext cx="317500" cy="203192"/>
          </a:xfrm>
          <a:prstGeom prst="roundRect">
            <a:avLst>
              <a:gd fmla="val 18751" name="adj"/>
            </a:avLst>
          </a:prstGeom>
          <a:solidFill>
            <a:srgbClr val="F9A8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8"/>
          <p:cNvSpPr/>
          <p:nvPr/>
        </p:nvSpPr>
        <p:spPr>
          <a:xfrm>
            <a:off x="6883301" y="5203031"/>
            <a:ext cx="609443"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200"/>
              <a:buFont typeface="DM Sans"/>
              <a:buNone/>
            </a:pPr>
            <a:r>
              <a:rPr b="1" i="0" lang="en-US" sz="1200" u="none" cap="none" strike="noStrike">
                <a:solidFill>
                  <a:srgbClr val="041E42"/>
                </a:solidFill>
                <a:latin typeface="DM Sans"/>
                <a:ea typeface="DM Sans"/>
                <a:cs typeface="DM Sans"/>
                <a:sym typeface="DM Sans"/>
              </a:rPr>
              <a:t>5 (rare)</a:t>
            </a:r>
            <a:endParaRPr b="0" i="0" sz="1200" u="none" cap="none" strike="noStrike">
              <a:solidFill>
                <a:schemeClr val="dk1"/>
              </a:solidFill>
              <a:latin typeface="Calibri"/>
              <a:ea typeface="Calibri"/>
              <a:cs typeface="Calibri"/>
              <a:sym typeface="Calibri"/>
            </a:endParaRPr>
          </a:p>
        </p:txBody>
      </p:sp>
      <p:sp>
        <p:nvSpPr>
          <p:cNvPr id="313" name="Google Shape;313;p8"/>
          <p:cNvSpPr/>
          <p:nvPr/>
        </p:nvSpPr>
        <p:spPr>
          <a:xfrm>
            <a:off x="9385350" y="711191"/>
            <a:ext cx="279383" cy="279383"/>
          </a:xfrm>
          <a:prstGeom prst="roundRect">
            <a:avLst>
              <a:gd fmla="val 50000" name="adj"/>
            </a:avLst>
          </a:prstGeom>
          <a:solidFill>
            <a:srgbClr val="1E40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8"/>
          <p:cNvSpPr/>
          <p:nvPr/>
        </p:nvSpPr>
        <p:spPr>
          <a:xfrm>
            <a:off x="9359950" y="711191"/>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F6F7F9"/>
              </a:buClr>
              <a:buSzPts val="1200"/>
              <a:buFont typeface="DM Sans"/>
              <a:buNone/>
            </a:pPr>
            <a:r>
              <a:rPr b="1" i="0" lang="en-US" sz="1200" u="none" cap="none" strike="noStrike">
                <a:solidFill>
                  <a:srgbClr val="F6F7F9"/>
                </a:solidFill>
                <a:latin typeface="DM Sans"/>
                <a:ea typeface="DM Sans"/>
                <a:cs typeface="DM Sans"/>
                <a:sym typeface="DM Sans"/>
              </a:rPr>
              <a:t>1</a:t>
            </a:r>
            <a:endParaRPr b="0" i="0" sz="1200" u="none" cap="none" strike="noStrike">
              <a:solidFill>
                <a:schemeClr val="dk1"/>
              </a:solidFill>
              <a:latin typeface="Calibri"/>
              <a:ea typeface="Calibri"/>
              <a:cs typeface="Calibri"/>
              <a:sym typeface="Calibri"/>
            </a:endParaRPr>
          </a:p>
        </p:txBody>
      </p:sp>
      <p:sp>
        <p:nvSpPr>
          <p:cNvPr id="315" name="Google Shape;315;p8"/>
          <p:cNvSpPr/>
          <p:nvPr/>
        </p:nvSpPr>
        <p:spPr>
          <a:xfrm>
            <a:off x="9728233" y="711191"/>
            <a:ext cx="279383" cy="279383"/>
          </a:xfrm>
          <a:prstGeom prst="roundRect">
            <a:avLst>
              <a:gd fmla="val 50000" name="adj"/>
            </a:avLst>
          </a:prstGeom>
          <a:solidFill>
            <a:srgbClr val="1E40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8"/>
          <p:cNvSpPr/>
          <p:nvPr/>
        </p:nvSpPr>
        <p:spPr>
          <a:xfrm>
            <a:off x="9702833" y="711191"/>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F6F7F9"/>
              </a:buClr>
              <a:buSzPts val="1200"/>
              <a:buFont typeface="DM Sans"/>
              <a:buNone/>
            </a:pPr>
            <a:r>
              <a:rPr b="1" i="0" lang="en-US" sz="1200" u="none" cap="none" strike="noStrike">
                <a:solidFill>
                  <a:srgbClr val="F6F7F9"/>
                </a:solidFill>
                <a:latin typeface="DM Sans"/>
                <a:ea typeface="DM Sans"/>
                <a:cs typeface="DM Sans"/>
                <a:sym typeface="DM Sans"/>
              </a:rPr>
              <a:t>2</a:t>
            </a:r>
            <a:endParaRPr b="0" i="0" sz="1200" u="none" cap="none" strike="noStrike">
              <a:solidFill>
                <a:schemeClr val="dk1"/>
              </a:solidFill>
              <a:latin typeface="Calibri"/>
              <a:ea typeface="Calibri"/>
              <a:cs typeface="Calibri"/>
              <a:sym typeface="Calibri"/>
            </a:endParaRPr>
          </a:p>
        </p:txBody>
      </p:sp>
      <p:sp>
        <p:nvSpPr>
          <p:cNvPr id="317" name="Google Shape;317;p8"/>
          <p:cNvSpPr/>
          <p:nvPr/>
        </p:nvSpPr>
        <p:spPr>
          <a:xfrm>
            <a:off x="10071116" y="711191"/>
            <a:ext cx="279383" cy="279383"/>
          </a:xfrm>
          <a:prstGeom prst="roundRect">
            <a:avLst>
              <a:gd fmla="val 50000" name="adj"/>
            </a:avLst>
          </a:prstGeom>
          <a:solidFill>
            <a:srgbClr val="F9A8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8"/>
          <p:cNvSpPr/>
          <p:nvPr/>
        </p:nvSpPr>
        <p:spPr>
          <a:xfrm>
            <a:off x="10045716" y="711191"/>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041E42"/>
              </a:buClr>
              <a:buSzPts val="1200"/>
              <a:buFont typeface="DM Sans"/>
              <a:buNone/>
            </a:pPr>
            <a:r>
              <a:rPr b="1" i="0" lang="en-US" sz="1200" u="none" cap="none" strike="noStrike">
                <a:solidFill>
                  <a:srgbClr val="041E42"/>
                </a:solidFill>
                <a:latin typeface="DM Sans"/>
                <a:ea typeface="DM Sans"/>
                <a:cs typeface="DM Sans"/>
                <a:sym typeface="DM Sans"/>
              </a:rPr>
              <a:t>3</a:t>
            </a:r>
            <a:endParaRPr b="0" i="0" sz="1200" u="none" cap="none" strike="noStrike">
              <a:solidFill>
                <a:schemeClr val="dk1"/>
              </a:solidFill>
              <a:latin typeface="Calibri"/>
              <a:ea typeface="Calibri"/>
              <a:cs typeface="Calibri"/>
              <a:sym typeface="Calibri"/>
            </a:endParaRPr>
          </a:p>
        </p:txBody>
      </p:sp>
      <p:sp>
        <p:nvSpPr>
          <p:cNvPr id="319" name="Google Shape;319;p8"/>
          <p:cNvSpPr/>
          <p:nvPr/>
        </p:nvSpPr>
        <p:spPr>
          <a:xfrm>
            <a:off x="10414000" y="711191"/>
            <a:ext cx="279383" cy="279383"/>
          </a:xfrm>
          <a:prstGeom prst="roundRect">
            <a:avLst>
              <a:gd fmla="val 50000" name="adj"/>
            </a:avLst>
          </a:prstGeom>
          <a:solidFill>
            <a:srgbClr val="DCE6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8"/>
          <p:cNvSpPr/>
          <p:nvPr/>
        </p:nvSpPr>
        <p:spPr>
          <a:xfrm>
            <a:off x="10388600" y="711191"/>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1E407C"/>
              </a:buClr>
              <a:buSzPts val="1200"/>
              <a:buFont typeface="DM Sans"/>
              <a:buNone/>
            </a:pPr>
            <a:r>
              <a:rPr b="1" i="0" lang="en-US" sz="1200" u="none" cap="none" strike="noStrike">
                <a:solidFill>
                  <a:srgbClr val="1E407C"/>
                </a:solidFill>
                <a:latin typeface="DM Sans"/>
                <a:ea typeface="DM Sans"/>
                <a:cs typeface="DM Sans"/>
                <a:sym typeface="DM Sans"/>
              </a:rPr>
              <a:t>4</a:t>
            </a:r>
            <a:endParaRPr b="0" i="0" sz="1200" u="none" cap="none" strike="noStrike">
              <a:solidFill>
                <a:schemeClr val="dk1"/>
              </a:solidFill>
              <a:latin typeface="Calibri"/>
              <a:ea typeface="Calibri"/>
              <a:cs typeface="Calibri"/>
              <a:sym typeface="Calibri"/>
            </a:endParaRPr>
          </a:p>
        </p:txBody>
      </p:sp>
      <p:sp>
        <p:nvSpPr>
          <p:cNvPr id="321" name="Google Shape;321;p8"/>
          <p:cNvSpPr/>
          <p:nvPr/>
        </p:nvSpPr>
        <p:spPr>
          <a:xfrm>
            <a:off x="10756883" y="711191"/>
            <a:ext cx="279383" cy="279383"/>
          </a:xfrm>
          <a:prstGeom prst="roundRect">
            <a:avLst>
              <a:gd fmla="val 50000" name="adj"/>
            </a:avLst>
          </a:prstGeom>
          <a:solidFill>
            <a:srgbClr val="DCE6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8"/>
          <p:cNvSpPr/>
          <p:nvPr/>
        </p:nvSpPr>
        <p:spPr>
          <a:xfrm>
            <a:off x="10731483" y="711191"/>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1E407C"/>
              </a:buClr>
              <a:buSzPts val="1200"/>
              <a:buFont typeface="DM Sans"/>
              <a:buNone/>
            </a:pPr>
            <a:r>
              <a:rPr b="1" i="0" lang="en-US" sz="1200" u="none" cap="none" strike="noStrike">
                <a:solidFill>
                  <a:srgbClr val="1E407C"/>
                </a:solidFill>
                <a:latin typeface="DM Sans"/>
                <a:ea typeface="DM Sans"/>
                <a:cs typeface="DM Sans"/>
                <a:sym typeface="DM Sans"/>
              </a:rPr>
              <a:t>5</a:t>
            </a:r>
            <a:endParaRPr b="0" i="0" sz="1200" u="none" cap="none" strike="noStrike">
              <a:solidFill>
                <a:schemeClr val="dk1"/>
              </a:solidFill>
              <a:latin typeface="Calibri"/>
              <a:ea typeface="Calibri"/>
              <a:cs typeface="Calibri"/>
              <a:sym typeface="Calibri"/>
            </a:endParaRPr>
          </a:p>
        </p:txBody>
      </p:sp>
      <p:sp>
        <p:nvSpPr>
          <p:cNvPr id="323" name="Google Shape;323;p8"/>
          <p:cNvSpPr/>
          <p:nvPr/>
        </p:nvSpPr>
        <p:spPr>
          <a:xfrm>
            <a:off x="11099767" y="711191"/>
            <a:ext cx="279383" cy="279383"/>
          </a:xfrm>
          <a:prstGeom prst="roundRect">
            <a:avLst>
              <a:gd fmla="val 50000" name="adj"/>
            </a:avLst>
          </a:prstGeom>
          <a:solidFill>
            <a:srgbClr val="DCE6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8"/>
          <p:cNvSpPr/>
          <p:nvPr/>
        </p:nvSpPr>
        <p:spPr>
          <a:xfrm>
            <a:off x="11074367" y="711191"/>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1E407C"/>
              </a:buClr>
              <a:buSzPts val="1200"/>
              <a:buFont typeface="DM Sans"/>
              <a:buNone/>
            </a:pPr>
            <a:r>
              <a:rPr b="1" i="0" lang="en-US" sz="1200" u="none" cap="none" strike="noStrike">
                <a:solidFill>
                  <a:srgbClr val="1E407C"/>
                </a:solidFill>
                <a:latin typeface="DM Sans"/>
                <a:ea typeface="DM Sans"/>
                <a:cs typeface="DM Sans"/>
                <a:sym typeface="DM Sans"/>
              </a:rPr>
              <a:t>6</a:t>
            </a:r>
            <a:endParaRPr b="0" i="0" sz="1200" u="none" cap="none" strike="noStrike">
              <a:solidFill>
                <a:schemeClr val="dk1"/>
              </a:solidFill>
              <a:latin typeface="Calibri"/>
              <a:ea typeface="Calibri"/>
              <a:cs typeface="Calibri"/>
              <a:sym typeface="Calibri"/>
            </a:endParaRPr>
          </a:p>
        </p:txBody>
      </p:sp>
      <p:sp>
        <p:nvSpPr>
          <p:cNvPr id="325" name="Google Shape;325;p8"/>
          <p:cNvSpPr/>
          <p:nvPr/>
        </p:nvSpPr>
        <p:spPr>
          <a:xfrm>
            <a:off x="812767" y="6237015"/>
            <a:ext cx="325734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880"/>
              </a:buClr>
              <a:buSzPts val="1200"/>
              <a:buFont typeface="DM Sans"/>
              <a:buNone/>
            </a:pPr>
            <a:r>
              <a:rPr b="0" i="0" lang="en-US" sz="1200" u="none" cap="none" strike="noStrike">
                <a:solidFill>
                  <a:srgbClr val="5A6880"/>
                </a:solidFill>
                <a:latin typeface="DM Sans"/>
                <a:ea typeface="DM Sans"/>
                <a:cs typeface="DM Sans"/>
                <a:sym typeface="DM Sans"/>
              </a:rPr>
              <a:t>Nittany Data Labs · Exploratory Data Analysis</a:t>
            </a:r>
            <a:endParaRPr b="0" i="0" sz="1200" u="none" cap="none" strike="noStrike">
              <a:solidFill>
                <a:schemeClr val="dk1"/>
              </a:solidFill>
              <a:latin typeface="Calibri"/>
              <a:ea typeface="Calibri"/>
              <a:cs typeface="Calibri"/>
              <a:sym typeface="Calibri"/>
            </a:endParaRPr>
          </a:p>
        </p:txBody>
      </p:sp>
      <p:sp>
        <p:nvSpPr>
          <p:cNvPr id="326" name="Google Shape;326;p8"/>
          <p:cNvSpPr/>
          <p:nvPr/>
        </p:nvSpPr>
        <p:spPr>
          <a:xfrm>
            <a:off x="11286463" y="6237015"/>
            <a:ext cx="143487"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880"/>
              </a:buClr>
              <a:buSzPts val="1200"/>
              <a:buFont typeface="DM Sans"/>
              <a:buNone/>
            </a:pPr>
            <a:r>
              <a:rPr b="0" i="0" lang="en-US" sz="1200" u="none" cap="none" strike="noStrike">
                <a:solidFill>
                  <a:srgbClr val="5A6880"/>
                </a:solidFill>
                <a:latin typeface="DM Sans"/>
                <a:ea typeface="DM Sans"/>
                <a:cs typeface="DM Sans"/>
                <a:sym typeface="DM Sans"/>
              </a:rPr>
              <a:t>8</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9"/>
        </a:solidFill>
      </p:bgPr>
    </p:bg>
    <p:spTree>
      <p:nvGrpSpPr>
        <p:cNvPr id="331" name="Shape 331"/>
        <p:cNvGrpSpPr/>
        <p:nvPr/>
      </p:nvGrpSpPr>
      <p:grpSpPr>
        <a:xfrm>
          <a:off x="0" y="0"/>
          <a:ext cx="0" cy="0"/>
          <a:chOff x="0" y="0"/>
          <a:chExt cx="0" cy="0"/>
        </a:xfrm>
      </p:grpSpPr>
      <p:sp>
        <p:nvSpPr>
          <p:cNvPr id="332" name="Google Shape;332;p9"/>
          <p:cNvSpPr/>
          <p:nvPr/>
        </p:nvSpPr>
        <p:spPr>
          <a:xfrm>
            <a:off x="812767" y="812763"/>
            <a:ext cx="1088346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E407C"/>
              </a:buClr>
              <a:buSzPts val="1200"/>
              <a:buFont typeface="DM Sans"/>
              <a:buNone/>
            </a:pPr>
            <a:r>
              <a:rPr b="1" i="0" lang="en-US" sz="1200" u="none" cap="none" strike="noStrike">
                <a:solidFill>
                  <a:srgbClr val="1E407C"/>
                </a:solidFill>
                <a:latin typeface="DM Sans"/>
                <a:ea typeface="DM Sans"/>
                <a:cs typeface="DM Sans"/>
                <a:sym typeface="DM Sans"/>
              </a:rPr>
              <a:t>STEP 4 OF 6</a:t>
            </a:r>
            <a:endParaRPr b="0" i="0" sz="1200" u="none" cap="none" strike="noStrike">
              <a:solidFill>
                <a:schemeClr val="dk1"/>
              </a:solidFill>
              <a:latin typeface="Calibri"/>
              <a:ea typeface="Calibri"/>
              <a:cs typeface="Calibri"/>
              <a:sym typeface="Calibri"/>
            </a:endParaRPr>
          </a:p>
        </p:txBody>
      </p:sp>
      <p:sp>
        <p:nvSpPr>
          <p:cNvPr id="333" name="Google Shape;333;p9"/>
          <p:cNvSpPr/>
          <p:nvPr/>
        </p:nvSpPr>
        <p:spPr>
          <a:xfrm>
            <a:off x="812767" y="1102277"/>
            <a:ext cx="10883460" cy="472422"/>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041E42"/>
              </a:buClr>
              <a:buSzPts val="3200"/>
              <a:buFont typeface="DM Sans"/>
              <a:buNone/>
            </a:pPr>
            <a:r>
              <a:rPr b="1" i="0" lang="en-US" sz="3200" u="none" cap="none" strike="noStrike">
                <a:solidFill>
                  <a:srgbClr val="041E42"/>
                </a:solidFill>
                <a:latin typeface="DM Sans"/>
                <a:ea typeface="DM Sans"/>
                <a:cs typeface="DM Sans"/>
                <a:sym typeface="DM Sans"/>
              </a:rPr>
              <a:t>Two variables: relationships</a:t>
            </a:r>
            <a:endParaRPr b="0" i="0" sz="3200" u="none" cap="none" strike="noStrike">
              <a:solidFill>
                <a:schemeClr val="dk1"/>
              </a:solidFill>
              <a:latin typeface="Calibri"/>
              <a:ea typeface="Calibri"/>
              <a:cs typeface="Calibri"/>
              <a:sym typeface="Calibri"/>
            </a:endParaRPr>
          </a:p>
        </p:txBody>
      </p:sp>
      <p:cxnSp>
        <p:nvCxnSpPr>
          <p:cNvPr id="334" name="Google Shape;334;p9"/>
          <p:cNvCxnSpPr/>
          <p:nvPr/>
        </p:nvCxnSpPr>
        <p:spPr>
          <a:xfrm>
            <a:off x="831817" y="2964197"/>
            <a:ext cx="0" cy="289512"/>
          </a:xfrm>
          <a:prstGeom prst="straightConnector1">
            <a:avLst/>
          </a:prstGeom>
          <a:noFill/>
          <a:ln cap="flat" cmpd="sng" w="38100">
            <a:solidFill>
              <a:srgbClr val="F9A826"/>
            </a:solidFill>
            <a:prstDash val="solid"/>
            <a:round/>
            <a:headEnd len="sm" w="sm" type="none"/>
            <a:tailEnd len="sm" w="sm" type="none"/>
          </a:ln>
        </p:spPr>
      </p:cxnSp>
      <p:sp>
        <p:nvSpPr>
          <p:cNvPr id="335" name="Google Shape;335;p9"/>
          <p:cNvSpPr/>
          <p:nvPr/>
        </p:nvSpPr>
        <p:spPr>
          <a:xfrm>
            <a:off x="1002209" y="2976897"/>
            <a:ext cx="3859985" cy="28951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B4A63"/>
              </a:buClr>
              <a:buSzPts val="1600"/>
              <a:buFont typeface="DM Sans"/>
              <a:buNone/>
            </a:pPr>
            <a:r>
              <a:rPr b="1" i="0" lang="en-US" sz="1600" u="none" cap="none" strike="noStrike">
                <a:solidFill>
                  <a:srgbClr val="3B4A63"/>
                </a:solidFill>
                <a:latin typeface="DM Sans"/>
                <a:ea typeface="DM Sans"/>
                <a:cs typeface="DM Sans"/>
                <a:sym typeface="DM Sans"/>
              </a:rPr>
              <a:t>Scatter plots</a:t>
            </a:r>
            <a:r>
              <a:rPr b="0" i="0" lang="en-US" sz="1600" u="none" cap="none" strike="noStrike">
                <a:solidFill>
                  <a:srgbClr val="3B4A63"/>
                </a:solidFill>
                <a:latin typeface="DM Sans"/>
                <a:ea typeface="DM Sans"/>
                <a:cs typeface="DM Sans"/>
                <a:sym typeface="DM Sans"/>
              </a:rPr>
              <a:t> for two numeric variables</a:t>
            </a:r>
            <a:endParaRPr b="0" i="0" sz="1600" u="none" cap="none" strike="noStrike">
              <a:solidFill>
                <a:schemeClr val="dk1"/>
              </a:solidFill>
              <a:latin typeface="Calibri"/>
              <a:ea typeface="Calibri"/>
              <a:cs typeface="Calibri"/>
              <a:sym typeface="Calibri"/>
            </a:endParaRPr>
          </a:p>
        </p:txBody>
      </p:sp>
      <p:cxnSp>
        <p:nvCxnSpPr>
          <p:cNvPr id="336" name="Google Shape;336;p9"/>
          <p:cNvCxnSpPr/>
          <p:nvPr/>
        </p:nvCxnSpPr>
        <p:spPr>
          <a:xfrm>
            <a:off x="831817" y="3456905"/>
            <a:ext cx="0" cy="289512"/>
          </a:xfrm>
          <a:prstGeom prst="straightConnector1">
            <a:avLst/>
          </a:prstGeom>
          <a:noFill/>
          <a:ln cap="flat" cmpd="sng" w="38100">
            <a:solidFill>
              <a:srgbClr val="F9A826"/>
            </a:solidFill>
            <a:prstDash val="solid"/>
            <a:round/>
            <a:headEnd len="sm" w="sm" type="none"/>
            <a:tailEnd len="sm" w="sm" type="none"/>
          </a:ln>
        </p:spPr>
      </p:cxnSp>
      <p:sp>
        <p:nvSpPr>
          <p:cNvPr id="337" name="Google Shape;337;p9"/>
          <p:cNvSpPr/>
          <p:nvPr/>
        </p:nvSpPr>
        <p:spPr>
          <a:xfrm>
            <a:off x="1002209" y="3469605"/>
            <a:ext cx="3859985" cy="28951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B4A63"/>
              </a:buClr>
              <a:buSzPts val="1600"/>
              <a:buFont typeface="DM Sans"/>
              <a:buNone/>
            </a:pPr>
            <a:r>
              <a:rPr b="0" i="0" lang="en-US" sz="1600" u="none" cap="none" strike="noStrike">
                <a:solidFill>
                  <a:srgbClr val="3B4A63"/>
                </a:solidFill>
                <a:latin typeface="DM Sans"/>
                <a:ea typeface="DM Sans"/>
                <a:cs typeface="DM Sans"/>
                <a:sym typeface="DM Sans"/>
              </a:rPr>
              <a:t>Correlation </a:t>
            </a:r>
            <a:r>
              <a:rPr b="1" i="0" lang="en-US" sz="1600" u="none" cap="none" strike="noStrike">
                <a:solidFill>
                  <a:srgbClr val="3B4A63"/>
                </a:solidFill>
                <a:latin typeface="DM Sans"/>
                <a:ea typeface="DM Sans"/>
                <a:cs typeface="DM Sans"/>
                <a:sym typeface="DM Sans"/>
              </a:rPr>
              <a:t>r</a:t>
            </a:r>
            <a:r>
              <a:rPr b="0" i="0" lang="en-US" sz="1600" u="none" cap="none" strike="noStrike">
                <a:solidFill>
                  <a:srgbClr val="3B4A63"/>
                </a:solidFill>
                <a:latin typeface="DM Sans"/>
                <a:ea typeface="DM Sans"/>
                <a:cs typeface="DM Sans"/>
                <a:sym typeface="DM Sans"/>
              </a:rPr>
              <a:t> runs from −1 to +1</a:t>
            </a:r>
            <a:endParaRPr b="0" i="0" sz="1600" u="none" cap="none" strike="noStrike">
              <a:solidFill>
                <a:schemeClr val="dk1"/>
              </a:solidFill>
              <a:latin typeface="Calibri"/>
              <a:ea typeface="Calibri"/>
              <a:cs typeface="Calibri"/>
              <a:sym typeface="Calibri"/>
            </a:endParaRPr>
          </a:p>
        </p:txBody>
      </p:sp>
      <p:cxnSp>
        <p:nvCxnSpPr>
          <p:cNvPr id="338" name="Google Shape;338;p9"/>
          <p:cNvCxnSpPr/>
          <p:nvPr/>
        </p:nvCxnSpPr>
        <p:spPr>
          <a:xfrm>
            <a:off x="831817" y="3949607"/>
            <a:ext cx="0" cy="289512"/>
          </a:xfrm>
          <a:prstGeom prst="straightConnector1">
            <a:avLst/>
          </a:prstGeom>
          <a:noFill/>
          <a:ln cap="flat" cmpd="sng" w="38100">
            <a:solidFill>
              <a:srgbClr val="F9A826"/>
            </a:solidFill>
            <a:prstDash val="solid"/>
            <a:round/>
            <a:headEnd len="sm" w="sm" type="none"/>
            <a:tailEnd len="sm" w="sm" type="none"/>
          </a:ln>
        </p:spPr>
      </p:cxnSp>
      <p:sp>
        <p:nvSpPr>
          <p:cNvPr id="339" name="Google Shape;339;p9"/>
          <p:cNvSpPr/>
          <p:nvPr/>
        </p:nvSpPr>
        <p:spPr>
          <a:xfrm>
            <a:off x="1002209" y="3962307"/>
            <a:ext cx="3859985" cy="28951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B4A63"/>
              </a:buClr>
              <a:buSzPts val="1600"/>
              <a:buFont typeface="DM Sans"/>
              <a:buNone/>
            </a:pPr>
            <a:r>
              <a:rPr b="1" i="0" lang="en-US" sz="1600" u="none" cap="none" strike="noStrike">
                <a:solidFill>
                  <a:srgbClr val="3B4A63"/>
                </a:solidFill>
                <a:latin typeface="DM Sans"/>
                <a:ea typeface="DM Sans"/>
                <a:cs typeface="DM Sans"/>
                <a:sym typeface="DM Sans"/>
              </a:rPr>
              <a:t>Sign</a:t>
            </a:r>
            <a:r>
              <a:rPr b="0" i="0" lang="en-US" sz="1600" u="none" cap="none" strike="noStrike">
                <a:solidFill>
                  <a:srgbClr val="3B4A63"/>
                </a:solidFill>
                <a:latin typeface="DM Sans"/>
                <a:ea typeface="DM Sans"/>
                <a:cs typeface="DM Sans"/>
                <a:sym typeface="DM Sans"/>
              </a:rPr>
              <a:t> = direction, </a:t>
            </a:r>
            <a:r>
              <a:rPr b="1" i="0" lang="en-US" sz="1600" u="none" cap="none" strike="noStrike">
                <a:solidFill>
                  <a:srgbClr val="3B4A63"/>
                </a:solidFill>
                <a:latin typeface="DM Sans"/>
                <a:ea typeface="DM Sans"/>
                <a:cs typeface="DM Sans"/>
                <a:sym typeface="DM Sans"/>
              </a:rPr>
              <a:t>size</a:t>
            </a:r>
            <a:r>
              <a:rPr b="0" i="0" lang="en-US" sz="1600" u="none" cap="none" strike="noStrike">
                <a:solidFill>
                  <a:srgbClr val="3B4A63"/>
                </a:solidFill>
                <a:latin typeface="DM Sans"/>
                <a:ea typeface="DM Sans"/>
                <a:cs typeface="DM Sans"/>
                <a:sym typeface="DM Sans"/>
              </a:rPr>
              <a:t> = strength</a:t>
            </a:r>
            <a:endParaRPr b="0" i="0" sz="1600" u="none" cap="none" strike="noStrike">
              <a:solidFill>
                <a:schemeClr val="dk1"/>
              </a:solidFill>
              <a:latin typeface="Calibri"/>
              <a:ea typeface="Calibri"/>
              <a:cs typeface="Calibri"/>
              <a:sym typeface="Calibri"/>
            </a:endParaRPr>
          </a:p>
        </p:txBody>
      </p:sp>
      <p:cxnSp>
        <p:nvCxnSpPr>
          <p:cNvPr id="340" name="Google Shape;340;p9"/>
          <p:cNvCxnSpPr/>
          <p:nvPr/>
        </p:nvCxnSpPr>
        <p:spPr>
          <a:xfrm>
            <a:off x="831817" y="4442309"/>
            <a:ext cx="0" cy="289512"/>
          </a:xfrm>
          <a:prstGeom prst="straightConnector1">
            <a:avLst/>
          </a:prstGeom>
          <a:noFill/>
          <a:ln cap="flat" cmpd="sng" w="38100">
            <a:solidFill>
              <a:srgbClr val="F9A826"/>
            </a:solidFill>
            <a:prstDash val="solid"/>
            <a:round/>
            <a:headEnd len="sm" w="sm" type="none"/>
            <a:tailEnd len="sm" w="sm" type="none"/>
          </a:ln>
        </p:spPr>
      </p:cxnSp>
      <p:sp>
        <p:nvSpPr>
          <p:cNvPr id="341" name="Google Shape;341;p9"/>
          <p:cNvSpPr/>
          <p:nvPr/>
        </p:nvSpPr>
        <p:spPr>
          <a:xfrm>
            <a:off x="1002209" y="4455009"/>
            <a:ext cx="3859985" cy="28951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B4A63"/>
              </a:buClr>
              <a:buSzPts val="1600"/>
              <a:buFont typeface="DM Sans"/>
              <a:buNone/>
            </a:pPr>
            <a:r>
              <a:rPr b="0" i="0" lang="en-US" sz="1600" u="none" cap="none" strike="noStrike">
                <a:solidFill>
                  <a:srgbClr val="3B4A63"/>
                </a:solidFill>
                <a:latin typeface="DM Sans"/>
                <a:ea typeface="DM Sans"/>
                <a:cs typeface="DM Sans"/>
                <a:sym typeface="DM Sans"/>
              </a:rPr>
              <a:t>Near 0 = no </a:t>
            </a:r>
            <a:r>
              <a:rPr b="1" i="0" lang="en-US" sz="1600" u="none" cap="none" strike="noStrike">
                <a:solidFill>
                  <a:srgbClr val="3B4A63"/>
                </a:solidFill>
                <a:latin typeface="DM Sans"/>
                <a:ea typeface="DM Sans"/>
                <a:cs typeface="DM Sans"/>
                <a:sym typeface="DM Sans"/>
              </a:rPr>
              <a:t>straight-line</a:t>
            </a:r>
            <a:r>
              <a:rPr b="0" i="0" lang="en-US" sz="1600" u="none" cap="none" strike="noStrike">
                <a:solidFill>
                  <a:srgbClr val="3B4A63"/>
                </a:solidFill>
                <a:latin typeface="DM Sans"/>
                <a:ea typeface="DM Sans"/>
                <a:cs typeface="DM Sans"/>
                <a:sym typeface="DM Sans"/>
              </a:rPr>
              <a:t> link</a:t>
            </a:r>
            <a:endParaRPr b="0" i="0" sz="1600" u="none" cap="none" strike="noStrike">
              <a:solidFill>
                <a:schemeClr val="dk1"/>
              </a:solidFill>
              <a:latin typeface="Calibri"/>
              <a:ea typeface="Calibri"/>
              <a:cs typeface="Calibri"/>
              <a:sym typeface="Calibri"/>
            </a:endParaRPr>
          </a:p>
        </p:txBody>
      </p:sp>
      <p:pic>
        <p:nvPicPr>
          <p:cNvPr descr="Scatter plot with no correlation, r about 0" id="342" name="Google Shape;342;p9"/>
          <p:cNvPicPr preferRelativeResize="0"/>
          <p:nvPr/>
        </p:nvPicPr>
        <p:blipFill rotWithShape="1">
          <a:blip r:embed="rId3">
            <a:alphaModFix/>
          </a:blip>
          <a:srcRect b="0" l="0" r="0" t="0"/>
          <a:stretch/>
        </p:blipFill>
        <p:spPr>
          <a:xfrm>
            <a:off x="5499116" y="2476537"/>
            <a:ext cx="1676383" cy="1536692"/>
          </a:xfrm>
          <a:prstGeom prst="rect">
            <a:avLst/>
          </a:prstGeom>
          <a:noFill/>
          <a:ln>
            <a:noFill/>
          </a:ln>
        </p:spPr>
      </p:pic>
      <p:sp>
        <p:nvSpPr>
          <p:cNvPr id="343" name="Google Shape;343;p9"/>
          <p:cNvSpPr/>
          <p:nvPr/>
        </p:nvSpPr>
        <p:spPr>
          <a:xfrm>
            <a:off x="6120557" y="4051306"/>
            <a:ext cx="484262" cy="309868"/>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600"/>
              <a:buFont typeface="DM Sans"/>
              <a:buNone/>
            </a:pPr>
            <a:r>
              <a:rPr b="1" i="0" lang="en-US" sz="1600" u="none" cap="none" strike="noStrike">
                <a:solidFill>
                  <a:srgbClr val="041E42"/>
                </a:solidFill>
                <a:latin typeface="DM Sans"/>
                <a:ea typeface="DM Sans"/>
                <a:cs typeface="DM Sans"/>
                <a:sym typeface="DM Sans"/>
              </a:rPr>
              <a:t>r ≈ 0</a:t>
            </a:r>
            <a:endParaRPr b="0" i="0" sz="1600" u="none" cap="none" strike="noStrike">
              <a:solidFill>
                <a:schemeClr val="dk1"/>
              </a:solidFill>
              <a:latin typeface="Calibri"/>
              <a:ea typeface="Calibri"/>
              <a:cs typeface="Calibri"/>
              <a:sym typeface="Calibri"/>
            </a:endParaRPr>
          </a:p>
        </p:txBody>
      </p:sp>
      <p:sp>
        <p:nvSpPr>
          <p:cNvPr id="344" name="Google Shape;344;p9"/>
          <p:cNvSpPr/>
          <p:nvPr/>
        </p:nvSpPr>
        <p:spPr>
          <a:xfrm>
            <a:off x="5898472" y="4373848"/>
            <a:ext cx="92847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880"/>
              </a:buClr>
              <a:buSzPts val="1200"/>
              <a:buFont typeface="DM Sans"/>
              <a:buNone/>
            </a:pPr>
            <a:r>
              <a:rPr b="0" i="0" lang="en-US" sz="1200" u="none" cap="none" strike="noStrike">
                <a:solidFill>
                  <a:srgbClr val="5A6880"/>
                </a:solidFill>
                <a:latin typeface="DM Sans"/>
                <a:ea typeface="DM Sans"/>
                <a:cs typeface="DM Sans"/>
                <a:sym typeface="DM Sans"/>
              </a:rPr>
              <a:t>no linear link</a:t>
            </a:r>
            <a:endParaRPr b="0" i="0" sz="1200" u="none" cap="none" strike="noStrike">
              <a:solidFill>
                <a:schemeClr val="dk1"/>
              </a:solidFill>
              <a:latin typeface="Calibri"/>
              <a:ea typeface="Calibri"/>
              <a:cs typeface="Calibri"/>
              <a:sym typeface="Calibri"/>
            </a:endParaRPr>
          </a:p>
        </p:txBody>
      </p:sp>
      <p:pic>
        <p:nvPicPr>
          <p:cNvPr descr="Scatter plot with weak negative correlation, r about -0.4" id="345" name="Google Shape;345;p9"/>
          <p:cNvPicPr preferRelativeResize="0"/>
          <p:nvPr/>
        </p:nvPicPr>
        <p:blipFill rotWithShape="1">
          <a:blip r:embed="rId4">
            <a:alphaModFix/>
          </a:blip>
          <a:srcRect b="0" l="0" r="0" t="0"/>
          <a:stretch/>
        </p:blipFill>
        <p:spPr>
          <a:xfrm>
            <a:off x="7429500" y="2476537"/>
            <a:ext cx="1676383" cy="1536692"/>
          </a:xfrm>
          <a:prstGeom prst="rect">
            <a:avLst/>
          </a:prstGeom>
          <a:noFill/>
          <a:ln>
            <a:noFill/>
          </a:ln>
        </p:spPr>
      </p:pic>
      <p:sp>
        <p:nvSpPr>
          <p:cNvPr id="346" name="Google Shape;346;p9"/>
          <p:cNvSpPr/>
          <p:nvPr/>
        </p:nvSpPr>
        <p:spPr>
          <a:xfrm>
            <a:off x="7904468" y="4051306"/>
            <a:ext cx="777205" cy="309868"/>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600"/>
              <a:buFont typeface="DM Sans"/>
              <a:buNone/>
            </a:pPr>
            <a:r>
              <a:rPr b="1" i="0" lang="en-US" sz="1600" u="none" cap="none" strike="noStrike">
                <a:solidFill>
                  <a:srgbClr val="041E42"/>
                </a:solidFill>
                <a:latin typeface="DM Sans"/>
                <a:ea typeface="DM Sans"/>
                <a:cs typeface="DM Sans"/>
                <a:sym typeface="DM Sans"/>
              </a:rPr>
              <a:t>r ≈ −0.4</a:t>
            </a:r>
            <a:endParaRPr b="0" i="0" sz="1600" u="none" cap="none" strike="noStrike">
              <a:solidFill>
                <a:schemeClr val="dk1"/>
              </a:solidFill>
              <a:latin typeface="Calibri"/>
              <a:ea typeface="Calibri"/>
              <a:cs typeface="Calibri"/>
              <a:sym typeface="Calibri"/>
            </a:endParaRPr>
          </a:p>
        </p:txBody>
      </p:sp>
      <p:sp>
        <p:nvSpPr>
          <p:cNvPr id="347" name="Google Shape;347;p9"/>
          <p:cNvSpPr/>
          <p:nvPr/>
        </p:nvSpPr>
        <p:spPr>
          <a:xfrm>
            <a:off x="7768166" y="4373848"/>
            <a:ext cx="104980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880"/>
              </a:buClr>
              <a:buSzPts val="1200"/>
              <a:buFont typeface="DM Sans"/>
              <a:buNone/>
            </a:pPr>
            <a:r>
              <a:rPr b="0" i="0" lang="en-US" sz="1200" u="none" cap="none" strike="noStrike">
                <a:solidFill>
                  <a:srgbClr val="5A6880"/>
                </a:solidFill>
                <a:latin typeface="DM Sans"/>
                <a:ea typeface="DM Sans"/>
                <a:cs typeface="DM Sans"/>
                <a:sym typeface="DM Sans"/>
              </a:rPr>
              <a:t>weak negative</a:t>
            </a:r>
            <a:endParaRPr b="0" i="0" sz="1200" u="none" cap="none" strike="noStrike">
              <a:solidFill>
                <a:schemeClr val="dk1"/>
              </a:solidFill>
              <a:latin typeface="Calibri"/>
              <a:ea typeface="Calibri"/>
              <a:cs typeface="Calibri"/>
              <a:sym typeface="Calibri"/>
            </a:endParaRPr>
          </a:p>
        </p:txBody>
      </p:sp>
      <p:pic>
        <p:nvPicPr>
          <p:cNvPr descr="Scatter plot with strong positive correlation, r about 0.85" id="348" name="Google Shape;348;p9"/>
          <p:cNvPicPr preferRelativeResize="0"/>
          <p:nvPr/>
        </p:nvPicPr>
        <p:blipFill rotWithShape="1">
          <a:blip r:embed="rId5">
            <a:alphaModFix/>
          </a:blip>
          <a:srcRect b="0" l="0" r="0" t="0"/>
          <a:stretch/>
        </p:blipFill>
        <p:spPr>
          <a:xfrm>
            <a:off x="9359883" y="2476537"/>
            <a:ext cx="1676383" cy="1536692"/>
          </a:xfrm>
          <a:prstGeom prst="rect">
            <a:avLst/>
          </a:prstGeom>
          <a:noFill/>
          <a:ln>
            <a:noFill/>
          </a:ln>
        </p:spPr>
      </p:pic>
      <p:sp>
        <p:nvSpPr>
          <p:cNvPr id="349" name="Google Shape;349;p9"/>
          <p:cNvSpPr/>
          <p:nvPr/>
        </p:nvSpPr>
        <p:spPr>
          <a:xfrm>
            <a:off x="9773625" y="4051306"/>
            <a:ext cx="899699" cy="309868"/>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600"/>
              <a:buFont typeface="DM Sans"/>
              <a:buNone/>
            </a:pPr>
            <a:r>
              <a:rPr b="1" i="0" lang="en-US" sz="1600" u="none" cap="none" strike="noStrike">
                <a:solidFill>
                  <a:srgbClr val="041E42"/>
                </a:solidFill>
                <a:latin typeface="DM Sans"/>
                <a:ea typeface="DM Sans"/>
                <a:cs typeface="DM Sans"/>
                <a:sym typeface="DM Sans"/>
              </a:rPr>
              <a:t>r ≈ +0.85</a:t>
            </a:r>
            <a:endParaRPr b="0" i="0" sz="1600" u="none" cap="none" strike="noStrike">
              <a:solidFill>
                <a:schemeClr val="dk1"/>
              </a:solidFill>
              <a:latin typeface="Calibri"/>
              <a:ea typeface="Calibri"/>
              <a:cs typeface="Calibri"/>
              <a:sym typeface="Calibri"/>
            </a:endParaRPr>
          </a:p>
        </p:txBody>
      </p:sp>
      <p:sp>
        <p:nvSpPr>
          <p:cNvPr id="350" name="Google Shape;350;p9"/>
          <p:cNvSpPr/>
          <p:nvPr/>
        </p:nvSpPr>
        <p:spPr>
          <a:xfrm>
            <a:off x="9674034" y="4373848"/>
            <a:ext cx="109888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880"/>
              </a:buClr>
              <a:buSzPts val="1200"/>
              <a:buFont typeface="DM Sans"/>
              <a:buNone/>
            </a:pPr>
            <a:r>
              <a:rPr b="0" i="0" lang="en-US" sz="1200" u="none" cap="none" strike="noStrike">
                <a:solidFill>
                  <a:srgbClr val="5A6880"/>
                </a:solidFill>
                <a:latin typeface="DM Sans"/>
                <a:ea typeface="DM Sans"/>
                <a:cs typeface="DM Sans"/>
                <a:sym typeface="DM Sans"/>
              </a:rPr>
              <a:t>strong positive</a:t>
            </a:r>
            <a:endParaRPr b="0" i="0" sz="1200" u="none" cap="none" strike="noStrike">
              <a:solidFill>
                <a:schemeClr val="dk1"/>
              </a:solidFill>
              <a:latin typeface="Calibri"/>
              <a:ea typeface="Calibri"/>
              <a:cs typeface="Calibri"/>
              <a:sym typeface="Calibri"/>
            </a:endParaRPr>
          </a:p>
        </p:txBody>
      </p:sp>
      <p:sp>
        <p:nvSpPr>
          <p:cNvPr id="351" name="Google Shape;351;p9"/>
          <p:cNvSpPr/>
          <p:nvPr/>
        </p:nvSpPr>
        <p:spPr>
          <a:xfrm>
            <a:off x="5156150" y="4764937"/>
            <a:ext cx="6223083" cy="177767"/>
          </a:xfrm>
          <a:prstGeom prst="roundRect">
            <a:avLst>
              <a:gd fmla="val 50000" name="adj"/>
            </a:avLst>
          </a:prstGeom>
          <a:gradFill>
            <a:gsLst>
              <a:gs pos="0">
                <a:srgbClr val="F9A826"/>
              </a:gs>
              <a:gs pos="35000">
                <a:srgbClr val="FCE3BF"/>
              </a:gs>
              <a:gs pos="50000">
                <a:srgbClr val="EEF1F6"/>
              </a:gs>
              <a:gs pos="65000">
                <a:srgbClr val="8FA9D3"/>
              </a:gs>
              <a:gs pos="100000">
                <a:srgbClr val="041E42"/>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9"/>
          <p:cNvSpPr/>
          <p:nvPr/>
        </p:nvSpPr>
        <p:spPr>
          <a:xfrm>
            <a:off x="5156150" y="5006206"/>
            <a:ext cx="139285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B4A63"/>
              </a:buClr>
              <a:buSzPts val="1200"/>
              <a:buFont typeface="DM Sans"/>
              <a:buNone/>
            </a:pPr>
            <a:r>
              <a:rPr b="1" i="0" lang="en-US" sz="1200" u="none" cap="none" strike="noStrike">
                <a:solidFill>
                  <a:srgbClr val="3B4A63"/>
                </a:solidFill>
                <a:latin typeface="DM Sans"/>
                <a:ea typeface="DM Sans"/>
                <a:cs typeface="DM Sans"/>
                <a:sym typeface="DM Sans"/>
              </a:rPr>
              <a:t>−1</a:t>
            </a:r>
            <a:r>
              <a:rPr b="0" i="0" lang="en-US" sz="1200" u="none" cap="none" strike="noStrike">
                <a:solidFill>
                  <a:srgbClr val="3B4A63"/>
                </a:solidFill>
                <a:latin typeface="DM Sans"/>
                <a:ea typeface="DM Sans"/>
                <a:cs typeface="DM Sans"/>
                <a:sym typeface="DM Sans"/>
              </a:rPr>
              <a:t> perfect negative</a:t>
            </a:r>
            <a:endParaRPr b="0" i="0" sz="1200" u="none" cap="none" strike="noStrike">
              <a:solidFill>
                <a:schemeClr val="dk1"/>
              </a:solidFill>
              <a:latin typeface="Calibri"/>
              <a:ea typeface="Calibri"/>
              <a:cs typeface="Calibri"/>
              <a:sym typeface="Calibri"/>
            </a:endParaRPr>
          </a:p>
        </p:txBody>
      </p:sp>
      <p:sp>
        <p:nvSpPr>
          <p:cNvPr id="353" name="Google Shape;353;p9"/>
          <p:cNvSpPr/>
          <p:nvPr/>
        </p:nvSpPr>
        <p:spPr>
          <a:xfrm>
            <a:off x="8038124" y="5006206"/>
            <a:ext cx="55053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B4A63"/>
              </a:buClr>
              <a:buSzPts val="1200"/>
              <a:buFont typeface="DM Sans"/>
              <a:buNone/>
            </a:pPr>
            <a:r>
              <a:rPr b="1" i="0" lang="en-US" sz="1200" u="none" cap="none" strike="noStrike">
                <a:solidFill>
                  <a:srgbClr val="3B4A63"/>
                </a:solidFill>
                <a:latin typeface="DM Sans"/>
                <a:ea typeface="DM Sans"/>
                <a:cs typeface="DM Sans"/>
                <a:sym typeface="DM Sans"/>
              </a:rPr>
              <a:t>0</a:t>
            </a:r>
            <a:r>
              <a:rPr b="0" i="0" lang="en-US" sz="1200" u="none" cap="none" strike="noStrike">
                <a:solidFill>
                  <a:srgbClr val="3B4A63"/>
                </a:solidFill>
                <a:latin typeface="DM Sans"/>
                <a:ea typeface="DM Sans"/>
                <a:cs typeface="DM Sans"/>
                <a:sym typeface="DM Sans"/>
              </a:rPr>
              <a:t> none</a:t>
            </a:r>
            <a:endParaRPr b="0" i="0" sz="1200" u="none" cap="none" strike="noStrike">
              <a:solidFill>
                <a:schemeClr val="dk1"/>
              </a:solidFill>
              <a:latin typeface="Calibri"/>
              <a:ea typeface="Calibri"/>
              <a:cs typeface="Calibri"/>
              <a:sym typeface="Calibri"/>
            </a:endParaRPr>
          </a:p>
        </p:txBody>
      </p:sp>
      <p:sp>
        <p:nvSpPr>
          <p:cNvPr id="354" name="Google Shape;354;p9"/>
          <p:cNvSpPr/>
          <p:nvPr/>
        </p:nvSpPr>
        <p:spPr>
          <a:xfrm>
            <a:off x="10077731" y="5006206"/>
            <a:ext cx="135230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B4A63"/>
              </a:buClr>
              <a:buSzPts val="1200"/>
              <a:buFont typeface="DM Sans"/>
              <a:buNone/>
            </a:pPr>
            <a:r>
              <a:rPr b="1" i="0" lang="en-US" sz="1200" u="none" cap="none" strike="noStrike">
                <a:solidFill>
                  <a:srgbClr val="3B4A63"/>
                </a:solidFill>
                <a:latin typeface="DM Sans"/>
                <a:ea typeface="DM Sans"/>
                <a:cs typeface="DM Sans"/>
                <a:sym typeface="DM Sans"/>
              </a:rPr>
              <a:t>+1</a:t>
            </a:r>
            <a:r>
              <a:rPr b="0" i="0" lang="en-US" sz="1200" u="none" cap="none" strike="noStrike">
                <a:solidFill>
                  <a:srgbClr val="3B4A63"/>
                </a:solidFill>
                <a:latin typeface="DM Sans"/>
                <a:ea typeface="DM Sans"/>
                <a:cs typeface="DM Sans"/>
                <a:sym typeface="DM Sans"/>
              </a:rPr>
              <a:t> perfect positive</a:t>
            </a:r>
            <a:endParaRPr b="0" i="0" sz="1200" u="none" cap="none" strike="noStrike">
              <a:solidFill>
                <a:schemeClr val="dk1"/>
              </a:solidFill>
              <a:latin typeface="Calibri"/>
              <a:ea typeface="Calibri"/>
              <a:cs typeface="Calibri"/>
              <a:sym typeface="Calibri"/>
            </a:endParaRPr>
          </a:p>
        </p:txBody>
      </p:sp>
      <p:sp>
        <p:nvSpPr>
          <p:cNvPr id="355" name="Google Shape;355;p9"/>
          <p:cNvSpPr/>
          <p:nvPr/>
        </p:nvSpPr>
        <p:spPr>
          <a:xfrm>
            <a:off x="9385350" y="711188"/>
            <a:ext cx="279383" cy="279383"/>
          </a:xfrm>
          <a:prstGeom prst="roundRect">
            <a:avLst>
              <a:gd fmla="val 50000" name="adj"/>
            </a:avLst>
          </a:prstGeom>
          <a:solidFill>
            <a:srgbClr val="1E40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9"/>
          <p:cNvSpPr/>
          <p:nvPr/>
        </p:nvSpPr>
        <p:spPr>
          <a:xfrm>
            <a:off x="9359950" y="711188"/>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F6F7F9"/>
              </a:buClr>
              <a:buSzPts val="1200"/>
              <a:buFont typeface="DM Sans"/>
              <a:buNone/>
            </a:pPr>
            <a:r>
              <a:rPr b="1" i="0" lang="en-US" sz="1200" u="none" cap="none" strike="noStrike">
                <a:solidFill>
                  <a:srgbClr val="F6F7F9"/>
                </a:solidFill>
                <a:latin typeface="DM Sans"/>
                <a:ea typeface="DM Sans"/>
                <a:cs typeface="DM Sans"/>
                <a:sym typeface="DM Sans"/>
              </a:rPr>
              <a:t>1</a:t>
            </a:r>
            <a:endParaRPr b="0" i="0" sz="1200" u="none" cap="none" strike="noStrike">
              <a:solidFill>
                <a:schemeClr val="dk1"/>
              </a:solidFill>
              <a:latin typeface="Calibri"/>
              <a:ea typeface="Calibri"/>
              <a:cs typeface="Calibri"/>
              <a:sym typeface="Calibri"/>
            </a:endParaRPr>
          </a:p>
        </p:txBody>
      </p:sp>
      <p:sp>
        <p:nvSpPr>
          <p:cNvPr id="357" name="Google Shape;357;p9"/>
          <p:cNvSpPr/>
          <p:nvPr/>
        </p:nvSpPr>
        <p:spPr>
          <a:xfrm>
            <a:off x="9728233" y="711188"/>
            <a:ext cx="279383" cy="279383"/>
          </a:xfrm>
          <a:prstGeom prst="roundRect">
            <a:avLst>
              <a:gd fmla="val 50000" name="adj"/>
            </a:avLst>
          </a:prstGeom>
          <a:solidFill>
            <a:srgbClr val="1E40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9"/>
          <p:cNvSpPr/>
          <p:nvPr/>
        </p:nvSpPr>
        <p:spPr>
          <a:xfrm>
            <a:off x="9702833" y="711188"/>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F6F7F9"/>
              </a:buClr>
              <a:buSzPts val="1200"/>
              <a:buFont typeface="DM Sans"/>
              <a:buNone/>
            </a:pPr>
            <a:r>
              <a:rPr b="1" i="0" lang="en-US" sz="1200" u="none" cap="none" strike="noStrike">
                <a:solidFill>
                  <a:srgbClr val="F6F7F9"/>
                </a:solidFill>
                <a:latin typeface="DM Sans"/>
                <a:ea typeface="DM Sans"/>
                <a:cs typeface="DM Sans"/>
                <a:sym typeface="DM Sans"/>
              </a:rPr>
              <a:t>2</a:t>
            </a:r>
            <a:endParaRPr b="0" i="0" sz="1200" u="none" cap="none" strike="noStrike">
              <a:solidFill>
                <a:schemeClr val="dk1"/>
              </a:solidFill>
              <a:latin typeface="Calibri"/>
              <a:ea typeface="Calibri"/>
              <a:cs typeface="Calibri"/>
              <a:sym typeface="Calibri"/>
            </a:endParaRPr>
          </a:p>
        </p:txBody>
      </p:sp>
      <p:sp>
        <p:nvSpPr>
          <p:cNvPr id="359" name="Google Shape;359;p9"/>
          <p:cNvSpPr/>
          <p:nvPr/>
        </p:nvSpPr>
        <p:spPr>
          <a:xfrm>
            <a:off x="10071116" y="711188"/>
            <a:ext cx="279383" cy="279383"/>
          </a:xfrm>
          <a:prstGeom prst="roundRect">
            <a:avLst>
              <a:gd fmla="val 50000" name="adj"/>
            </a:avLst>
          </a:prstGeom>
          <a:solidFill>
            <a:srgbClr val="1E40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9"/>
          <p:cNvSpPr/>
          <p:nvPr/>
        </p:nvSpPr>
        <p:spPr>
          <a:xfrm>
            <a:off x="10045716" y="711188"/>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F6F7F9"/>
              </a:buClr>
              <a:buSzPts val="1200"/>
              <a:buFont typeface="DM Sans"/>
              <a:buNone/>
            </a:pPr>
            <a:r>
              <a:rPr b="1" i="0" lang="en-US" sz="1200" u="none" cap="none" strike="noStrike">
                <a:solidFill>
                  <a:srgbClr val="F6F7F9"/>
                </a:solidFill>
                <a:latin typeface="DM Sans"/>
                <a:ea typeface="DM Sans"/>
                <a:cs typeface="DM Sans"/>
                <a:sym typeface="DM Sans"/>
              </a:rPr>
              <a:t>3</a:t>
            </a:r>
            <a:endParaRPr b="0" i="0" sz="1200" u="none" cap="none" strike="noStrike">
              <a:solidFill>
                <a:schemeClr val="dk1"/>
              </a:solidFill>
              <a:latin typeface="Calibri"/>
              <a:ea typeface="Calibri"/>
              <a:cs typeface="Calibri"/>
              <a:sym typeface="Calibri"/>
            </a:endParaRPr>
          </a:p>
        </p:txBody>
      </p:sp>
      <p:sp>
        <p:nvSpPr>
          <p:cNvPr id="361" name="Google Shape;361;p9"/>
          <p:cNvSpPr/>
          <p:nvPr/>
        </p:nvSpPr>
        <p:spPr>
          <a:xfrm>
            <a:off x="10414000" y="711188"/>
            <a:ext cx="279383" cy="279383"/>
          </a:xfrm>
          <a:prstGeom prst="roundRect">
            <a:avLst>
              <a:gd fmla="val 50000" name="adj"/>
            </a:avLst>
          </a:prstGeom>
          <a:solidFill>
            <a:srgbClr val="F9A8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9"/>
          <p:cNvSpPr/>
          <p:nvPr/>
        </p:nvSpPr>
        <p:spPr>
          <a:xfrm>
            <a:off x="10388600" y="711188"/>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041E42"/>
              </a:buClr>
              <a:buSzPts val="1200"/>
              <a:buFont typeface="DM Sans"/>
              <a:buNone/>
            </a:pPr>
            <a:r>
              <a:rPr b="1" i="0" lang="en-US" sz="1200" u="none" cap="none" strike="noStrike">
                <a:solidFill>
                  <a:srgbClr val="041E42"/>
                </a:solidFill>
                <a:latin typeface="DM Sans"/>
                <a:ea typeface="DM Sans"/>
                <a:cs typeface="DM Sans"/>
                <a:sym typeface="DM Sans"/>
              </a:rPr>
              <a:t>4</a:t>
            </a:r>
            <a:endParaRPr b="0" i="0" sz="1200" u="none" cap="none" strike="noStrike">
              <a:solidFill>
                <a:schemeClr val="dk1"/>
              </a:solidFill>
              <a:latin typeface="Calibri"/>
              <a:ea typeface="Calibri"/>
              <a:cs typeface="Calibri"/>
              <a:sym typeface="Calibri"/>
            </a:endParaRPr>
          </a:p>
        </p:txBody>
      </p:sp>
      <p:sp>
        <p:nvSpPr>
          <p:cNvPr id="363" name="Google Shape;363;p9"/>
          <p:cNvSpPr/>
          <p:nvPr/>
        </p:nvSpPr>
        <p:spPr>
          <a:xfrm>
            <a:off x="10756883" y="711188"/>
            <a:ext cx="279383" cy="279383"/>
          </a:xfrm>
          <a:prstGeom prst="roundRect">
            <a:avLst>
              <a:gd fmla="val 50000" name="adj"/>
            </a:avLst>
          </a:prstGeom>
          <a:solidFill>
            <a:srgbClr val="DCE6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9"/>
          <p:cNvSpPr/>
          <p:nvPr/>
        </p:nvSpPr>
        <p:spPr>
          <a:xfrm>
            <a:off x="10731483" y="711188"/>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1E407C"/>
              </a:buClr>
              <a:buSzPts val="1200"/>
              <a:buFont typeface="DM Sans"/>
              <a:buNone/>
            </a:pPr>
            <a:r>
              <a:rPr b="1" i="0" lang="en-US" sz="1200" u="none" cap="none" strike="noStrike">
                <a:solidFill>
                  <a:srgbClr val="1E407C"/>
                </a:solidFill>
                <a:latin typeface="DM Sans"/>
                <a:ea typeface="DM Sans"/>
                <a:cs typeface="DM Sans"/>
                <a:sym typeface="DM Sans"/>
              </a:rPr>
              <a:t>5</a:t>
            </a:r>
            <a:endParaRPr b="0" i="0" sz="1200" u="none" cap="none" strike="noStrike">
              <a:solidFill>
                <a:schemeClr val="dk1"/>
              </a:solidFill>
              <a:latin typeface="Calibri"/>
              <a:ea typeface="Calibri"/>
              <a:cs typeface="Calibri"/>
              <a:sym typeface="Calibri"/>
            </a:endParaRPr>
          </a:p>
        </p:txBody>
      </p:sp>
      <p:sp>
        <p:nvSpPr>
          <p:cNvPr id="365" name="Google Shape;365;p9"/>
          <p:cNvSpPr/>
          <p:nvPr/>
        </p:nvSpPr>
        <p:spPr>
          <a:xfrm>
            <a:off x="11099767" y="711188"/>
            <a:ext cx="279383" cy="279383"/>
          </a:xfrm>
          <a:prstGeom prst="roundRect">
            <a:avLst>
              <a:gd fmla="val 50000" name="adj"/>
            </a:avLst>
          </a:prstGeom>
          <a:solidFill>
            <a:srgbClr val="DCE6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9"/>
          <p:cNvSpPr/>
          <p:nvPr/>
        </p:nvSpPr>
        <p:spPr>
          <a:xfrm>
            <a:off x="11074367" y="711188"/>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1E407C"/>
              </a:buClr>
              <a:buSzPts val="1200"/>
              <a:buFont typeface="DM Sans"/>
              <a:buNone/>
            </a:pPr>
            <a:r>
              <a:rPr b="1" i="0" lang="en-US" sz="1200" u="none" cap="none" strike="noStrike">
                <a:solidFill>
                  <a:srgbClr val="1E407C"/>
                </a:solidFill>
                <a:latin typeface="DM Sans"/>
                <a:ea typeface="DM Sans"/>
                <a:cs typeface="DM Sans"/>
                <a:sym typeface="DM Sans"/>
              </a:rPr>
              <a:t>6</a:t>
            </a:r>
            <a:endParaRPr b="0" i="0" sz="1200" u="none" cap="none" strike="noStrike">
              <a:solidFill>
                <a:schemeClr val="dk1"/>
              </a:solidFill>
              <a:latin typeface="Calibri"/>
              <a:ea typeface="Calibri"/>
              <a:cs typeface="Calibri"/>
              <a:sym typeface="Calibri"/>
            </a:endParaRPr>
          </a:p>
        </p:txBody>
      </p:sp>
      <p:sp>
        <p:nvSpPr>
          <p:cNvPr id="367" name="Google Shape;367;p9"/>
          <p:cNvSpPr/>
          <p:nvPr/>
        </p:nvSpPr>
        <p:spPr>
          <a:xfrm>
            <a:off x="812767" y="6237015"/>
            <a:ext cx="325734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880"/>
              </a:buClr>
              <a:buSzPts val="1200"/>
              <a:buFont typeface="DM Sans"/>
              <a:buNone/>
            </a:pPr>
            <a:r>
              <a:rPr b="0" i="0" lang="en-US" sz="1200" u="none" cap="none" strike="noStrike">
                <a:solidFill>
                  <a:srgbClr val="5A6880"/>
                </a:solidFill>
                <a:latin typeface="DM Sans"/>
                <a:ea typeface="DM Sans"/>
                <a:cs typeface="DM Sans"/>
                <a:sym typeface="DM Sans"/>
              </a:rPr>
              <a:t>Nittany Data Labs · Exploratory Data Analysis</a:t>
            </a:r>
            <a:endParaRPr b="0" i="0" sz="1200" u="none" cap="none" strike="noStrike">
              <a:solidFill>
                <a:schemeClr val="dk1"/>
              </a:solidFill>
              <a:latin typeface="Calibri"/>
              <a:ea typeface="Calibri"/>
              <a:cs typeface="Calibri"/>
              <a:sym typeface="Calibri"/>
            </a:endParaRPr>
          </a:p>
        </p:txBody>
      </p:sp>
      <p:sp>
        <p:nvSpPr>
          <p:cNvPr id="368" name="Google Shape;368;p9"/>
          <p:cNvSpPr/>
          <p:nvPr/>
        </p:nvSpPr>
        <p:spPr>
          <a:xfrm>
            <a:off x="11283404" y="6237015"/>
            <a:ext cx="14654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880"/>
              </a:buClr>
              <a:buSzPts val="1200"/>
              <a:buFont typeface="DM Sans"/>
              <a:buNone/>
            </a:pPr>
            <a:r>
              <a:rPr b="0" i="0" lang="en-US" sz="1200" u="none" cap="none" strike="noStrike">
                <a:solidFill>
                  <a:srgbClr val="5A6880"/>
                </a:solidFill>
                <a:latin typeface="DM Sans"/>
                <a:ea typeface="DM Sans"/>
                <a:cs typeface="DM Sans"/>
                <a:sym typeface="DM Sans"/>
              </a:rPr>
              <a:t>9</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9"/>
        </a:solidFill>
      </p:bgPr>
    </p:bg>
    <p:spTree>
      <p:nvGrpSpPr>
        <p:cNvPr id="373" name="Shape 373"/>
        <p:cNvGrpSpPr/>
        <p:nvPr/>
      </p:nvGrpSpPr>
      <p:grpSpPr>
        <a:xfrm>
          <a:off x="0" y="0"/>
          <a:ext cx="0" cy="0"/>
          <a:chOff x="0" y="0"/>
          <a:chExt cx="0" cy="0"/>
        </a:xfrm>
      </p:grpSpPr>
      <p:sp>
        <p:nvSpPr>
          <p:cNvPr id="374" name="Google Shape;374;p10"/>
          <p:cNvSpPr/>
          <p:nvPr/>
        </p:nvSpPr>
        <p:spPr>
          <a:xfrm>
            <a:off x="812767" y="812763"/>
            <a:ext cx="1088346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E407C"/>
              </a:buClr>
              <a:buSzPts val="1200"/>
              <a:buFont typeface="DM Sans"/>
              <a:buNone/>
            </a:pPr>
            <a:r>
              <a:rPr b="1" i="0" lang="en-US" sz="1200" u="none" cap="none" strike="noStrike">
                <a:solidFill>
                  <a:srgbClr val="1E407C"/>
                </a:solidFill>
                <a:latin typeface="DM Sans"/>
                <a:ea typeface="DM Sans"/>
                <a:cs typeface="DM Sans"/>
                <a:sym typeface="DM Sans"/>
              </a:rPr>
              <a:t>STEP 4 OF 6</a:t>
            </a:r>
            <a:endParaRPr b="0" i="0" sz="1200" u="none" cap="none" strike="noStrike">
              <a:solidFill>
                <a:schemeClr val="dk1"/>
              </a:solidFill>
              <a:latin typeface="Calibri"/>
              <a:ea typeface="Calibri"/>
              <a:cs typeface="Calibri"/>
              <a:sym typeface="Calibri"/>
            </a:endParaRPr>
          </a:p>
        </p:txBody>
      </p:sp>
      <p:sp>
        <p:nvSpPr>
          <p:cNvPr id="375" name="Google Shape;375;p10"/>
          <p:cNvSpPr/>
          <p:nvPr/>
        </p:nvSpPr>
        <p:spPr>
          <a:xfrm>
            <a:off x="812767" y="1102277"/>
            <a:ext cx="10883460" cy="472422"/>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041E42"/>
              </a:buClr>
              <a:buSzPts val="3200"/>
              <a:buFont typeface="DM Sans"/>
              <a:buNone/>
            </a:pPr>
            <a:r>
              <a:rPr b="1" i="0" lang="en-US" sz="3200" u="none" cap="none" strike="noStrike">
                <a:solidFill>
                  <a:srgbClr val="041E42"/>
                </a:solidFill>
                <a:latin typeface="DM Sans"/>
                <a:ea typeface="DM Sans"/>
                <a:cs typeface="DM Sans"/>
                <a:sym typeface="DM Sans"/>
              </a:rPr>
              <a:t>Two variables: comparing groups</a:t>
            </a:r>
            <a:endParaRPr b="0" i="0" sz="3200" u="none" cap="none" strike="noStrike">
              <a:solidFill>
                <a:schemeClr val="dk1"/>
              </a:solidFill>
              <a:latin typeface="Calibri"/>
              <a:ea typeface="Calibri"/>
              <a:cs typeface="Calibri"/>
              <a:sym typeface="Calibri"/>
            </a:endParaRPr>
          </a:p>
        </p:txBody>
      </p:sp>
      <p:cxnSp>
        <p:nvCxnSpPr>
          <p:cNvPr id="376" name="Google Shape;376;p10"/>
          <p:cNvCxnSpPr/>
          <p:nvPr/>
        </p:nvCxnSpPr>
        <p:spPr>
          <a:xfrm>
            <a:off x="831817" y="2832156"/>
            <a:ext cx="0" cy="553641"/>
          </a:xfrm>
          <a:prstGeom prst="straightConnector1">
            <a:avLst/>
          </a:prstGeom>
          <a:noFill/>
          <a:ln cap="flat" cmpd="sng" w="38100">
            <a:solidFill>
              <a:srgbClr val="F9A826"/>
            </a:solidFill>
            <a:prstDash val="solid"/>
            <a:round/>
            <a:headEnd len="sm" w="sm" type="none"/>
            <a:tailEnd len="sm" w="sm" type="none"/>
          </a:ln>
        </p:spPr>
      </p:cxnSp>
      <p:sp>
        <p:nvSpPr>
          <p:cNvPr id="377" name="Google Shape;377;p10"/>
          <p:cNvSpPr/>
          <p:nvPr/>
        </p:nvSpPr>
        <p:spPr>
          <a:xfrm>
            <a:off x="1002209" y="2844856"/>
            <a:ext cx="3859985" cy="553641"/>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B4A63"/>
              </a:buClr>
              <a:buSzPts val="1600"/>
              <a:buFont typeface="DM Sans"/>
              <a:buNone/>
            </a:pPr>
            <a:r>
              <a:rPr b="1" i="0" lang="en-US" sz="1600" u="none" cap="none" strike="noStrike">
                <a:solidFill>
                  <a:srgbClr val="3B4A63"/>
                </a:solidFill>
                <a:latin typeface="DM Sans"/>
                <a:ea typeface="DM Sans"/>
                <a:cs typeface="DM Sans"/>
                <a:sym typeface="DM Sans"/>
              </a:rPr>
              <a:t>Number vs category</a:t>
            </a:r>
            <a:r>
              <a:rPr b="0" i="0" lang="en-US" sz="1600" u="none" cap="none" strike="noStrike">
                <a:solidFill>
                  <a:srgbClr val="3B4A63"/>
                </a:solidFill>
                <a:latin typeface="DM Sans"/>
                <a:ea typeface="DM Sans"/>
                <a:cs typeface="DM Sans"/>
                <a:sym typeface="DM Sans"/>
              </a:rPr>
              <a:t>: box plots side by side</a:t>
            </a:r>
            <a:endParaRPr b="0" i="0" sz="1600" u="none" cap="none" strike="noStrike">
              <a:solidFill>
                <a:schemeClr val="dk1"/>
              </a:solidFill>
              <a:latin typeface="Calibri"/>
              <a:ea typeface="Calibri"/>
              <a:cs typeface="Calibri"/>
              <a:sym typeface="Calibri"/>
            </a:endParaRPr>
          </a:p>
        </p:txBody>
      </p:sp>
      <p:cxnSp>
        <p:nvCxnSpPr>
          <p:cNvPr id="378" name="Google Shape;378;p10"/>
          <p:cNvCxnSpPr/>
          <p:nvPr/>
        </p:nvCxnSpPr>
        <p:spPr>
          <a:xfrm>
            <a:off x="831817" y="3588990"/>
            <a:ext cx="0" cy="289512"/>
          </a:xfrm>
          <a:prstGeom prst="straightConnector1">
            <a:avLst/>
          </a:prstGeom>
          <a:noFill/>
          <a:ln cap="flat" cmpd="sng" w="38100">
            <a:solidFill>
              <a:srgbClr val="F9A826"/>
            </a:solidFill>
            <a:prstDash val="solid"/>
            <a:round/>
            <a:headEnd len="sm" w="sm" type="none"/>
            <a:tailEnd len="sm" w="sm" type="none"/>
          </a:ln>
        </p:spPr>
      </p:cxnSp>
      <p:sp>
        <p:nvSpPr>
          <p:cNvPr id="379" name="Google Shape;379;p10"/>
          <p:cNvSpPr/>
          <p:nvPr/>
        </p:nvSpPr>
        <p:spPr>
          <a:xfrm>
            <a:off x="1002209" y="3601690"/>
            <a:ext cx="3859985" cy="28951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B4A63"/>
              </a:buClr>
              <a:buSzPts val="1600"/>
              <a:buFont typeface="DM Sans"/>
              <a:buNone/>
            </a:pPr>
            <a:r>
              <a:rPr b="0" i="0" lang="en-US" sz="1600" u="none" cap="none" strike="noStrike">
                <a:solidFill>
                  <a:srgbClr val="3B4A63"/>
                </a:solidFill>
                <a:latin typeface="DM Sans"/>
                <a:ea typeface="DM Sans"/>
                <a:cs typeface="DM Sans"/>
                <a:sym typeface="DM Sans"/>
              </a:rPr>
              <a:t>Compare group averages with </a:t>
            </a:r>
            <a:r>
              <a:rPr b="1" i="0" lang="en-US" sz="1600" u="none" cap="none" strike="noStrike">
                <a:solidFill>
                  <a:srgbClr val="3B4A63"/>
                </a:solidFill>
                <a:latin typeface="DM Sans"/>
                <a:ea typeface="DM Sans"/>
                <a:cs typeface="DM Sans"/>
                <a:sym typeface="DM Sans"/>
              </a:rPr>
              <a:t>groupby</a:t>
            </a:r>
            <a:endParaRPr b="0" i="0" sz="1600" u="none" cap="none" strike="noStrike">
              <a:solidFill>
                <a:schemeClr val="dk1"/>
              </a:solidFill>
              <a:latin typeface="Calibri"/>
              <a:ea typeface="Calibri"/>
              <a:cs typeface="Calibri"/>
              <a:sym typeface="Calibri"/>
            </a:endParaRPr>
          </a:p>
        </p:txBody>
      </p:sp>
      <p:cxnSp>
        <p:nvCxnSpPr>
          <p:cNvPr id="380" name="Google Shape;380;p10"/>
          <p:cNvCxnSpPr/>
          <p:nvPr/>
        </p:nvCxnSpPr>
        <p:spPr>
          <a:xfrm>
            <a:off x="831817" y="4081692"/>
            <a:ext cx="0" cy="289512"/>
          </a:xfrm>
          <a:prstGeom prst="straightConnector1">
            <a:avLst/>
          </a:prstGeom>
          <a:noFill/>
          <a:ln cap="flat" cmpd="sng" w="38100">
            <a:solidFill>
              <a:srgbClr val="F9A826"/>
            </a:solidFill>
            <a:prstDash val="solid"/>
            <a:round/>
            <a:headEnd len="sm" w="sm" type="none"/>
            <a:tailEnd len="sm" w="sm" type="none"/>
          </a:ln>
        </p:spPr>
      </p:cxnSp>
      <p:sp>
        <p:nvSpPr>
          <p:cNvPr id="381" name="Google Shape;381;p10"/>
          <p:cNvSpPr/>
          <p:nvPr/>
        </p:nvSpPr>
        <p:spPr>
          <a:xfrm>
            <a:off x="1002209" y="4094392"/>
            <a:ext cx="3859985" cy="28951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B4A63"/>
              </a:buClr>
              <a:buSzPts val="1600"/>
              <a:buFont typeface="DM Sans"/>
              <a:buNone/>
            </a:pPr>
            <a:r>
              <a:rPr b="1" i="0" lang="en-US" sz="1600" u="none" cap="none" strike="noStrike">
                <a:solidFill>
                  <a:srgbClr val="3B4A63"/>
                </a:solidFill>
                <a:latin typeface="DM Sans"/>
                <a:ea typeface="DM Sans"/>
                <a:cs typeface="DM Sans"/>
                <a:sym typeface="DM Sans"/>
              </a:rPr>
              <a:t>Category vs category</a:t>
            </a:r>
            <a:r>
              <a:rPr b="0" i="0" lang="en-US" sz="1600" u="none" cap="none" strike="noStrike">
                <a:solidFill>
                  <a:srgbClr val="3B4A63"/>
                </a:solidFill>
                <a:latin typeface="DM Sans"/>
                <a:ea typeface="DM Sans"/>
                <a:cs typeface="DM Sans"/>
                <a:sym typeface="DM Sans"/>
              </a:rPr>
              <a:t>: a cross-tab</a:t>
            </a:r>
            <a:endParaRPr b="0" i="0" sz="1600" u="none" cap="none" strike="noStrike">
              <a:solidFill>
                <a:schemeClr val="dk1"/>
              </a:solidFill>
              <a:latin typeface="Calibri"/>
              <a:ea typeface="Calibri"/>
              <a:cs typeface="Calibri"/>
              <a:sym typeface="Calibri"/>
            </a:endParaRPr>
          </a:p>
        </p:txBody>
      </p:sp>
      <p:cxnSp>
        <p:nvCxnSpPr>
          <p:cNvPr id="382" name="Google Shape;382;p10"/>
          <p:cNvCxnSpPr/>
          <p:nvPr/>
        </p:nvCxnSpPr>
        <p:spPr>
          <a:xfrm>
            <a:off x="831817" y="4574394"/>
            <a:ext cx="0" cy="289512"/>
          </a:xfrm>
          <a:prstGeom prst="straightConnector1">
            <a:avLst/>
          </a:prstGeom>
          <a:noFill/>
          <a:ln cap="flat" cmpd="sng" w="38100">
            <a:solidFill>
              <a:srgbClr val="F9A826"/>
            </a:solidFill>
            <a:prstDash val="solid"/>
            <a:round/>
            <a:headEnd len="sm" w="sm" type="none"/>
            <a:tailEnd len="sm" w="sm" type="none"/>
          </a:ln>
        </p:spPr>
      </p:cxnSp>
      <p:sp>
        <p:nvSpPr>
          <p:cNvPr id="383" name="Google Shape;383;p10"/>
          <p:cNvSpPr/>
          <p:nvPr/>
        </p:nvSpPr>
        <p:spPr>
          <a:xfrm>
            <a:off x="1002209" y="4587094"/>
            <a:ext cx="3859985" cy="28951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B4A63"/>
              </a:buClr>
              <a:buSzPts val="1600"/>
              <a:buFont typeface="DM Sans"/>
              <a:buNone/>
            </a:pPr>
            <a:r>
              <a:rPr b="0" i="0" lang="en-US" sz="1600" u="none" cap="none" strike="noStrike">
                <a:solidFill>
                  <a:srgbClr val="3B4A63"/>
                </a:solidFill>
                <a:latin typeface="DM Sans"/>
                <a:ea typeface="DM Sans"/>
                <a:cs typeface="DM Sans"/>
                <a:sym typeface="DM Sans"/>
              </a:rPr>
              <a:t>Ask: is the gap </a:t>
            </a:r>
            <a:r>
              <a:rPr b="1" i="0" lang="en-US" sz="1600" u="none" cap="none" strike="noStrike">
                <a:solidFill>
                  <a:srgbClr val="3B4A63"/>
                </a:solidFill>
                <a:latin typeface="DM Sans"/>
                <a:ea typeface="DM Sans"/>
                <a:cs typeface="DM Sans"/>
                <a:sym typeface="DM Sans"/>
              </a:rPr>
              <a:t>big enough</a:t>
            </a:r>
            <a:r>
              <a:rPr b="0" i="0" lang="en-US" sz="1600" u="none" cap="none" strike="noStrike">
                <a:solidFill>
                  <a:srgbClr val="3B4A63"/>
                </a:solidFill>
                <a:latin typeface="DM Sans"/>
                <a:ea typeface="DM Sans"/>
                <a:cs typeface="DM Sans"/>
                <a:sym typeface="DM Sans"/>
              </a:rPr>
              <a:t> to matter?</a:t>
            </a:r>
            <a:endParaRPr b="0" i="0" sz="1600" u="none" cap="none" strike="noStrike">
              <a:solidFill>
                <a:schemeClr val="dk1"/>
              </a:solidFill>
              <a:latin typeface="Calibri"/>
              <a:ea typeface="Calibri"/>
              <a:cs typeface="Calibri"/>
              <a:sym typeface="Calibri"/>
            </a:endParaRPr>
          </a:p>
        </p:txBody>
      </p:sp>
      <p:pic>
        <p:nvPicPr>
          <p:cNvPr descr="Three side-by-side box plots; Category B sits highest" id="384" name="Google Shape;384;p10"/>
          <p:cNvPicPr preferRelativeResize="0"/>
          <p:nvPr/>
        </p:nvPicPr>
        <p:blipFill rotWithShape="1">
          <a:blip r:embed="rId3">
            <a:alphaModFix/>
          </a:blip>
          <a:srcRect b="0" l="0" r="0" t="0"/>
          <a:stretch/>
        </p:blipFill>
        <p:spPr>
          <a:xfrm>
            <a:off x="5156150" y="2295178"/>
            <a:ext cx="5715000" cy="1651000"/>
          </a:xfrm>
          <a:prstGeom prst="rect">
            <a:avLst/>
          </a:prstGeom>
          <a:noFill/>
          <a:ln>
            <a:noFill/>
          </a:ln>
        </p:spPr>
      </p:pic>
      <p:sp>
        <p:nvSpPr>
          <p:cNvPr id="385" name="Google Shape;385;p10"/>
          <p:cNvSpPr/>
          <p:nvPr/>
        </p:nvSpPr>
        <p:spPr>
          <a:xfrm>
            <a:off x="5126623" y="3996941"/>
            <a:ext cx="2027555" cy="23872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041E42"/>
              </a:buClr>
              <a:buSzPts val="1200"/>
              <a:buFont typeface="DM Sans"/>
              <a:buNone/>
            </a:pPr>
            <a:r>
              <a:rPr b="1" i="0" lang="en-US" sz="1200" u="none" cap="none" strike="noStrike">
                <a:solidFill>
                  <a:srgbClr val="041E42"/>
                </a:solidFill>
                <a:latin typeface="DM Sans"/>
                <a:ea typeface="DM Sans"/>
                <a:cs typeface="DM Sans"/>
                <a:sym typeface="DM Sans"/>
              </a:rPr>
              <a:t>Category A</a:t>
            </a:r>
            <a:endParaRPr b="0" i="0" sz="1200" u="none" cap="none" strike="noStrike">
              <a:solidFill>
                <a:schemeClr val="dk1"/>
              </a:solidFill>
              <a:latin typeface="Calibri"/>
              <a:ea typeface="Calibri"/>
              <a:cs typeface="Calibri"/>
              <a:sym typeface="Calibri"/>
            </a:endParaRPr>
          </a:p>
        </p:txBody>
      </p:sp>
      <p:sp>
        <p:nvSpPr>
          <p:cNvPr id="386" name="Google Shape;386;p10"/>
          <p:cNvSpPr/>
          <p:nvPr/>
        </p:nvSpPr>
        <p:spPr>
          <a:xfrm>
            <a:off x="7096075" y="3996941"/>
            <a:ext cx="1962150" cy="23872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041E42"/>
              </a:buClr>
              <a:buSzPts val="1200"/>
              <a:buFont typeface="DM Sans"/>
              <a:buNone/>
            </a:pPr>
            <a:r>
              <a:rPr b="1" i="0" lang="en-US" sz="1200" u="none" cap="none" strike="noStrike">
                <a:solidFill>
                  <a:srgbClr val="041E42"/>
                </a:solidFill>
                <a:latin typeface="DM Sans"/>
                <a:ea typeface="DM Sans"/>
                <a:cs typeface="DM Sans"/>
                <a:sym typeface="DM Sans"/>
              </a:rPr>
              <a:t>Category B</a:t>
            </a:r>
            <a:endParaRPr b="0" i="0" sz="1200" u="none" cap="none" strike="noStrike">
              <a:solidFill>
                <a:schemeClr val="dk1"/>
              </a:solidFill>
              <a:latin typeface="Calibri"/>
              <a:ea typeface="Calibri"/>
              <a:cs typeface="Calibri"/>
              <a:sym typeface="Calibri"/>
            </a:endParaRPr>
          </a:p>
        </p:txBody>
      </p:sp>
      <p:sp>
        <p:nvSpPr>
          <p:cNvPr id="387" name="Google Shape;387;p10"/>
          <p:cNvSpPr/>
          <p:nvPr/>
        </p:nvSpPr>
        <p:spPr>
          <a:xfrm>
            <a:off x="9002028" y="3996941"/>
            <a:ext cx="1896745" cy="23872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041E42"/>
              </a:buClr>
              <a:buSzPts val="1200"/>
              <a:buFont typeface="DM Sans"/>
              <a:buNone/>
            </a:pPr>
            <a:r>
              <a:rPr b="1" i="0" lang="en-US" sz="1200" u="none" cap="none" strike="noStrike">
                <a:solidFill>
                  <a:srgbClr val="041E42"/>
                </a:solidFill>
                <a:latin typeface="DM Sans"/>
                <a:ea typeface="DM Sans"/>
                <a:cs typeface="DM Sans"/>
                <a:sym typeface="DM Sans"/>
              </a:rPr>
              <a:t>Category C</a:t>
            </a:r>
            <a:endParaRPr b="0" i="0" sz="1200" u="none" cap="none" strike="noStrike">
              <a:solidFill>
                <a:schemeClr val="dk1"/>
              </a:solidFill>
              <a:latin typeface="Calibri"/>
              <a:ea typeface="Calibri"/>
              <a:cs typeface="Calibri"/>
              <a:sym typeface="Calibri"/>
            </a:endParaRPr>
          </a:p>
        </p:txBody>
      </p:sp>
      <p:sp>
        <p:nvSpPr>
          <p:cNvPr id="388" name="Google Shape;388;p10"/>
          <p:cNvSpPr/>
          <p:nvPr/>
        </p:nvSpPr>
        <p:spPr>
          <a:xfrm>
            <a:off x="5156150" y="4388030"/>
            <a:ext cx="2540000" cy="1012858"/>
          </a:xfrm>
          <a:prstGeom prst="rect">
            <a:avLst/>
          </a:prstGeom>
          <a:solidFill>
            <a:srgbClr val="FD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9" name="Google Shape;389;p10"/>
          <p:cNvCxnSpPr/>
          <p:nvPr/>
        </p:nvCxnSpPr>
        <p:spPr>
          <a:xfrm>
            <a:off x="7689800" y="4388030"/>
            <a:ext cx="0" cy="1012858"/>
          </a:xfrm>
          <a:prstGeom prst="straightConnector1">
            <a:avLst/>
          </a:prstGeom>
          <a:noFill/>
          <a:ln cap="flat" cmpd="sng" w="12700">
            <a:solidFill>
              <a:srgbClr val="D5DEEA"/>
            </a:solidFill>
            <a:prstDash val="solid"/>
            <a:round/>
            <a:headEnd len="sm" w="sm" type="none"/>
            <a:tailEnd len="sm" w="sm" type="none"/>
          </a:ln>
        </p:spPr>
      </p:cxnSp>
      <p:cxnSp>
        <p:nvCxnSpPr>
          <p:cNvPr id="390" name="Google Shape;390;p10"/>
          <p:cNvCxnSpPr/>
          <p:nvPr/>
        </p:nvCxnSpPr>
        <p:spPr>
          <a:xfrm>
            <a:off x="5156150" y="5394538"/>
            <a:ext cx="2540000" cy="0"/>
          </a:xfrm>
          <a:prstGeom prst="straightConnector1">
            <a:avLst/>
          </a:prstGeom>
          <a:noFill/>
          <a:ln cap="flat" cmpd="sng" w="12700">
            <a:solidFill>
              <a:srgbClr val="D5DEEA"/>
            </a:solidFill>
            <a:prstDash val="solid"/>
            <a:round/>
            <a:headEnd len="sm" w="sm" type="none"/>
            <a:tailEnd len="sm" w="sm" type="none"/>
          </a:ln>
        </p:spPr>
      </p:cxnSp>
      <p:graphicFrame>
        <p:nvGraphicFramePr>
          <p:cNvPr id="391" name="Google Shape;391;p10"/>
          <p:cNvGraphicFramePr/>
          <p:nvPr/>
        </p:nvGraphicFramePr>
        <p:xfrm>
          <a:off x="5166734" y="4398613"/>
          <a:ext cx="3000000" cy="3000000"/>
        </p:xfrm>
        <a:graphic>
          <a:graphicData uri="http://schemas.openxmlformats.org/drawingml/2006/table">
            <a:tbl>
              <a:tblPr>
                <a:noFill/>
                <a:tableStyleId>{D971B99A-2433-436F-AF97-702EB8F375A6}</a:tableStyleId>
              </a:tblPr>
              <a:tblGrid>
                <a:gridCol w="780850"/>
                <a:gridCol w="579325"/>
                <a:gridCol w="579325"/>
                <a:gridCol w="579325"/>
              </a:tblGrid>
              <a:tr h="330575">
                <a:tc>
                  <a:txBody>
                    <a:bodyPr/>
                    <a:lstStyle/>
                    <a:p>
                      <a:pPr indent="0" lvl="0" marL="0" marR="0" rtl="0" algn="l">
                        <a:lnSpc>
                          <a:spcPct val="140000"/>
                        </a:lnSpc>
                        <a:spcBef>
                          <a:spcPts val="0"/>
                        </a:spcBef>
                        <a:spcAft>
                          <a:spcPts val="0"/>
                        </a:spcAft>
                        <a:buClr>
                          <a:srgbClr val="F6F7F9"/>
                        </a:buClr>
                        <a:buSzPts val="1200"/>
                        <a:buFont typeface="DM Sans"/>
                        <a:buNone/>
                      </a:pPr>
                      <a:r>
                        <a:rPr b="1" lang="en-US" sz="1200" u="none" cap="none" strike="noStrike">
                          <a:solidFill>
                            <a:srgbClr val="F6F7F9"/>
                          </a:solidFill>
                          <a:latin typeface="DM Sans"/>
                          <a:ea typeface="DM Sans"/>
                          <a:cs typeface="DM Sans"/>
                          <a:sym typeface="DM Sans"/>
                        </a:rPr>
                        <a:t>Group</a:t>
                      </a:r>
                      <a:endParaRPr sz="1200" u="none" cap="none" strike="noStrike">
                        <a:latin typeface="DM Sans"/>
                        <a:ea typeface="DM Sans"/>
                        <a:cs typeface="DM Sans"/>
                        <a:sym typeface="DM Sans"/>
                      </a:endParaRPr>
                    </a:p>
                  </a:txBody>
                  <a:tcPr marT="53350" marB="53350" marR="53350" marL="53350">
                    <a:lnL cap="flat" cmpd="sng" w="12700">
                      <a:solidFill>
                        <a:srgbClr val="CACACA"/>
                      </a:solidFill>
                      <a:prstDash val="solid"/>
                      <a:round/>
                      <a:headEnd len="sm" w="sm" type="none"/>
                      <a:tailEnd len="sm" w="sm" type="none"/>
                    </a:lnL>
                    <a:lnR cap="flat" cmpd="sng" w="12700">
                      <a:solidFill>
                        <a:srgbClr val="081C38"/>
                      </a:solidFill>
                      <a:prstDash val="solid"/>
                      <a:round/>
                      <a:headEnd len="sm" w="sm" type="none"/>
                      <a:tailEnd len="sm" w="sm" type="none"/>
                    </a:lnR>
                    <a:lnT cap="flat" cmpd="sng" w="12700">
                      <a:solidFill>
                        <a:srgbClr val="CACACA"/>
                      </a:solidFill>
                      <a:prstDash val="solid"/>
                      <a:round/>
                      <a:headEnd len="sm" w="sm" type="none"/>
                      <a:tailEnd len="sm" w="sm" type="none"/>
                    </a:lnT>
                    <a:lnB cap="flat" cmpd="sng" w="12700">
                      <a:solidFill>
                        <a:srgbClr val="081C38"/>
                      </a:solidFill>
                      <a:prstDash val="solid"/>
                      <a:round/>
                      <a:headEnd len="sm" w="sm" type="none"/>
                      <a:tailEnd len="sm" w="sm" type="none"/>
                    </a:lnB>
                    <a:solidFill>
                      <a:srgbClr val="041E42"/>
                    </a:solidFill>
                  </a:tcPr>
                </a:tc>
                <a:tc>
                  <a:txBody>
                    <a:bodyPr/>
                    <a:lstStyle/>
                    <a:p>
                      <a:pPr indent="0" lvl="0" marL="0" marR="0" rtl="0" algn="ctr">
                        <a:lnSpc>
                          <a:spcPct val="140000"/>
                        </a:lnSpc>
                        <a:spcBef>
                          <a:spcPts val="0"/>
                        </a:spcBef>
                        <a:spcAft>
                          <a:spcPts val="0"/>
                        </a:spcAft>
                        <a:buClr>
                          <a:srgbClr val="F6F7F9"/>
                        </a:buClr>
                        <a:buSzPts val="1200"/>
                        <a:buFont typeface="DM Sans"/>
                        <a:buNone/>
                      </a:pPr>
                      <a:r>
                        <a:rPr b="1" lang="en-US" sz="1200" u="none" cap="none" strike="noStrike">
                          <a:solidFill>
                            <a:srgbClr val="F6F7F9"/>
                          </a:solidFill>
                          <a:latin typeface="DM Sans"/>
                          <a:ea typeface="DM Sans"/>
                          <a:cs typeface="DM Sans"/>
                          <a:sym typeface="DM Sans"/>
                        </a:rPr>
                        <a:t>A</a:t>
                      </a:r>
                      <a:endParaRPr sz="1200" u="none" cap="none" strike="noStrike">
                        <a:latin typeface="DM Sans"/>
                        <a:ea typeface="DM Sans"/>
                        <a:cs typeface="DM Sans"/>
                        <a:sym typeface="DM Sans"/>
                      </a:endParaRPr>
                    </a:p>
                  </a:txBody>
                  <a:tcPr marT="53350" marB="53350" marR="53350" marL="53350">
                    <a:lnL cap="flat" cmpd="sng" w="12700">
                      <a:solidFill>
                        <a:srgbClr val="081C38"/>
                      </a:solidFill>
                      <a:prstDash val="solid"/>
                      <a:round/>
                      <a:headEnd len="sm" w="sm" type="none"/>
                      <a:tailEnd len="sm" w="sm" type="none"/>
                    </a:lnL>
                    <a:lnR cap="flat" cmpd="sng" w="12700">
                      <a:solidFill>
                        <a:srgbClr val="081C38"/>
                      </a:solidFill>
                      <a:prstDash val="solid"/>
                      <a:round/>
                      <a:headEnd len="sm" w="sm" type="none"/>
                      <a:tailEnd len="sm" w="sm" type="none"/>
                    </a:lnR>
                    <a:lnT cap="flat" cmpd="sng" w="12700">
                      <a:solidFill>
                        <a:srgbClr val="CACACA"/>
                      </a:solidFill>
                      <a:prstDash val="solid"/>
                      <a:round/>
                      <a:headEnd len="sm" w="sm" type="none"/>
                      <a:tailEnd len="sm" w="sm" type="none"/>
                    </a:lnT>
                    <a:lnB cap="flat" cmpd="sng" w="12700">
                      <a:solidFill>
                        <a:srgbClr val="081C38"/>
                      </a:solidFill>
                      <a:prstDash val="solid"/>
                      <a:round/>
                      <a:headEnd len="sm" w="sm" type="none"/>
                      <a:tailEnd len="sm" w="sm" type="none"/>
                    </a:lnB>
                    <a:solidFill>
                      <a:srgbClr val="041E42"/>
                    </a:solidFill>
                  </a:tcPr>
                </a:tc>
                <a:tc>
                  <a:txBody>
                    <a:bodyPr/>
                    <a:lstStyle/>
                    <a:p>
                      <a:pPr indent="0" lvl="0" marL="0" marR="0" rtl="0" algn="ctr">
                        <a:lnSpc>
                          <a:spcPct val="140000"/>
                        </a:lnSpc>
                        <a:spcBef>
                          <a:spcPts val="0"/>
                        </a:spcBef>
                        <a:spcAft>
                          <a:spcPts val="0"/>
                        </a:spcAft>
                        <a:buClr>
                          <a:srgbClr val="F6F7F9"/>
                        </a:buClr>
                        <a:buSzPts val="1200"/>
                        <a:buFont typeface="DM Sans"/>
                        <a:buNone/>
                      </a:pPr>
                      <a:r>
                        <a:rPr b="1" lang="en-US" sz="1200" u="none" cap="none" strike="noStrike">
                          <a:solidFill>
                            <a:srgbClr val="F6F7F9"/>
                          </a:solidFill>
                          <a:latin typeface="DM Sans"/>
                          <a:ea typeface="DM Sans"/>
                          <a:cs typeface="DM Sans"/>
                          <a:sym typeface="DM Sans"/>
                        </a:rPr>
                        <a:t>B</a:t>
                      </a:r>
                      <a:endParaRPr sz="1200" u="none" cap="none" strike="noStrike">
                        <a:latin typeface="DM Sans"/>
                        <a:ea typeface="DM Sans"/>
                        <a:cs typeface="DM Sans"/>
                        <a:sym typeface="DM Sans"/>
                      </a:endParaRPr>
                    </a:p>
                  </a:txBody>
                  <a:tcPr marT="53350" marB="53350" marR="53350" marL="53350">
                    <a:lnL cap="flat" cmpd="sng" w="12700">
                      <a:solidFill>
                        <a:srgbClr val="081C38"/>
                      </a:solidFill>
                      <a:prstDash val="solid"/>
                      <a:round/>
                      <a:headEnd len="sm" w="sm" type="none"/>
                      <a:tailEnd len="sm" w="sm" type="none"/>
                    </a:lnL>
                    <a:lnR cap="flat" cmpd="sng" w="12700">
                      <a:solidFill>
                        <a:srgbClr val="081C38"/>
                      </a:solidFill>
                      <a:prstDash val="solid"/>
                      <a:round/>
                      <a:headEnd len="sm" w="sm" type="none"/>
                      <a:tailEnd len="sm" w="sm" type="none"/>
                    </a:lnR>
                    <a:lnT cap="flat" cmpd="sng" w="12700">
                      <a:solidFill>
                        <a:srgbClr val="CACACA"/>
                      </a:solidFill>
                      <a:prstDash val="solid"/>
                      <a:round/>
                      <a:headEnd len="sm" w="sm" type="none"/>
                      <a:tailEnd len="sm" w="sm" type="none"/>
                    </a:lnT>
                    <a:lnB cap="flat" cmpd="sng" w="12700">
                      <a:solidFill>
                        <a:srgbClr val="081C38"/>
                      </a:solidFill>
                      <a:prstDash val="solid"/>
                      <a:round/>
                      <a:headEnd len="sm" w="sm" type="none"/>
                      <a:tailEnd len="sm" w="sm" type="none"/>
                    </a:lnB>
                    <a:solidFill>
                      <a:srgbClr val="041E42"/>
                    </a:solidFill>
                  </a:tcPr>
                </a:tc>
                <a:tc>
                  <a:txBody>
                    <a:bodyPr/>
                    <a:lstStyle/>
                    <a:p>
                      <a:pPr indent="0" lvl="0" marL="0" marR="0" rtl="0" algn="ctr">
                        <a:lnSpc>
                          <a:spcPct val="140000"/>
                        </a:lnSpc>
                        <a:spcBef>
                          <a:spcPts val="0"/>
                        </a:spcBef>
                        <a:spcAft>
                          <a:spcPts val="0"/>
                        </a:spcAft>
                        <a:buClr>
                          <a:srgbClr val="F6F7F9"/>
                        </a:buClr>
                        <a:buSzPts val="1200"/>
                        <a:buFont typeface="DM Sans"/>
                        <a:buNone/>
                      </a:pPr>
                      <a:r>
                        <a:rPr b="1" lang="en-US" sz="1200" u="none" cap="none" strike="noStrike">
                          <a:solidFill>
                            <a:srgbClr val="F6F7F9"/>
                          </a:solidFill>
                          <a:latin typeface="DM Sans"/>
                          <a:ea typeface="DM Sans"/>
                          <a:cs typeface="DM Sans"/>
                          <a:sym typeface="DM Sans"/>
                        </a:rPr>
                        <a:t>C</a:t>
                      </a:r>
                      <a:endParaRPr sz="1200" u="none" cap="none" strike="noStrike">
                        <a:latin typeface="DM Sans"/>
                        <a:ea typeface="DM Sans"/>
                        <a:cs typeface="DM Sans"/>
                        <a:sym typeface="DM Sans"/>
                      </a:endParaRPr>
                    </a:p>
                  </a:txBody>
                  <a:tcPr marT="53350" marB="53350" marR="53350" marL="53350">
                    <a:lnL cap="flat" cmpd="sng" w="12700">
                      <a:solidFill>
                        <a:srgbClr val="081C38"/>
                      </a:solidFill>
                      <a:prstDash val="solid"/>
                      <a:round/>
                      <a:headEnd len="sm" w="sm" type="none"/>
                      <a:tailEnd len="sm" w="sm" type="none"/>
                    </a:lnL>
                    <a:lnR cap="flat" cmpd="sng" w="12700">
                      <a:solidFill>
                        <a:srgbClr val="081C38"/>
                      </a:solidFill>
                      <a:prstDash val="solid"/>
                      <a:round/>
                      <a:headEnd len="sm" w="sm" type="none"/>
                      <a:tailEnd len="sm" w="sm" type="none"/>
                    </a:lnR>
                    <a:lnT cap="flat" cmpd="sng" w="12700">
                      <a:solidFill>
                        <a:srgbClr val="CACACA"/>
                      </a:solidFill>
                      <a:prstDash val="solid"/>
                      <a:round/>
                      <a:headEnd len="sm" w="sm" type="none"/>
                      <a:tailEnd len="sm" w="sm" type="none"/>
                    </a:lnT>
                    <a:lnB cap="flat" cmpd="sng" w="12700">
                      <a:solidFill>
                        <a:srgbClr val="081C38"/>
                      </a:solidFill>
                      <a:prstDash val="solid"/>
                      <a:round/>
                      <a:headEnd len="sm" w="sm" type="none"/>
                      <a:tailEnd len="sm" w="sm" type="none"/>
                    </a:lnB>
                    <a:solidFill>
                      <a:srgbClr val="041E42"/>
                    </a:solidFill>
                  </a:tcPr>
                </a:tc>
              </a:tr>
              <a:tr h="330575">
                <a:tc>
                  <a:txBody>
                    <a:bodyPr/>
                    <a:lstStyle/>
                    <a:p>
                      <a:pPr indent="0" lvl="0" marL="0" marR="0" rtl="0" algn="l">
                        <a:lnSpc>
                          <a:spcPct val="140000"/>
                        </a:lnSpc>
                        <a:spcBef>
                          <a:spcPts val="0"/>
                        </a:spcBef>
                        <a:spcAft>
                          <a:spcPts val="0"/>
                        </a:spcAft>
                        <a:buClr>
                          <a:srgbClr val="041E42"/>
                        </a:buClr>
                        <a:buSzPts val="1200"/>
                        <a:buFont typeface="DM Sans"/>
                        <a:buNone/>
                      </a:pPr>
                      <a:r>
                        <a:rPr lang="en-US" sz="1200" u="none" cap="none" strike="noStrike">
                          <a:solidFill>
                            <a:srgbClr val="041E42"/>
                          </a:solidFill>
                          <a:latin typeface="DM Sans"/>
                          <a:ea typeface="DM Sans"/>
                          <a:cs typeface="DM Sans"/>
                          <a:sym typeface="DM Sans"/>
                        </a:rPr>
                        <a:t>X</a:t>
                      </a:r>
                      <a:endParaRPr sz="1200" u="none" cap="none" strike="noStrike">
                        <a:latin typeface="DM Sans"/>
                        <a:ea typeface="DM Sans"/>
                        <a:cs typeface="DM Sans"/>
                        <a:sym typeface="DM Sans"/>
                      </a:endParaRPr>
                    </a:p>
                  </a:txBody>
                  <a:tcPr marT="53350" marB="53350" marR="53350" marL="53350">
                    <a:lnL cap="flat" cmpd="sng" w="12700">
                      <a:solidFill>
                        <a:srgbClr val="CACACA"/>
                      </a:solidFill>
                      <a:prstDash val="solid"/>
                      <a:round/>
                      <a:headEnd len="sm" w="sm" type="none"/>
                      <a:tailEnd len="sm" w="sm" type="none"/>
                    </a:lnL>
                    <a:lnR cap="flat" cmpd="sng" w="12700">
                      <a:solidFill>
                        <a:srgbClr val="CACACA"/>
                      </a:solidFill>
                      <a:prstDash val="solid"/>
                      <a:round/>
                      <a:headEnd len="sm" w="sm" type="none"/>
                      <a:tailEnd len="sm" w="sm" type="none"/>
                    </a:lnR>
                    <a:lnT cap="flat" cmpd="sng" w="12700">
                      <a:solidFill>
                        <a:srgbClr val="081C38"/>
                      </a:solidFill>
                      <a:prstDash val="solid"/>
                      <a:round/>
                      <a:headEnd len="sm" w="sm" type="none"/>
                      <a:tailEnd len="sm" w="sm" type="none"/>
                    </a:lnT>
                    <a:lnB cap="flat" cmpd="sng" w="12700">
                      <a:solidFill>
                        <a:srgbClr val="CACACA"/>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041E42"/>
                        </a:buClr>
                        <a:buSzPts val="1200"/>
                        <a:buFont typeface="DM Sans"/>
                        <a:buNone/>
                      </a:pPr>
                      <a:r>
                        <a:rPr lang="en-US" sz="1200" u="none" cap="none" strike="noStrike">
                          <a:solidFill>
                            <a:srgbClr val="041E42"/>
                          </a:solidFill>
                          <a:latin typeface="DM Sans"/>
                          <a:ea typeface="DM Sans"/>
                          <a:cs typeface="DM Sans"/>
                          <a:sym typeface="DM Sans"/>
                        </a:rPr>
                        <a:t>12</a:t>
                      </a:r>
                      <a:endParaRPr sz="1200" u="none" cap="none" strike="noStrike">
                        <a:latin typeface="DM Sans"/>
                        <a:ea typeface="DM Sans"/>
                        <a:cs typeface="DM Sans"/>
                        <a:sym typeface="DM Sans"/>
                      </a:endParaRPr>
                    </a:p>
                  </a:txBody>
                  <a:tcPr marT="53350" marB="53350" marR="53350" marL="53350">
                    <a:lnL cap="flat" cmpd="sng" w="12700">
                      <a:solidFill>
                        <a:srgbClr val="CACACA"/>
                      </a:solidFill>
                      <a:prstDash val="solid"/>
                      <a:round/>
                      <a:headEnd len="sm" w="sm" type="none"/>
                      <a:tailEnd len="sm" w="sm" type="none"/>
                    </a:lnL>
                    <a:lnR cap="flat" cmpd="sng" w="12700">
                      <a:solidFill>
                        <a:srgbClr val="CACACA"/>
                      </a:solidFill>
                      <a:prstDash val="solid"/>
                      <a:round/>
                      <a:headEnd len="sm" w="sm" type="none"/>
                      <a:tailEnd len="sm" w="sm" type="none"/>
                    </a:lnR>
                    <a:lnT cap="flat" cmpd="sng" w="12700">
                      <a:solidFill>
                        <a:srgbClr val="081C38"/>
                      </a:solidFill>
                      <a:prstDash val="solid"/>
                      <a:round/>
                      <a:headEnd len="sm" w="sm" type="none"/>
                      <a:tailEnd len="sm" w="sm" type="none"/>
                    </a:lnT>
                    <a:lnB cap="flat" cmpd="sng" w="12700">
                      <a:solidFill>
                        <a:srgbClr val="CACACA"/>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041E42"/>
                        </a:buClr>
                        <a:buSzPts val="1200"/>
                        <a:buFont typeface="DM Sans"/>
                        <a:buNone/>
                      </a:pPr>
                      <a:r>
                        <a:rPr lang="en-US" sz="1200" u="none" cap="none" strike="noStrike">
                          <a:solidFill>
                            <a:srgbClr val="041E42"/>
                          </a:solidFill>
                          <a:latin typeface="DM Sans"/>
                          <a:ea typeface="DM Sans"/>
                          <a:cs typeface="DM Sans"/>
                          <a:sym typeface="DM Sans"/>
                        </a:rPr>
                        <a:t>20</a:t>
                      </a:r>
                      <a:endParaRPr sz="1200" u="none" cap="none" strike="noStrike">
                        <a:latin typeface="DM Sans"/>
                        <a:ea typeface="DM Sans"/>
                        <a:cs typeface="DM Sans"/>
                        <a:sym typeface="DM Sans"/>
                      </a:endParaRPr>
                    </a:p>
                  </a:txBody>
                  <a:tcPr marT="53350" marB="53350" marR="53350" marL="53350">
                    <a:lnL cap="flat" cmpd="sng" w="12700">
                      <a:solidFill>
                        <a:srgbClr val="CACACA"/>
                      </a:solidFill>
                      <a:prstDash val="solid"/>
                      <a:round/>
                      <a:headEnd len="sm" w="sm" type="none"/>
                      <a:tailEnd len="sm" w="sm" type="none"/>
                    </a:lnL>
                    <a:lnR cap="flat" cmpd="sng" w="12700">
                      <a:solidFill>
                        <a:srgbClr val="CACACA"/>
                      </a:solidFill>
                      <a:prstDash val="solid"/>
                      <a:round/>
                      <a:headEnd len="sm" w="sm" type="none"/>
                      <a:tailEnd len="sm" w="sm" type="none"/>
                    </a:lnR>
                    <a:lnT cap="flat" cmpd="sng" w="12700">
                      <a:solidFill>
                        <a:srgbClr val="081C38"/>
                      </a:solidFill>
                      <a:prstDash val="solid"/>
                      <a:round/>
                      <a:headEnd len="sm" w="sm" type="none"/>
                      <a:tailEnd len="sm" w="sm" type="none"/>
                    </a:lnT>
                    <a:lnB cap="flat" cmpd="sng" w="12700">
                      <a:solidFill>
                        <a:srgbClr val="CACACA"/>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041E42"/>
                        </a:buClr>
                        <a:buSzPts val="1200"/>
                        <a:buFont typeface="DM Sans"/>
                        <a:buNone/>
                      </a:pPr>
                      <a:r>
                        <a:rPr lang="en-US" sz="1200" u="none" cap="none" strike="noStrike">
                          <a:solidFill>
                            <a:srgbClr val="041E42"/>
                          </a:solidFill>
                          <a:latin typeface="DM Sans"/>
                          <a:ea typeface="DM Sans"/>
                          <a:cs typeface="DM Sans"/>
                          <a:sym typeface="DM Sans"/>
                        </a:rPr>
                        <a:t>8</a:t>
                      </a:r>
                      <a:endParaRPr sz="1200" u="none" cap="none" strike="noStrike">
                        <a:latin typeface="DM Sans"/>
                        <a:ea typeface="DM Sans"/>
                        <a:cs typeface="DM Sans"/>
                        <a:sym typeface="DM Sans"/>
                      </a:endParaRPr>
                    </a:p>
                  </a:txBody>
                  <a:tcPr marT="53350" marB="53350" marR="53350" marL="53350">
                    <a:lnL cap="flat" cmpd="sng" w="12700">
                      <a:solidFill>
                        <a:srgbClr val="CACACA"/>
                      </a:solidFill>
                      <a:prstDash val="solid"/>
                      <a:round/>
                      <a:headEnd len="sm" w="sm" type="none"/>
                      <a:tailEnd len="sm" w="sm" type="none"/>
                    </a:lnL>
                    <a:lnR cap="flat" cmpd="sng" w="12700">
                      <a:solidFill>
                        <a:srgbClr val="CACACA"/>
                      </a:solidFill>
                      <a:prstDash val="solid"/>
                      <a:round/>
                      <a:headEnd len="sm" w="sm" type="none"/>
                      <a:tailEnd len="sm" w="sm" type="none"/>
                    </a:lnR>
                    <a:lnT cap="flat" cmpd="sng" w="12700">
                      <a:solidFill>
                        <a:srgbClr val="081C38"/>
                      </a:solidFill>
                      <a:prstDash val="solid"/>
                      <a:round/>
                      <a:headEnd len="sm" w="sm" type="none"/>
                      <a:tailEnd len="sm" w="sm" type="none"/>
                    </a:lnT>
                    <a:lnB cap="flat" cmpd="sng" w="12700">
                      <a:solidFill>
                        <a:srgbClr val="CACACA"/>
                      </a:solidFill>
                      <a:prstDash val="solid"/>
                      <a:round/>
                      <a:headEnd len="sm" w="sm" type="none"/>
                      <a:tailEnd len="sm" w="sm" type="none"/>
                    </a:lnB>
                  </a:tcPr>
                </a:tc>
              </a:tr>
              <a:tr h="330575">
                <a:tc>
                  <a:txBody>
                    <a:bodyPr/>
                    <a:lstStyle/>
                    <a:p>
                      <a:pPr indent="0" lvl="0" marL="0" marR="0" rtl="0" algn="l">
                        <a:lnSpc>
                          <a:spcPct val="140000"/>
                        </a:lnSpc>
                        <a:spcBef>
                          <a:spcPts val="0"/>
                        </a:spcBef>
                        <a:spcAft>
                          <a:spcPts val="0"/>
                        </a:spcAft>
                        <a:buClr>
                          <a:srgbClr val="041E42"/>
                        </a:buClr>
                        <a:buSzPts val="1200"/>
                        <a:buFont typeface="DM Sans"/>
                        <a:buNone/>
                      </a:pPr>
                      <a:r>
                        <a:rPr lang="en-US" sz="1200" u="none" cap="none" strike="noStrike">
                          <a:solidFill>
                            <a:srgbClr val="041E42"/>
                          </a:solidFill>
                          <a:latin typeface="DM Sans"/>
                          <a:ea typeface="DM Sans"/>
                          <a:cs typeface="DM Sans"/>
                          <a:sym typeface="DM Sans"/>
                        </a:rPr>
                        <a:t>Y</a:t>
                      </a:r>
                      <a:endParaRPr sz="1200" u="none" cap="none" strike="noStrike">
                        <a:latin typeface="DM Sans"/>
                        <a:ea typeface="DM Sans"/>
                        <a:cs typeface="DM Sans"/>
                        <a:sym typeface="DM Sans"/>
                      </a:endParaRPr>
                    </a:p>
                  </a:txBody>
                  <a:tcPr marT="53350" marB="53350" marR="53350" marL="53350">
                    <a:lnL cap="flat" cmpd="sng" w="12700">
                      <a:solidFill>
                        <a:srgbClr val="CACACA"/>
                      </a:solidFill>
                      <a:prstDash val="solid"/>
                      <a:round/>
                      <a:headEnd len="sm" w="sm" type="none"/>
                      <a:tailEnd len="sm" w="sm" type="none"/>
                    </a:lnL>
                    <a:lnR cap="flat" cmpd="sng" w="12700">
                      <a:solidFill>
                        <a:srgbClr val="CACACA"/>
                      </a:solidFill>
                      <a:prstDash val="solid"/>
                      <a:round/>
                      <a:headEnd len="sm" w="sm" type="none"/>
                      <a:tailEnd len="sm" w="sm" type="none"/>
                    </a:lnR>
                    <a:lnT cap="flat" cmpd="sng" w="12700">
                      <a:solidFill>
                        <a:srgbClr val="CACACA"/>
                      </a:solidFill>
                      <a:prstDash val="solid"/>
                      <a:round/>
                      <a:headEnd len="sm" w="sm" type="none"/>
                      <a:tailEnd len="sm" w="sm" type="none"/>
                    </a:lnT>
                    <a:lnB cap="flat" cmpd="sng" w="12700">
                      <a:solidFill>
                        <a:srgbClr val="CACACA"/>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041E42"/>
                        </a:buClr>
                        <a:buSzPts val="1200"/>
                        <a:buFont typeface="DM Sans"/>
                        <a:buNone/>
                      </a:pPr>
                      <a:r>
                        <a:rPr lang="en-US" sz="1200" u="none" cap="none" strike="noStrike">
                          <a:solidFill>
                            <a:srgbClr val="041E42"/>
                          </a:solidFill>
                          <a:latin typeface="DM Sans"/>
                          <a:ea typeface="DM Sans"/>
                          <a:cs typeface="DM Sans"/>
                          <a:sym typeface="DM Sans"/>
                        </a:rPr>
                        <a:t>18</a:t>
                      </a:r>
                      <a:endParaRPr sz="1200" u="none" cap="none" strike="noStrike">
                        <a:latin typeface="DM Sans"/>
                        <a:ea typeface="DM Sans"/>
                        <a:cs typeface="DM Sans"/>
                        <a:sym typeface="DM Sans"/>
                      </a:endParaRPr>
                    </a:p>
                  </a:txBody>
                  <a:tcPr marT="53350" marB="53350" marR="53350" marL="53350">
                    <a:lnL cap="flat" cmpd="sng" w="12700">
                      <a:solidFill>
                        <a:srgbClr val="CACACA"/>
                      </a:solidFill>
                      <a:prstDash val="solid"/>
                      <a:round/>
                      <a:headEnd len="sm" w="sm" type="none"/>
                      <a:tailEnd len="sm" w="sm" type="none"/>
                    </a:lnL>
                    <a:lnR cap="flat" cmpd="sng" w="12700">
                      <a:solidFill>
                        <a:srgbClr val="CACACA"/>
                      </a:solidFill>
                      <a:prstDash val="solid"/>
                      <a:round/>
                      <a:headEnd len="sm" w="sm" type="none"/>
                      <a:tailEnd len="sm" w="sm" type="none"/>
                    </a:lnR>
                    <a:lnT cap="flat" cmpd="sng" w="12700">
                      <a:solidFill>
                        <a:srgbClr val="CACACA"/>
                      </a:solidFill>
                      <a:prstDash val="solid"/>
                      <a:round/>
                      <a:headEnd len="sm" w="sm" type="none"/>
                      <a:tailEnd len="sm" w="sm" type="none"/>
                    </a:lnT>
                    <a:lnB cap="flat" cmpd="sng" w="12700">
                      <a:solidFill>
                        <a:srgbClr val="CACACA"/>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041E42"/>
                        </a:buClr>
                        <a:buSzPts val="1200"/>
                        <a:buFont typeface="DM Sans"/>
                        <a:buNone/>
                      </a:pPr>
                      <a:r>
                        <a:rPr lang="en-US" sz="1200" u="none" cap="none" strike="noStrike">
                          <a:solidFill>
                            <a:srgbClr val="041E42"/>
                          </a:solidFill>
                          <a:latin typeface="DM Sans"/>
                          <a:ea typeface="DM Sans"/>
                          <a:cs typeface="DM Sans"/>
                          <a:sym typeface="DM Sans"/>
                        </a:rPr>
                        <a:t>6</a:t>
                      </a:r>
                      <a:endParaRPr sz="1200" u="none" cap="none" strike="noStrike">
                        <a:latin typeface="DM Sans"/>
                        <a:ea typeface="DM Sans"/>
                        <a:cs typeface="DM Sans"/>
                        <a:sym typeface="DM Sans"/>
                      </a:endParaRPr>
                    </a:p>
                  </a:txBody>
                  <a:tcPr marT="53350" marB="53350" marR="53350" marL="53350">
                    <a:lnL cap="flat" cmpd="sng" w="12700">
                      <a:solidFill>
                        <a:srgbClr val="CACACA"/>
                      </a:solidFill>
                      <a:prstDash val="solid"/>
                      <a:round/>
                      <a:headEnd len="sm" w="sm" type="none"/>
                      <a:tailEnd len="sm" w="sm" type="none"/>
                    </a:lnL>
                    <a:lnR cap="flat" cmpd="sng" w="12700">
                      <a:solidFill>
                        <a:srgbClr val="CACACA"/>
                      </a:solidFill>
                      <a:prstDash val="solid"/>
                      <a:round/>
                      <a:headEnd len="sm" w="sm" type="none"/>
                      <a:tailEnd len="sm" w="sm" type="none"/>
                    </a:lnR>
                    <a:lnT cap="flat" cmpd="sng" w="12700">
                      <a:solidFill>
                        <a:srgbClr val="CACACA"/>
                      </a:solidFill>
                      <a:prstDash val="solid"/>
                      <a:round/>
                      <a:headEnd len="sm" w="sm" type="none"/>
                      <a:tailEnd len="sm" w="sm" type="none"/>
                    </a:lnT>
                    <a:lnB cap="flat" cmpd="sng" w="12700">
                      <a:solidFill>
                        <a:srgbClr val="CACACA"/>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041E42"/>
                        </a:buClr>
                        <a:buSzPts val="1200"/>
                        <a:buFont typeface="DM Sans"/>
                        <a:buNone/>
                      </a:pPr>
                      <a:r>
                        <a:rPr lang="en-US" sz="1200" u="none" cap="none" strike="noStrike">
                          <a:solidFill>
                            <a:srgbClr val="041E42"/>
                          </a:solidFill>
                          <a:latin typeface="DM Sans"/>
                          <a:ea typeface="DM Sans"/>
                          <a:cs typeface="DM Sans"/>
                          <a:sym typeface="DM Sans"/>
                        </a:rPr>
                        <a:t>14</a:t>
                      </a:r>
                      <a:endParaRPr sz="1200" u="none" cap="none" strike="noStrike">
                        <a:latin typeface="DM Sans"/>
                        <a:ea typeface="DM Sans"/>
                        <a:cs typeface="DM Sans"/>
                        <a:sym typeface="DM Sans"/>
                      </a:endParaRPr>
                    </a:p>
                  </a:txBody>
                  <a:tcPr marT="53350" marB="53350" marR="53350" marL="53350">
                    <a:lnL cap="flat" cmpd="sng" w="12700">
                      <a:solidFill>
                        <a:srgbClr val="CACACA"/>
                      </a:solidFill>
                      <a:prstDash val="solid"/>
                      <a:round/>
                      <a:headEnd len="sm" w="sm" type="none"/>
                      <a:tailEnd len="sm" w="sm" type="none"/>
                    </a:lnL>
                    <a:lnR cap="flat" cmpd="sng" w="12700">
                      <a:solidFill>
                        <a:srgbClr val="CACACA"/>
                      </a:solidFill>
                      <a:prstDash val="solid"/>
                      <a:round/>
                      <a:headEnd len="sm" w="sm" type="none"/>
                      <a:tailEnd len="sm" w="sm" type="none"/>
                    </a:lnR>
                    <a:lnT cap="flat" cmpd="sng" w="12700">
                      <a:solidFill>
                        <a:srgbClr val="CACACA"/>
                      </a:solidFill>
                      <a:prstDash val="solid"/>
                      <a:round/>
                      <a:headEnd len="sm" w="sm" type="none"/>
                      <a:tailEnd len="sm" w="sm" type="none"/>
                    </a:lnT>
                    <a:lnB cap="flat" cmpd="sng" w="12700">
                      <a:solidFill>
                        <a:srgbClr val="CACACA"/>
                      </a:solidFill>
                      <a:prstDash val="solid"/>
                      <a:round/>
                      <a:headEnd len="sm" w="sm" type="none"/>
                      <a:tailEnd len="sm" w="sm" type="none"/>
                    </a:lnB>
                  </a:tcPr>
                </a:tc>
              </a:tr>
            </a:tbl>
          </a:graphicData>
        </a:graphic>
      </p:graphicFrame>
      <p:sp>
        <p:nvSpPr>
          <p:cNvPr id="392" name="Google Shape;392;p10"/>
          <p:cNvSpPr/>
          <p:nvPr/>
        </p:nvSpPr>
        <p:spPr>
          <a:xfrm>
            <a:off x="7899342" y="4547853"/>
            <a:ext cx="3220682" cy="314854"/>
          </a:xfrm>
          <a:prstGeom prst="roundRect">
            <a:avLst>
              <a:gd fmla="val 20168" name="adj"/>
            </a:avLst>
          </a:prstGeom>
          <a:solidFill>
            <a:srgbClr val="E3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0"/>
          <p:cNvSpPr/>
          <p:nvPr/>
        </p:nvSpPr>
        <p:spPr>
          <a:xfrm>
            <a:off x="8000942" y="4598653"/>
            <a:ext cx="3108006" cy="23865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200"/>
              <a:buFont typeface="JetBrains Mono"/>
              <a:buNone/>
            </a:pPr>
            <a:r>
              <a:rPr b="0" i="0" lang="en-US" sz="1200" u="none" cap="none" strike="noStrike">
                <a:solidFill>
                  <a:srgbClr val="041E42"/>
                </a:solidFill>
                <a:latin typeface="JetBrains Mono"/>
                <a:ea typeface="JetBrains Mono"/>
                <a:cs typeface="JetBrains Mono"/>
                <a:sym typeface="JetBrains Mono"/>
              </a:rPr>
              <a:t>df.groupby("cat")["value"].mean()</a:t>
            </a:r>
            <a:endParaRPr b="0" i="0" sz="1200" u="none" cap="none" strike="noStrike">
              <a:solidFill>
                <a:schemeClr val="dk1"/>
              </a:solidFill>
              <a:latin typeface="Calibri"/>
              <a:ea typeface="Calibri"/>
              <a:cs typeface="Calibri"/>
              <a:sym typeface="Calibri"/>
            </a:endParaRPr>
          </a:p>
        </p:txBody>
      </p:sp>
      <p:sp>
        <p:nvSpPr>
          <p:cNvPr id="394" name="Google Shape;394;p10"/>
          <p:cNvSpPr/>
          <p:nvPr/>
        </p:nvSpPr>
        <p:spPr>
          <a:xfrm>
            <a:off x="7899342" y="4926211"/>
            <a:ext cx="3220682" cy="314854"/>
          </a:xfrm>
          <a:prstGeom prst="roundRect">
            <a:avLst>
              <a:gd fmla="val 20168" name="adj"/>
            </a:avLst>
          </a:prstGeom>
          <a:solidFill>
            <a:srgbClr val="E3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0"/>
          <p:cNvSpPr/>
          <p:nvPr/>
        </p:nvSpPr>
        <p:spPr>
          <a:xfrm>
            <a:off x="8000942" y="4977011"/>
            <a:ext cx="3108006" cy="23865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200"/>
              <a:buFont typeface="JetBrains Mono"/>
              <a:buNone/>
            </a:pPr>
            <a:r>
              <a:rPr b="0" i="0" lang="en-US" sz="1200" u="none" cap="none" strike="noStrike">
                <a:solidFill>
                  <a:srgbClr val="041E42"/>
                </a:solidFill>
                <a:latin typeface="JetBrains Mono"/>
                <a:ea typeface="JetBrains Mono"/>
                <a:cs typeface="JetBrains Mono"/>
                <a:sym typeface="JetBrains Mono"/>
              </a:rPr>
              <a:t>pd.crosstab(df["grp"], df["cat"])</a:t>
            </a:r>
            <a:endParaRPr b="0" i="0" sz="1200" u="none" cap="none" strike="noStrike">
              <a:solidFill>
                <a:schemeClr val="dk1"/>
              </a:solidFill>
              <a:latin typeface="Calibri"/>
              <a:ea typeface="Calibri"/>
              <a:cs typeface="Calibri"/>
              <a:sym typeface="Calibri"/>
            </a:endParaRPr>
          </a:p>
        </p:txBody>
      </p:sp>
      <p:sp>
        <p:nvSpPr>
          <p:cNvPr id="396" name="Google Shape;396;p10"/>
          <p:cNvSpPr/>
          <p:nvPr/>
        </p:nvSpPr>
        <p:spPr>
          <a:xfrm>
            <a:off x="9385350" y="711188"/>
            <a:ext cx="279383" cy="279383"/>
          </a:xfrm>
          <a:prstGeom prst="roundRect">
            <a:avLst>
              <a:gd fmla="val 50000" name="adj"/>
            </a:avLst>
          </a:prstGeom>
          <a:solidFill>
            <a:srgbClr val="1E40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0"/>
          <p:cNvSpPr/>
          <p:nvPr/>
        </p:nvSpPr>
        <p:spPr>
          <a:xfrm>
            <a:off x="9359950" y="711188"/>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F6F7F9"/>
              </a:buClr>
              <a:buSzPts val="1200"/>
              <a:buFont typeface="DM Sans"/>
              <a:buNone/>
            </a:pPr>
            <a:r>
              <a:rPr b="1" i="0" lang="en-US" sz="1200" u="none" cap="none" strike="noStrike">
                <a:solidFill>
                  <a:srgbClr val="F6F7F9"/>
                </a:solidFill>
                <a:latin typeface="DM Sans"/>
                <a:ea typeface="DM Sans"/>
                <a:cs typeface="DM Sans"/>
                <a:sym typeface="DM Sans"/>
              </a:rPr>
              <a:t>1</a:t>
            </a:r>
            <a:endParaRPr b="0" i="0" sz="1200" u="none" cap="none" strike="noStrike">
              <a:solidFill>
                <a:schemeClr val="dk1"/>
              </a:solidFill>
              <a:latin typeface="Calibri"/>
              <a:ea typeface="Calibri"/>
              <a:cs typeface="Calibri"/>
              <a:sym typeface="Calibri"/>
            </a:endParaRPr>
          </a:p>
        </p:txBody>
      </p:sp>
      <p:sp>
        <p:nvSpPr>
          <p:cNvPr id="398" name="Google Shape;398;p10"/>
          <p:cNvSpPr/>
          <p:nvPr/>
        </p:nvSpPr>
        <p:spPr>
          <a:xfrm>
            <a:off x="9728233" y="711188"/>
            <a:ext cx="279383" cy="279383"/>
          </a:xfrm>
          <a:prstGeom prst="roundRect">
            <a:avLst>
              <a:gd fmla="val 50000" name="adj"/>
            </a:avLst>
          </a:prstGeom>
          <a:solidFill>
            <a:srgbClr val="1E40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0"/>
          <p:cNvSpPr/>
          <p:nvPr/>
        </p:nvSpPr>
        <p:spPr>
          <a:xfrm>
            <a:off x="9702833" y="711188"/>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F6F7F9"/>
              </a:buClr>
              <a:buSzPts val="1200"/>
              <a:buFont typeface="DM Sans"/>
              <a:buNone/>
            </a:pPr>
            <a:r>
              <a:rPr b="1" i="0" lang="en-US" sz="1200" u="none" cap="none" strike="noStrike">
                <a:solidFill>
                  <a:srgbClr val="F6F7F9"/>
                </a:solidFill>
                <a:latin typeface="DM Sans"/>
                <a:ea typeface="DM Sans"/>
                <a:cs typeface="DM Sans"/>
                <a:sym typeface="DM Sans"/>
              </a:rPr>
              <a:t>2</a:t>
            </a:r>
            <a:endParaRPr b="0" i="0" sz="1200" u="none" cap="none" strike="noStrike">
              <a:solidFill>
                <a:schemeClr val="dk1"/>
              </a:solidFill>
              <a:latin typeface="Calibri"/>
              <a:ea typeface="Calibri"/>
              <a:cs typeface="Calibri"/>
              <a:sym typeface="Calibri"/>
            </a:endParaRPr>
          </a:p>
        </p:txBody>
      </p:sp>
      <p:sp>
        <p:nvSpPr>
          <p:cNvPr id="400" name="Google Shape;400;p10"/>
          <p:cNvSpPr/>
          <p:nvPr/>
        </p:nvSpPr>
        <p:spPr>
          <a:xfrm>
            <a:off x="10071116" y="711188"/>
            <a:ext cx="279383" cy="279383"/>
          </a:xfrm>
          <a:prstGeom prst="roundRect">
            <a:avLst>
              <a:gd fmla="val 50000" name="adj"/>
            </a:avLst>
          </a:prstGeom>
          <a:solidFill>
            <a:srgbClr val="1E40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0"/>
          <p:cNvSpPr/>
          <p:nvPr/>
        </p:nvSpPr>
        <p:spPr>
          <a:xfrm>
            <a:off x="10045716" y="711188"/>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F6F7F9"/>
              </a:buClr>
              <a:buSzPts val="1200"/>
              <a:buFont typeface="DM Sans"/>
              <a:buNone/>
            </a:pPr>
            <a:r>
              <a:rPr b="1" i="0" lang="en-US" sz="1200" u="none" cap="none" strike="noStrike">
                <a:solidFill>
                  <a:srgbClr val="F6F7F9"/>
                </a:solidFill>
                <a:latin typeface="DM Sans"/>
                <a:ea typeface="DM Sans"/>
                <a:cs typeface="DM Sans"/>
                <a:sym typeface="DM Sans"/>
              </a:rPr>
              <a:t>3</a:t>
            </a:r>
            <a:endParaRPr b="0" i="0" sz="1200" u="none" cap="none" strike="noStrike">
              <a:solidFill>
                <a:schemeClr val="dk1"/>
              </a:solidFill>
              <a:latin typeface="Calibri"/>
              <a:ea typeface="Calibri"/>
              <a:cs typeface="Calibri"/>
              <a:sym typeface="Calibri"/>
            </a:endParaRPr>
          </a:p>
        </p:txBody>
      </p:sp>
      <p:sp>
        <p:nvSpPr>
          <p:cNvPr id="402" name="Google Shape;402;p10"/>
          <p:cNvSpPr/>
          <p:nvPr/>
        </p:nvSpPr>
        <p:spPr>
          <a:xfrm>
            <a:off x="10414000" y="711188"/>
            <a:ext cx="279383" cy="279383"/>
          </a:xfrm>
          <a:prstGeom prst="roundRect">
            <a:avLst>
              <a:gd fmla="val 50000" name="adj"/>
            </a:avLst>
          </a:prstGeom>
          <a:solidFill>
            <a:srgbClr val="F9A8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0"/>
          <p:cNvSpPr/>
          <p:nvPr/>
        </p:nvSpPr>
        <p:spPr>
          <a:xfrm>
            <a:off x="10388600" y="711188"/>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041E42"/>
              </a:buClr>
              <a:buSzPts val="1200"/>
              <a:buFont typeface="DM Sans"/>
              <a:buNone/>
            </a:pPr>
            <a:r>
              <a:rPr b="1" i="0" lang="en-US" sz="1200" u="none" cap="none" strike="noStrike">
                <a:solidFill>
                  <a:srgbClr val="041E42"/>
                </a:solidFill>
                <a:latin typeface="DM Sans"/>
                <a:ea typeface="DM Sans"/>
                <a:cs typeface="DM Sans"/>
                <a:sym typeface="DM Sans"/>
              </a:rPr>
              <a:t>4</a:t>
            </a:r>
            <a:endParaRPr b="0" i="0" sz="1200" u="none" cap="none" strike="noStrike">
              <a:solidFill>
                <a:schemeClr val="dk1"/>
              </a:solidFill>
              <a:latin typeface="Calibri"/>
              <a:ea typeface="Calibri"/>
              <a:cs typeface="Calibri"/>
              <a:sym typeface="Calibri"/>
            </a:endParaRPr>
          </a:p>
        </p:txBody>
      </p:sp>
      <p:sp>
        <p:nvSpPr>
          <p:cNvPr id="404" name="Google Shape;404;p10"/>
          <p:cNvSpPr/>
          <p:nvPr/>
        </p:nvSpPr>
        <p:spPr>
          <a:xfrm>
            <a:off x="10756883" y="711188"/>
            <a:ext cx="279383" cy="279383"/>
          </a:xfrm>
          <a:prstGeom prst="roundRect">
            <a:avLst>
              <a:gd fmla="val 50000" name="adj"/>
            </a:avLst>
          </a:prstGeom>
          <a:solidFill>
            <a:srgbClr val="DCE6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0"/>
          <p:cNvSpPr/>
          <p:nvPr/>
        </p:nvSpPr>
        <p:spPr>
          <a:xfrm>
            <a:off x="10731483" y="711188"/>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1E407C"/>
              </a:buClr>
              <a:buSzPts val="1200"/>
              <a:buFont typeface="DM Sans"/>
              <a:buNone/>
            </a:pPr>
            <a:r>
              <a:rPr b="1" i="0" lang="en-US" sz="1200" u="none" cap="none" strike="noStrike">
                <a:solidFill>
                  <a:srgbClr val="1E407C"/>
                </a:solidFill>
                <a:latin typeface="DM Sans"/>
                <a:ea typeface="DM Sans"/>
                <a:cs typeface="DM Sans"/>
                <a:sym typeface="DM Sans"/>
              </a:rPr>
              <a:t>5</a:t>
            </a:r>
            <a:endParaRPr b="0" i="0" sz="1200" u="none" cap="none" strike="noStrike">
              <a:solidFill>
                <a:schemeClr val="dk1"/>
              </a:solidFill>
              <a:latin typeface="Calibri"/>
              <a:ea typeface="Calibri"/>
              <a:cs typeface="Calibri"/>
              <a:sym typeface="Calibri"/>
            </a:endParaRPr>
          </a:p>
        </p:txBody>
      </p:sp>
      <p:sp>
        <p:nvSpPr>
          <p:cNvPr id="406" name="Google Shape;406;p10"/>
          <p:cNvSpPr/>
          <p:nvPr/>
        </p:nvSpPr>
        <p:spPr>
          <a:xfrm>
            <a:off x="11099767" y="711188"/>
            <a:ext cx="279383" cy="279383"/>
          </a:xfrm>
          <a:prstGeom prst="roundRect">
            <a:avLst>
              <a:gd fmla="val 50000" name="adj"/>
            </a:avLst>
          </a:prstGeom>
          <a:solidFill>
            <a:srgbClr val="DCE6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0"/>
          <p:cNvSpPr/>
          <p:nvPr/>
        </p:nvSpPr>
        <p:spPr>
          <a:xfrm>
            <a:off x="11074367" y="711188"/>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1E407C"/>
              </a:buClr>
              <a:buSzPts val="1200"/>
              <a:buFont typeface="DM Sans"/>
              <a:buNone/>
            </a:pPr>
            <a:r>
              <a:rPr b="1" i="0" lang="en-US" sz="1200" u="none" cap="none" strike="noStrike">
                <a:solidFill>
                  <a:srgbClr val="1E407C"/>
                </a:solidFill>
                <a:latin typeface="DM Sans"/>
                <a:ea typeface="DM Sans"/>
                <a:cs typeface="DM Sans"/>
                <a:sym typeface="DM Sans"/>
              </a:rPr>
              <a:t>6</a:t>
            </a:r>
            <a:endParaRPr b="0" i="0" sz="1200" u="none" cap="none" strike="noStrike">
              <a:solidFill>
                <a:schemeClr val="dk1"/>
              </a:solidFill>
              <a:latin typeface="Calibri"/>
              <a:ea typeface="Calibri"/>
              <a:cs typeface="Calibri"/>
              <a:sym typeface="Calibri"/>
            </a:endParaRPr>
          </a:p>
        </p:txBody>
      </p:sp>
      <p:sp>
        <p:nvSpPr>
          <p:cNvPr id="408" name="Google Shape;408;p10"/>
          <p:cNvSpPr/>
          <p:nvPr/>
        </p:nvSpPr>
        <p:spPr>
          <a:xfrm>
            <a:off x="812767" y="6237015"/>
            <a:ext cx="325734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880"/>
              </a:buClr>
              <a:buSzPts val="1200"/>
              <a:buFont typeface="DM Sans"/>
              <a:buNone/>
            </a:pPr>
            <a:r>
              <a:rPr b="0" i="0" lang="en-US" sz="1200" u="none" cap="none" strike="noStrike">
                <a:solidFill>
                  <a:srgbClr val="5A6880"/>
                </a:solidFill>
                <a:latin typeface="DM Sans"/>
                <a:ea typeface="DM Sans"/>
                <a:cs typeface="DM Sans"/>
                <a:sym typeface="DM Sans"/>
              </a:rPr>
              <a:t>Nittany Data Labs · Exploratory Data Analysis</a:t>
            </a:r>
            <a:endParaRPr b="0" i="0" sz="1200" u="none" cap="none" strike="noStrike">
              <a:solidFill>
                <a:schemeClr val="dk1"/>
              </a:solidFill>
              <a:latin typeface="Calibri"/>
              <a:ea typeface="Calibri"/>
              <a:cs typeface="Calibri"/>
              <a:sym typeface="Calibri"/>
            </a:endParaRPr>
          </a:p>
        </p:txBody>
      </p:sp>
      <p:sp>
        <p:nvSpPr>
          <p:cNvPr id="409" name="Google Shape;409;p10"/>
          <p:cNvSpPr/>
          <p:nvPr/>
        </p:nvSpPr>
        <p:spPr>
          <a:xfrm>
            <a:off x="11227346" y="6237015"/>
            <a:ext cx="20260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880"/>
              </a:buClr>
              <a:buSzPts val="1200"/>
              <a:buFont typeface="DM Sans"/>
              <a:buNone/>
            </a:pPr>
            <a:r>
              <a:rPr b="0" i="0" lang="en-US" sz="1200" u="none" cap="none" strike="noStrike">
                <a:solidFill>
                  <a:srgbClr val="5A6880"/>
                </a:solidFill>
                <a:latin typeface="DM Sans"/>
                <a:ea typeface="DM Sans"/>
                <a:cs typeface="DM Sans"/>
                <a:sym typeface="DM Sans"/>
              </a:rPr>
              <a:t>10</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9"/>
        </a:solidFill>
      </p:bgPr>
    </p:bg>
    <p:spTree>
      <p:nvGrpSpPr>
        <p:cNvPr id="414" name="Shape 414"/>
        <p:cNvGrpSpPr/>
        <p:nvPr/>
      </p:nvGrpSpPr>
      <p:grpSpPr>
        <a:xfrm>
          <a:off x="0" y="0"/>
          <a:ext cx="0" cy="0"/>
          <a:chOff x="0" y="0"/>
          <a:chExt cx="0" cy="0"/>
        </a:xfrm>
      </p:grpSpPr>
      <p:sp>
        <p:nvSpPr>
          <p:cNvPr id="415" name="Google Shape;415;p11"/>
          <p:cNvSpPr/>
          <p:nvPr/>
        </p:nvSpPr>
        <p:spPr>
          <a:xfrm>
            <a:off x="812767" y="812763"/>
            <a:ext cx="1088346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E407C"/>
              </a:buClr>
              <a:buSzPts val="1200"/>
              <a:buFont typeface="DM Sans"/>
              <a:buNone/>
            </a:pPr>
            <a:r>
              <a:rPr b="1" i="0" lang="en-US" sz="1200" u="none" cap="none" strike="noStrike">
                <a:solidFill>
                  <a:srgbClr val="1E407C"/>
                </a:solidFill>
                <a:latin typeface="DM Sans"/>
                <a:ea typeface="DM Sans"/>
                <a:cs typeface="DM Sans"/>
                <a:sym typeface="DM Sans"/>
              </a:rPr>
              <a:t>STEP 5 OF 6</a:t>
            </a:r>
            <a:endParaRPr b="0" i="0" sz="1200" u="none" cap="none" strike="noStrike">
              <a:solidFill>
                <a:schemeClr val="dk1"/>
              </a:solidFill>
              <a:latin typeface="Calibri"/>
              <a:ea typeface="Calibri"/>
              <a:cs typeface="Calibri"/>
              <a:sym typeface="Calibri"/>
            </a:endParaRPr>
          </a:p>
        </p:txBody>
      </p:sp>
      <p:sp>
        <p:nvSpPr>
          <p:cNvPr id="416" name="Google Shape;416;p11"/>
          <p:cNvSpPr/>
          <p:nvPr/>
        </p:nvSpPr>
        <p:spPr>
          <a:xfrm>
            <a:off x="812767" y="1102277"/>
            <a:ext cx="10883460" cy="472422"/>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041E42"/>
              </a:buClr>
              <a:buSzPts val="3200"/>
              <a:buFont typeface="DM Sans"/>
              <a:buNone/>
            </a:pPr>
            <a:r>
              <a:rPr b="1" i="0" lang="en-US" sz="3200" u="none" cap="none" strike="noStrike">
                <a:solidFill>
                  <a:srgbClr val="041E42"/>
                </a:solidFill>
                <a:latin typeface="DM Sans"/>
                <a:ea typeface="DM Sans"/>
                <a:cs typeface="DM Sans"/>
                <a:sym typeface="DM Sans"/>
              </a:rPr>
              <a:t>Many variables at once</a:t>
            </a:r>
            <a:endParaRPr b="0" i="0" sz="3200" u="none" cap="none" strike="noStrike">
              <a:solidFill>
                <a:schemeClr val="dk1"/>
              </a:solidFill>
              <a:latin typeface="Calibri"/>
              <a:ea typeface="Calibri"/>
              <a:cs typeface="Calibri"/>
              <a:sym typeface="Calibri"/>
            </a:endParaRPr>
          </a:p>
        </p:txBody>
      </p:sp>
      <p:cxnSp>
        <p:nvCxnSpPr>
          <p:cNvPr id="417" name="Google Shape;417;p11"/>
          <p:cNvCxnSpPr/>
          <p:nvPr/>
        </p:nvCxnSpPr>
        <p:spPr>
          <a:xfrm>
            <a:off x="831817" y="2568029"/>
            <a:ext cx="0" cy="553641"/>
          </a:xfrm>
          <a:prstGeom prst="straightConnector1">
            <a:avLst/>
          </a:prstGeom>
          <a:noFill/>
          <a:ln cap="flat" cmpd="sng" w="38100">
            <a:solidFill>
              <a:srgbClr val="F9A826"/>
            </a:solidFill>
            <a:prstDash val="solid"/>
            <a:round/>
            <a:headEnd len="sm" w="sm" type="none"/>
            <a:tailEnd len="sm" w="sm" type="none"/>
          </a:ln>
        </p:spPr>
      </p:cxnSp>
      <p:sp>
        <p:nvSpPr>
          <p:cNvPr id="418" name="Google Shape;418;p11"/>
          <p:cNvSpPr/>
          <p:nvPr/>
        </p:nvSpPr>
        <p:spPr>
          <a:xfrm>
            <a:off x="1002209" y="2580729"/>
            <a:ext cx="3729175" cy="553641"/>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B4A63"/>
              </a:buClr>
              <a:buSzPts val="1600"/>
              <a:buFont typeface="DM Sans"/>
              <a:buNone/>
            </a:pPr>
            <a:r>
              <a:rPr b="1" i="0" lang="en-US" sz="1600" u="none" cap="none" strike="noStrike">
                <a:solidFill>
                  <a:srgbClr val="3B4A63"/>
                </a:solidFill>
                <a:latin typeface="DM Sans"/>
                <a:ea typeface="DM Sans"/>
                <a:cs typeface="DM Sans"/>
                <a:sym typeface="DM Sans"/>
              </a:rPr>
              <a:t>Heatmap</a:t>
            </a:r>
            <a:r>
              <a:rPr b="0" i="0" lang="en-US" sz="1600" u="none" cap="none" strike="noStrike">
                <a:solidFill>
                  <a:srgbClr val="3B4A63"/>
                </a:solidFill>
                <a:latin typeface="DM Sans"/>
                <a:ea typeface="DM Sans"/>
                <a:cs typeface="DM Sans"/>
                <a:sym typeface="DM Sans"/>
              </a:rPr>
              <a:t>: every correlation at a glance</a:t>
            </a:r>
            <a:endParaRPr b="0" i="0" sz="1600" u="none" cap="none" strike="noStrike">
              <a:solidFill>
                <a:schemeClr val="dk1"/>
              </a:solidFill>
              <a:latin typeface="Calibri"/>
              <a:ea typeface="Calibri"/>
              <a:cs typeface="Calibri"/>
              <a:sym typeface="Calibri"/>
            </a:endParaRPr>
          </a:p>
        </p:txBody>
      </p:sp>
      <p:cxnSp>
        <p:nvCxnSpPr>
          <p:cNvPr id="419" name="Google Shape;419;p11"/>
          <p:cNvCxnSpPr/>
          <p:nvPr/>
        </p:nvCxnSpPr>
        <p:spPr>
          <a:xfrm>
            <a:off x="831817" y="3324858"/>
            <a:ext cx="0" cy="289512"/>
          </a:xfrm>
          <a:prstGeom prst="straightConnector1">
            <a:avLst/>
          </a:prstGeom>
          <a:noFill/>
          <a:ln cap="flat" cmpd="sng" w="38100">
            <a:solidFill>
              <a:srgbClr val="F9A826"/>
            </a:solidFill>
            <a:prstDash val="solid"/>
            <a:round/>
            <a:headEnd len="sm" w="sm" type="none"/>
            <a:tailEnd len="sm" w="sm" type="none"/>
          </a:ln>
        </p:spPr>
      </p:cxnSp>
      <p:sp>
        <p:nvSpPr>
          <p:cNvPr id="420" name="Google Shape;420;p11"/>
          <p:cNvSpPr/>
          <p:nvPr/>
        </p:nvSpPr>
        <p:spPr>
          <a:xfrm>
            <a:off x="1002209" y="3337558"/>
            <a:ext cx="3729175" cy="28951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B4A63"/>
              </a:buClr>
              <a:buSzPts val="1600"/>
              <a:buFont typeface="DM Sans"/>
              <a:buNone/>
            </a:pPr>
            <a:r>
              <a:rPr b="1" i="0" lang="en-US" sz="1600" u="none" cap="none" strike="noStrike">
                <a:solidFill>
                  <a:srgbClr val="3B4A63"/>
                </a:solidFill>
                <a:latin typeface="DM Sans"/>
                <a:ea typeface="DM Sans"/>
                <a:cs typeface="DM Sans"/>
                <a:sym typeface="DM Sans"/>
              </a:rPr>
              <a:t>Pair plot</a:t>
            </a:r>
            <a:r>
              <a:rPr b="0" i="0" lang="en-US" sz="1600" u="none" cap="none" strike="noStrike">
                <a:solidFill>
                  <a:srgbClr val="3B4A63"/>
                </a:solidFill>
                <a:latin typeface="DM Sans"/>
                <a:ea typeface="DM Sans"/>
                <a:cs typeface="DM Sans"/>
                <a:sym typeface="DM Sans"/>
              </a:rPr>
              <a:t>: a grid of scatter plots</a:t>
            </a:r>
            <a:endParaRPr b="0" i="0" sz="1600" u="none" cap="none" strike="noStrike">
              <a:solidFill>
                <a:schemeClr val="dk1"/>
              </a:solidFill>
              <a:latin typeface="Calibri"/>
              <a:ea typeface="Calibri"/>
              <a:cs typeface="Calibri"/>
              <a:sym typeface="Calibri"/>
            </a:endParaRPr>
          </a:p>
        </p:txBody>
      </p:sp>
      <p:cxnSp>
        <p:nvCxnSpPr>
          <p:cNvPr id="421" name="Google Shape;421;p11"/>
          <p:cNvCxnSpPr/>
          <p:nvPr/>
        </p:nvCxnSpPr>
        <p:spPr>
          <a:xfrm>
            <a:off x="831817" y="3817565"/>
            <a:ext cx="0" cy="553641"/>
          </a:xfrm>
          <a:prstGeom prst="straightConnector1">
            <a:avLst/>
          </a:prstGeom>
          <a:noFill/>
          <a:ln cap="flat" cmpd="sng" w="38100">
            <a:solidFill>
              <a:srgbClr val="F9A826"/>
            </a:solidFill>
            <a:prstDash val="solid"/>
            <a:round/>
            <a:headEnd len="sm" w="sm" type="none"/>
            <a:tailEnd len="sm" w="sm" type="none"/>
          </a:ln>
        </p:spPr>
      </p:cxnSp>
      <p:sp>
        <p:nvSpPr>
          <p:cNvPr id="422" name="Google Shape;422;p11"/>
          <p:cNvSpPr/>
          <p:nvPr/>
        </p:nvSpPr>
        <p:spPr>
          <a:xfrm>
            <a:off x="1002209" y="3830265"/>
            <a:ext cx="3729175" cy="553641"/>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B4A63"/>
              </a:buClr>
              <a:buSzPts val="1600"/>
              <a:buFont typeface="DM Sans"/>
              <a:buNone/>
            </a:pPr>
            <a:r>
              <a:rPr b="1" i="0" lang="en-US" sz="1600" u="none" cap="none" strike="noStrike">
                <a:solidFill>
                  <a:srgbClr val="3B4A63"/>
                </a:solidFill>
                <a:latin typeface="DM Sans"/>
                <a:ea typeface="DM Sans"/>
                <a:cs typeface="DM Sans"/>
                <a:sym typeface="DM Sans"/>
              </a:rPr>
              <a:t>Color by category</a:t>
            </a:r>
            <a:r>
              <a:rPr b="0" i="0" lang="en-US" sz="1600" u="none" cap="none" strike="noStrike">
                <a:solidFill>
                  <a:srgbClr val="3B4A63"/>
                </a:solidFill>
                <a:latin typeface="DM Sans"/>
                <a:ea typeface="DM Sans"/>
                <a:cs typeface="DM Sans"/>
                <a:sym typeface="DM Sans"/>
              </a:rPr>
              <a:t> to add a 3rd variable</a:t>
            </a:r>
            <a:endParaRPr b="0" i="0" sz="1600" u="none" cap="none" strike="noStrike">
              <a:solidFill>
                <a:schemeClr val="dk1"/>
              </a:solidFill>
              <a:latin typeface="Calibri"/>
              <a:ea typeface="Calibri"/>
              <a:cs typeface="Calibri"/>
              <a:sym typeface="Calibri"/>
            </a:endParaRPr>
          </a:p>
        </p:txBody>
      </p:sp>
      <p:cxnSp>
        <p:nvCxnSpPr>
          <p:cNvPr id="423" name="Google Shape;423;p11"/>
          <p:cNvCxnSpPr/>
          <p:nvPr/>
        </p:nvCxnSpPr>
        <p:spPr>
          <a:xfrm>
            <a:off x="831817" y="4574394"/>
            <a:ext cx="0" cy="553641"/>
          </a:xfrm>
          <a:prstGeom prst="straightConnector1">
            <a:avLst/>
          </a:prstGeom>
          <a:noFill/>
          <a:ln cap="flat" cmpd="sng" w="38100">
            <a:solidFill>
              <a:srgbClr val="F9A826"/>
            </a:solidFill>
            <a:prstDash val="solid"/>
            <a:round/>
            <a:headEnd len="sm" w="sm" type="none"/>
            <a:tailEnd len="sm" w="sm" type="none"/>
          </a:ln>
        </p:spPr>
      </p:cxnSp>
      <p:sp>
        <p:nvSpPr>
          <p:cNvPr id="424" name="Google Shape;424;p11"/>
          <p:cNvSpPr/>
          <p:nvPr/>
        </p:nvSpPr>
        <p:spPr>
          <a:xfrm>
            <a:off x="1002209" y="4587094"/>
            <a:ext cx="3729175" cy="553641"/>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B4A63"/>
              </a:buClr>
              <a:buSzPts val="1600"/>
              <a:buFont typeface="DM Sans"/>
              <a:buNone/>
            </a:pPr>
            <a:r>
              <a:rPr b="0" i="0" lang="en-US" sz="1600" u="none" cap="none" strike="noStrike">
                <a:solidFill>
                  <a:srgbClr val="3B4A63"/>
                </a:solidFill>
                <a:latin typeface="DM Sans"/>
                <a:ea typeface="DM Sans"/>
                <a:cs typeface="DM Sans"/>
                <a:sym typeface="DM Sans"/>
              </a:rPr>
              <a:t>Look for </a:t>
            </a:r>
            <a:r>
              <a:rPr b="1" i="0" lang="en-US" sz="1600" u="none" cap="none" strike="noStrike">
                <a:solidFill>
                  <a:srgbClr val="3B4A63"/>
                </a:solidFill>
                <a:latin typeface="DM Sans"/>
                <a:ea typeface="DM Sans"/>
                <a:cs typeface="DM Sans"/>
                <a:sym typeface="DM Sans"/>
              </a:rPr>
              <a:t>clusters</a:t>
            </a:r>
            <a:r>
              <a:rPr b="0" i="0" lang="en-US" sz="1600" u="none" cap="none" strike="noStrike">
                <a:solidFill>
                  <a:srgbClr val="3B4A63"/>
                </a:solidFill>
                <a:latin typeface="DM Sans"/>
                <a:ea typeface="DM Sans"/>
                <a:cs typeface="DM Sans"/>
                <a:sym typeface="DM Sans"/>
              </a:rPr>
              <a:t> that behave differently</a:t>
            </a:r>
            <a:endParaRPr b="0" i="0" sz="1600" u="none" cap="none" strike="noStrike">
              <a:solidFill>
                <a:schemeClr val="dk1"/>
              </a:solidFill>
              <a:latin typeface="Calibri"/>
              <a:ea typeface="Calibri"/>
              <a:cs typeface="Calibri"/>
              <a:sym typeface="Calibri"/>
            </a:endParaRPr>
          </a:p>
        </p:txBody>
      </p:sp>
      <p:sp>
        <p:nvSpPr>
          <p:cNvPr id="425" name="Google Shape;425;p11"/>
          <p:cNvSpPr/>
          <p:nvPr/>
        </p:nvSpPr>
        <p:spPr>
          <a:xfrm>
            <a:off x="5600617" y="2715518"/>
            <a:ext cx="507983" cy="238671"/>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5A6880"/>
              </a:buClr>
              <a:buSzPts val="1200"/>
              <a:buFont typeface="DM Sans"/>
              <a:buNone/>
            </a:pPr>
            <a:r>
              <a:rPr b="1" i="0" lang="en-US" sz="1200" u="none" cap="none" strike="noStrike">
                <a:solidFill>
                  <a:srgbClr val="5A6880"/>
                </a:solidFill>
                <a:latin typeface="DM Sans"/>
                <a:ea typeface="DM Sans"/>
                <a:cs typeface="DM Sans"/>
                <a:sym typeface="DM Sans"/>
              </a:rPr>
              <a:t>A</a:t>
            </a:r>
            <a:endParaRPr b="0" i="0" sz="1200" u="none" cap="none" strike="noStrike">
              <a:solidFill>
                <a:schemeClr val="dk1"/>
              </a:solidFill>
              <a:latin typeface="Calibri"/>
              <a:ea typeface="Calibri"/>
              <a:cs typeface="Calibri"/>
              <a:sym typeface="Calibri"/>
            </a:endParaRPr>
          </a:p>
        </p:txBody>
      </p:sp>
      <p:sp>
        <p:nvSpPr>
          <p:cNvPr id="426" name="Google Shape;426;p11"/>
          <p:cNvSpPr/>
          <p:nvPr/>
        </p:nvSpPr>
        <p:spPr>
          <a:xfrm>
            <a:off x="6159384" y="2715518"/>
            <a:ext cx="507983" cy="238671"/>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5A6880"/>
              </a:buClr>
              <a:buSzPts val="1200"/>
              <a:buFont typeface="DM Sans"/>
              <a:buNone/>
            </a:pPr>
            <a:r>
              <a:rPr b="1" i="0" lang="en-US" sz="1200" u="none" cap="none" strike="noStrike">
                <a:solidFill>
                  <a:srgbClr val="5A6880"/>
                </a:solidFill>
                <a:latin typeface="DM Sans"/>
                <a:ea typeface="DM Sans"/>
                <a:cs typeface="DM Sans"/>
                <a:sym typeface="DM Sans"/>
              </a:rPr>
              <a:t>B</a:t>
            </a:r>
            <a:endParaRPr b="0" i="0" sz="1200" u="none" cap="none" strike="noStrike">
              <a:solidFill>
                <a:schemeClr val="dk1"/>
              </a:solidFill>
              <a:latin typeface="Calibri"/>
              <a:ea typeface="Calibri"/>
              <a:cs typeface="Calibri"/>
              <a:sym typeface="Calibri"/>
            </a:endParaRPr>
          </a:p>
        </p:txBody>
      </p:sp>
      <p:sp>
        <p:nvSpPr>
          <p:cNvPr id="427" name="Google Shape;427;p11"/>
          <p:cNvSpPr/>
          <p:nvPr/>
        </p:nvSpPr>
        <p:spPr>
          <a:xfrm>
            <a:off x="6718151" y="2715518"/>
            <a:ext cx="507983" cy="238671"/>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5A6880"/>
              </a:buClr>
              <a:buSzPts val="1200"/>
              <a:buFont typeface="DM Sans"/>
              <a:buNone/>
            </a:pPr>
            <a:r>
              <a:rPr b="1" i="0" lang="en-US" sz="1200" u="none" cap="none" strike="noStrike">
                <a:solidFill>
                  <a:srgbClr val="5A6880"/>
                </a:solidFill>
                <a:latin typeface="DM Sans"/>
                <a:ea typeface="DM Sans"/>
                <a:cs typeface="DM Sans"/>
                <a:sym typeface="DM Sans"/>
              </a:rPr>
              <a:t>C</a:t>
            </a:r>
            <a:endParaRPr b="0" i="0" sz="1200" u="none" cap="none" strike="noStrike">
              <a:solidFill>
                <a:schemeClr val="dk1"/>
              </a:solidFill>
              <a:latin typeface="Calibri"/>
              <a:ea typeface="Calibri"/>
              <a:cs typeface="Calibri"/>
              <a:sym typeface="Calibri"/>
            </a:endParaRPr>
          </a:p>
        </p:txBody>
      </p:sp>
      <p:sp>
        <p:nvSpPr>
          <p:cNvPr id="428" name="Google Shape;428;p11"/>
          <p:cNvSpPr/>
          <p:nvPr/>
        </p:nvSpPr>
        <p:spPr>
          <a:xfrm>
            <a:off x="7276918" y="2715518"/>
            <a:ext cx="507983" cy="238671"/>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5A6880"/>
              </a:buClr>
              <a:buSzPts val="1200"/>
              <a:buFont typeface="DM Sans"/>
              <a:buNone/>
            </a:pPr>
            <a:r>
              <a:rPr b="1" i="0" lang="en-US" sz="1200" u="none" cap="none" strike="noStrike">
                <a:solidFill>
                  <a:srgbClr val="5A6880"/>
                </a:solidFill>
                <a:latin typeface="DM Sans"/>
                <a:ea typeface="DM Sans"/>
                <a:cs typeface="DM Sans"/>
                <a:sym typeface="DM Sans"/>
              </a:rPr>
              <a:t>D</a:t>
            </a:r>
            <a:endParaRPr b="0" i="0" sz="1200" u="none" cap="none" strike="noStrike">
              <a:solidFill>
                <a:schemeClr val="dk1"/>
              </a:solidFill>
              <a:latin typeface="Calibri"/>
              <a:ea typeface="Calibri"/>
              <a:cs typeface="Calibri"/>
              <a:sym typeface="Calibri"/>
            </a:endParaRPr>
          </a:p>
        </p:txBody>
      </p:sp>
      <p:sp>
        <p:nvSpPr>
          <p:cNvPr id="429" name="Google Shape;429;p11"/>
          <p:cNvSpPr/>
          <p:nvPr/>
        </p:nvSpPr>
        <p:spPr>
          <a:xfrm>
            <a:off x="5041850" y="3030370"/>
            <a:ext cx="507983" cy="238671"/>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5A6880"/>
              </a:buClr>
              <a:buSzPts val="1200"/>
              <a:buFont typeface="DM Sans"/>
              <a:buNone/>
            </a:pPr>
            <a:r>
              <a:rPr b="1" i="0" lang="en-US" sz="1200" u="none" cap="none" strike="noStrike">
                <a:solidFill>
                  <a:srgbClr val="5A6880"/>
                </a:solidFill>
                <a:latin typeface="DM Sans"/>
                <a:ea typeface="DM Sans"/>
                <a:cs typeface="DM Sans"/>
                <a:sym typeface="DM Sans"/>
              </a:rPr>
              <a:t>A</a:t>
            </a:r>
            <a:endParaRPr b="0" i="0" sz="1200" u="none" cap="none" strike="noStrike">
              <a:solidFill>
                <a:schemeClr val="dk1"/>
              </a:solidFill>
              <a:latin typeface="Calibri"/>
              <a:ea typeface="Calibri"/>
              <a:cs typeface="Calibri"/>
              <a:sym typeface="Calibri"/>
            </a:endParaRPr>
          </a:p>
        </p:txBody>
      </p:sp>
      <p:sp>
        <p:nvSpPr>
          <p:cNvPr id="430" name="Google Shape;430;p11"/>
          <p:cNvSpPr/>
          <p:nvPr/>
        </p:nvSpPr>
        <p:spPr>
          <a:xfrm>
            <a:off x="5587917" y="2992270"/>
            <a:ext cx="533383" cy="289471"/>
          </a:xfrm>
          <a:prstGeom prst="roundRect">
            <a:avLst>
              <a:gd fmla="val 13162" name="adj"/>
            </a:avLst>
          </a:prstGeom>
          <a:solidFill>
            <a:srgbClr val="041E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1"/>
          <p:cNvSpPr/>
          <p:nvPr/>
        </p:nvSpPr>
        <p:spPr>
          <a:xfrm>
            <a:off x="5600617" y="3030370"/>
            <a:ext cx="507983" cy="238671"/>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F6F7F9"/>
              </a:buClr>
              <a:buSzPts val="1200"/>
              <a:buFont typeface="DM Sans"/>
              <a:buNone/>
            </a:pPr>
            <a:r>
              <a:rPr b="0" i="0" lang="en-US" sz="1200" u="none" cap="none" strike="noStrike">
                <a:solidFill>
                  <a:srgbClr val="F6F7F9"/>
                </a:solidFill>
                <a:latin typeface="DM Sans"/>
                <a:ea typeface="DM Sans"/>
                <a:cs typeface="DM Sans"/>
                <a:sym typeface="DM Sans"/>
              </a:rPr>
              <a:t>1.00</a:t>
            </a:r>
            <a:endParaRPr b="0" i="0" sz="1200" u="none" cap="none" strike="noStrike">
              <a:solidFill>
                <a:schemeClr val="dk1"/>
              </a:solidFill>
              <a:latin typeface="Calibri"/>
              <a:ea typeface="Calibri"/>
              <a:cs typeface="Calibri"/>
              <a:sym typeface="Calibri"/>
            </a:endParaRPr>
          </a:p>
        </p:txBody>
      </p:sp>
      <p:sp>
        <p:nvSpPr>
          <p:cNvPr id="432" name="Google Shape;432;p11"/>
          <p:cNvSpPr/>
          <p:nvPr/>
        </p:nvSpPr>
        <p:spPr>
          <a:xfrm>
            <a:off x="6146684" y="2992270"/>
            <a:ext cx="533383" cy="289471"/>
          </a:xfrm>
          <a:prstGeom prst="roundRect">
            <a:avLst>
              <a:gd fmla="val 13162" name="adj"/>
            </a:avLst>
          </a:prstGeom>
          <a:solidFill>
            <a:srgbClr val="041E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1"/>
          <p:cNvSpPr/>
          <p:nvPr/>
        </p:nvSpPr>
        <p:spPr>
          <a:xfrm>
            <a:off x="6159384" y="3030370"/>
            <a:ext cx="507983" cy="238671"/>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F6F7F9"/>
              </a:buClr>
              <a:buSzPts val="1200"/>
              <a:buFont typeface="DM Sans"/>
              <a:buNone/>
            </a:pPr>
            <a:r>
              <a:rPr b="0" i="0" lang="en-US" sz="1200" u="none" cap="none" strike="noStrike">
                <a:solidFill>
                  <a:srgbClr val="F6F7F9"/>
                </a:solidFill>
                <a:latin typeface="DM Sans"/>
                <a:ea typeface="DM Sans"/>
                <a:cs typeface="DM Sans"/>
                <a:sym typeface="DM Sans"/>
              </a:rPr>
              <a:t>0.85</a:t>
            </a:r>
            <a:endParaRPr b="0" i="0" sz="1200" u="none" cap="none" strike="noStrike">
              <a:solidFill>
                <a:schemeClr val="dk1"/>
              </a:solidFill>
              <a:latin typeface="Calibri"/>
              <a:ea typeface="Calibri"/>
              <a:cs typeface="Calibri"/>
              <a:sym typeface="Calibri"/>
            </a:endParaRPr>
          </a:p>
        </p:txBody>
      </p:sp>
      <p:sp>
        <p:nvSpPr>
          <p:cNvPr id="434" name="Google Shape;434;p11"/>
          <p:cNvSpPr/>
          <p:nvPr/>
        </p:nvSpPr>
        <p:spPr>
          <a:xfrm>
            <a:off x="6705451" y="2992270"/>
            <a:ext cx="533383" cy="289471"/>
          </a:xfrm>
          <a:prstGeom prst="roundRect">
            <a:avLst>
              <a:gd fmla="val 13162" name="adj"/>
            </a:avLst>
          </a:prstGeom>
          <a:solidFill>
            <a:srgbClr val="F9B8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1"/>
          <p:cNvSpPr/>
          <p:nvPr/>
        </p:nvSpPr>
        <p:spPr>
          <a:xfrm>
            <a:off x="6718151" y="3030370"/>
            <a:ext cx="507983" cy="238671"/>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041E42"/>
              </a:buClr>
              <a:buSzPts val="1200"/>
              <a:buFont typeface="DM Sans"/>
              <a:buNone/>
            </a:pPr>
            <a:r>
              <a:rPr b="0" i="0" lang="en-US" sz="1200" u="none" cap="none" strike="noStrike">
                <a:solidFill>
                  <a:srgbClr val="041E42"/>
                </a:solidFill>
                <a:latin typeface="DM Sans"/>
                <a:ea typeface="DM Sans"/>
                <a:cs typeface="DM Sans"/>
                <a:sym typeface="DM Sans"/>
              </a:rPr>
              <a:t>−0.40</a:t>
            </a:r>
            <a:endParaRPr b="0" i="0" sz="1200" u="none" cap="none" strike="noStrike">
              <a:solidFill>
                <a:schemeClr val="dk1"/>
              </a:solidFill>
              <a:latin typeface="Calibri"/>
              <a:ea typeface="Calibri"/>
              <a:cs typeface="Calibri"/>
              <a:sym typeface="Calibri"/>
            </a:endParaRPr>
          </a:p>
        </p:txBody>
      </p:sp>
      <p:sp>
        <p:nvSpPr>
          <p:cNvPr id="436" name="Google Shape;436;p11"/>
          <p:cNvSpPr/>
          <p:nvPr/>
        </p:nvSpPr>
        <p:spPr>
          <a:xfrm>
            <a:off x="7264218" y="2992270"/>
            <a:ext cx="533383" cy="289471"/>
          </a:xfrm>
          <a:prstGeom prst="roundRect">
            <a:avLst>
              <a:gd fmla="val 13162" name="adj"/>
            </a:avLst>
          </a:prstGeom>
          <a:solidFill>
            <a:srgbClr val="EEF1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1"/>
          <p:cNvSpPr/>
          <p:nvPr/>
        </p:nvSpPr>
        <p:spPr>
          <a:xfrm>
            <a:off x="7276918" y="3030370"/>
            <a:ext cx="507983" cy="238671"/>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041E42"/>
              </a:buClr>
              <a:buSzPts val="1200"/>
              <a:buFont typeface="DM Sans"/>
              <a:buNone/>
            </a:pPr>
            <a:r>
              <a:rPr b="0" i="0" lang="en-US" sz="1200" u="none" cap="none" strike="noStrike">
                <a:solidFill>
                  <a:srgbClr val="041E42"/>
                </a:solidFill>
                <a:latin typeface="DM Sans"/>
                <a:ea typeface="DM Sans"/>
                <a:cs typeface="DM Sans"/>
                <a:sym typeface="DM Sans"/>
              </a:rPr>
              <a:t>0.05</a:t>
            </a:r>
            <a:endParaRPr b="0" i="0" sz="1200" u="none" cap="none" strike="noStrike">
              <a:solidFill>
                <a:schemeClr val="dk1"/>
              </a:solidFill>
              <a:latin typeface="Calibri"/>
              <a:ea typeface="Calibri"/>
              <a:cs typeface="Calibri"/>
              <a:sym typeface="Calibri"/>
            </a:endParaRPr>
          </a:p>
        </p:txBody>
      </p:sp>
      <p:sp>
        <p:nvSpPr>
          <p:cNvPr id="438" name="Google Shape;438;p11"/>
          <p:cNvSpPr/>
          <p:nvPr/>
        </p:nvSpPr>
        <p:spPr>
          <a:xfrm>
            <a:off x="5041850" y="3345222"/>
            <a:ext cx="507983" cy="238671"/>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5A6880"/>
              </a:buClr>
              <a:buSzPts val="1200"/>
              <a:buFont typeface="DM Sans"/>
              <a:buNone/>
            </a:pPr>
            <a:r>
              <a:rPr b="1" i="0" lang="en-US" sz="1200" u="none" cap="none" strike="noStrike">
                <a:solidFill>
                  <a:srgbClr val="5A6880"/>
                </a:solidFill>
                <a:latin typeface="DM Sans"/>
                <a:ea typeface="DM Sans"/>
                <a:cs typeface="DM Sans"/>
                <a:sym typeface="DM Sans"/>
              </a:rPr>
              <a:t>B</a:t>
            </a:r>
            <a:endParaRPr b="0" i="0" sz="1200" u="none" cap="none" strike="noStrike">
              <a:solidFill>
                <a:schemeClr val="dk1"/>
              </a:solidFill>
              <a:latin typeface="Calibri"/>
              <a:ea typeface="Calibri"/>
              <a:cs typeface="Calibri"/>
              <a:sym typeface="Calibri"/>
            </a:endParaRPr>
          </a:p>
        </p:txBody>
      </p:sp>
      <p:sp>
        <p:nvSpPr>
          <p:cNvPr id="439" name="Google Shape;439;p11"/>
          <p:cNvSpPr/>
          <p:nvPr/>
        </p:nvSpPr>
        <p:spPr>
          <a:xfrm>
            <a:off x="5587917" y="3307122"/>
            <a:ext cx="533383" cy="289471"/>
          </a:xfrm>
          <a:prstGeom prst="roundRect">
            <a:avLst>
              <a:gd fmla="val 13162" name="adj"/>
            </a:avLst>
          </a:prstGeom>
          <a:solidFill>
            <a:srgbClr val="041E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1"/>
          <p:cNvSpPr/>
          <p:nvPr/>
        </p:nvSpPr>
        <p:spPr>
          <a:xfrm>
            <a:off x="5600617" y="3345222"/>
            <a:ext cx="507983" cy="238671"/>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F6F7F9"/>
              </a:buClr>
              <a:buSzPts val="1200"/>
              <a:buFont typeface="DM Sans"/>
              <a:buNone/>
            </a:pPr>
            <a:r>
              <a:rPr b="0" i="0" lang="en-US" sz="1200" u="none" cap="none" strike="noStrike">
                <a:solidFill>
                  <a:srgbClr val="F6F7F9"/>
                </a:solidFill>
                <a:latin typeface="DM Sans"/>
                <a:ea typeface="DM Sans"/>
                <a:cs typeface="DM Sans"/>
                <a:sym typeface="DM Sans"/>
              </a:rPr>
              <a:t>0.85</a:t>
            </a:r>
            <a:endParaRPr b="0" i="0" sz="1200" u="none" cap="none" strike="noStrike">
              <a:solidFill>
                <a:schemeClr val="dk1"/>
              </a:solidFill>
              <a:latin typeface="Calibri"/>
              <a:ea typeface="Calibri"/>
              <a:cs typeface="Calibri"/>
              <a:sym typeface="Calibri"/>
            </a:endParaRPr>
          </a:p>
        </p:txBody>
      </p:sp>
      <p:sp>
        <p:nvSpPr>
          <p:cNvPr id="441" name="Google Shape;441;p11"/>
          <p:cNvSpPr/>
          <p:nvPr/>
        </p:nvSpPr>
        <p:spPr>
          <a:xfrm>
            <a:off x="6146684" y="3307122"/>
            <a:ext cx="533383" cy="289471"/>
          </a:xfrm>
          <a:prstGeom prst="roundRect">
            <a:avLst>
              <a:gd fmla="val 13162" name="adj"/>
            </a:avLst>
          </a:prstGeom>
          <a:solidFill>
            <a:srgbClr val="041E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1"/>
          <p:cNvSpPr/>
          <p:nvPr/>
        </p:nvSpPr>
        <p:spPr>
          <a:xfrm>
            <a:off x="6159384" y="3345222"/>
            <a:ext cx="507983" cy="238671"/>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F6F7F9"/>
              </a:buClr>
              <a:buSzPts val="1200"/>
              <a:buFont typeface="DM Sans"/>
              <a:buNone/>
            </a:pPr>
            <a:r>
              <a:rPr b="0" i="0" lang="en-US" sz="1200" u="none" cap="none" strike="noStrike">
                <a:solidFill>
                  <a:srgbClr val="F6F7F9"/>
                </a:solidFill>
                <a:latin typeface="DM Sans"/>
                <a:ea typeface="DM Sans"/>
                <a:cs typeface="DM Sans"/>
                <a:sym typeface="DM Sans"/>
              </a:rPr>
              <a:t>1.00</a:t>
            </a:r>
            <a:endParaRPr b="0" i="0" sz="1200" u="none" cap="none" strike="noStrike">
              <a:solidFill>
                <a:schemeClr val="dk1"/>
              </a:solidFill>
              <a:latin typeface="Calibri"/>
              <a:ea typeface="Calibri"/>
              <a:cs typeface="Calibri"/>
              <a:sym typeface="Calibri"/>
            </a:endParaRPr>
          </a:p>
        </p:txBody>
      </p:sp>
      <p:sp>
        <p:nvSpPr>
          <p:cNvPr id="443" name="Google Shape;443;p11"/>
          <p:cNvSpPr/>
          <p:nvPr/>
        </p:nvSpPr>
        <p:spPr>
          <a:xfrm>
            <a:off x="6705451" y="3307122"/>
            <a:ext cx="533383" cy="289471"/>
          </a:xfrm>
          <a:prstGeom prst="roundRect">
            <a:avLst>
              <a:gd fmla="val 13162" name="adj"/>
            </a:avLst>
          </a:prstGeom>
          <a:solidFill>
            <a:srgbClr val="FCD9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1"/>
          <p:cNvSpPr/>
          <p:nvPr/>
        </p:nvSpPr>
        <p:spPr>
          <a:xfrm>
            <a:off x="6718151" y="3345222"/>
            <a:ext cx="507983" cy="238671"/>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041E42"/>
              </a:buClr>
              <a:buSzPts val="1200"/>
              <a:buFont typeface="DM Sans"/>
              <a:buNone/>
            </a:pPr>
            <a:r>
              <a:rPr b="0" i="0" lang="en-US" sz="1200" u="none" cap="none" strike="noStrike">
                <a:solidFill>
                  <a:srgbClr val="041E42"/>
                </a:solidFill>
                <a:latin typeface="DM Sans"/>
                <a:ea typeface="DM Sans"/>
                <a:cs typeface="DM Sans"/>
                <a:sym typeface="DM Sans"/>
              </a:rPr>
              <a:t>−0.30</a:t>
            </a:r>
            <a:endParaRPr b="0" i="0" sz="1200" u="none" cap="none" strike="noStrike">
              <a:solidFill>
                <a:schemeClr val="dk1"/>
              </a:solidFill>
              <a:latin typeface="Calibri"/>
              <a:ea typeface="Calibri"/>
              <a:cs typeface="Calibri"/>
              <a:sym typeface="Calibri"/>
            </a:endParaRPr>
          </a:p>
        </p:txBody>
      </p:sp>
      <p:sp>
        <p:nvSpPr>
          <p:cNvPr id="445" name="Google Shape;445;p11"/>
          <p:cNvSpPr/>
          <p:nvPr/>
        </p:nvSpPr>
        <p:spPr>
          <a:xfrm>
            <a:off x="7264218" y="3307122"/>
            <a:ext cx="533383" cy="289471"/>
          </a:xfrm>
          <a:prstGeom prst="roundRect">
            <a:avLst>
              <a:gd fmla="val 13162" name="adj"/>
            </a:avLst>
          </a:prstGeom>
          <a:solidFill>
            <a:srgbClr val="EEF1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1"/>
          <p:cNvSpPr/>
          <p:nvPr/>
        </p:nvSpPr>
        <p:spPr>
          <a:xfrm>
            <a:off x="7276918" y="3345222"/>
            <a:ext cx="507983" cy="238671"/>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041E42"/>
              </a:buClr>
              <a:buSzPts val="1200"/>
              <a:buFont typeface="DM Sans"/>
              <a:buNone/>
            </a:pPr>
            <a:r>
              <a:rPr b="0" i="0" lang="en-US" sz="1200" u="none" cap="none" strike="noStrike">
                <a:solidFill>
                  <a:srgbClr val="041E42"/>
                </a:solidFill>
                <a:latin typeface="DM Sans"/>
                <a:ea typeface="DM Sans"/>
                <a:cs typeface="DM Sans"/>
                <a:sym typeface="DM Sans"/>
              </a:rPr>
              <a:t>0.10</a:t>
            </a:r>
            <a:endParaRPr b="0" i="0" sz="1200" u="none" cap="none" strike="noStrike">
              <a:solidFill>
                <a:schemeClr val="dk1"/>
              </a:solidFill>
              <a:latin typeface="Calibri"/>
              <a:ea typeface="Calibri"/>
              <a:cs typeface="Calibri"/>
              <a:sym typeface="Calibri"/>
            </a:endParaRPr>
          </a:p>
        </p:txBody>
      </p:sp>
      <p:sp>
        <p:nvSpPr>
          <p:cNvPr id="447" name="Google Shape;447;p11"/>
          <p:cNvSpPr/>
          <p:nvPr/>
        </p:nvSpPr>
        <p:spPr>
          <a:xfrm>
            <a:off x="5041850" y="3660080"/>
            <a:ext cx="507983" cy="238671"/>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5A6880"/>
              </a:buClr>
              <a:buSzPts val="1200"/>
              <a:buFont typeface="DM Sans"/>
              <a:buNone/>
            </a:pPr>
            <a:r>
              <a:rPr b="1" i="0" lang="en-US" sz="1200" u="none" cap="none" strike="noStrike">
                <a:solidFill>
                  <a:srgbClr val="5A6880"/>
                </a:solidFill>
                <a:latin typeface="DM Sans"/>
                <a:ea typeface="DM Sans"/>
                <a:cs typeface="DM Sans"/>
                <a:sym typeface="DM Sans"/>
              </a:rPr>
              <a:t>C</a:t>
            </a:r>
            <a:endParaRPr b="0" i="0" sz="1200" u="none" cap="none" strike="noStrike">
              <a:solidFill>
                <a:schemeClr val="dk1"/>
              </a:solidFill>
              <a:latin typeface="Calibri"/>
              <a:ea typeface="Calibri"/>
              <a:cs typeface="Calibri"/>
              <a:sym typeface="Calibri"/>
            </a:endParaRPr>
          </a:p>
        </p:txBody>
      </p:sp>
      <p:sp>
        <p:nvSpPr>
          <p:cNvPr id="448" name="Google Shape;448;p11"/>
          <p:cNvSpPr/>
          <p:nvPr/>
        </p:nvSpPr>
        <p:spPr>
          <a:xfrm>
            <a:off x="5587917" y="3621980"/>
            <a:ext cx="533383" cy="289471"/>
          </a:xfrm>
          <a:prstGeom prst="roundRect">
            <a:avLst>
              <a:gd fmla="val 13162" name="adj"/>
            </a:avLst>
          </a:prstGeom>
          <a:solidFill>
            <a:srgbClr val="F9B8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1"/>
          <p:cNvSpPr/>
          <p:nvPr/>
        </p:nvSpPr>
        <p:spPr>
          <a:xfrm>
            <a:off x="5600617" y="3660080"/>
            <a:ext cx="507983" cy="238671"/>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041E42"/>
              </a:buClr>
              <a:buSzPts val="1200"/>
              <a:buFont typeface="DM Sans"/>
              <a:buNone/>
            </a:pPr>
            <a:r>
              <a:rPr b="0" i="0" lang="en-US" sz="1200" u="none" cap="none" strike="noStrike">
                <a:solidFill>
                  <a:srgbClr val="041E42"/>
                </a:solidFill>
                <a:latin typeface="DM Sans"/>
                <a:ea typeface="DM Sans"/>
                <a:cs typeface="DM Sans"/>
                <a:sym typeface="DM Sans"/>
              </a:rPr>
              <a:t>−0.40</a:t>
            </a:r>
            <a:endParaRPr b="0" i="0" sz="1200" u="none" cap="none" strike="noStrike">
              <a:solidFill>
                <a:schemeClr val="dk1"/>
              </a:solidFill>
              <a:latin typeface="Calibri"/>
              <a:ea typeface="Calibri"/>
              <a:cs typeface="Calibri"/>
              <a:sym typeface="Calibri"/>
            </a:endParaRPr>
          </a:p>
        </p:txBody>
      </p:sp>
      <p:sp>
        <p:nvSpPr>
          <p:cNvPr id="450" name="Google Shape;450;p11"/>
          <p:cNvSpPr/>
          <p:nvPr/>
        </p:nvSpPr>
        <p:spPr>
          <a:xfrm>
            <a:off x="6146684" y="3621980"/>
            <a:ext cx="533383" cy="289471"/>
          </a:xfrm>
          <a:prstGeom prst="roundRect">
            <a:avLst>
              <a:gd fmla="val 13162" name="adj"/>
            </a:avLst>
          </a:prstGeom>
          <a:solidFill>
            <a:srgbClr val="FCD9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1"/>
          <p:cNvSpPr/>
          <p:nvPr/>
        </p:nvSpPr>
        <p:spPr>
          <a:xfrm>
            <a:off x="6159384" y="3660080"/>
            <a:ext cx="507983" cy="238671"/>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041E42"/>
              </a:buClr>
              <a:buSzPts val="1200"/>
              <a:buFont typeface="DM Sans"/>
              <a:buNone/>
            </a:pPr>
            <a:r>
              <a:rPr b="0" i="0" lang="en-US" sz="1200" u="none" cap="none" strike="noStrike">
                <a:solidFill>
                  <a:srgbClr val="041E42"/>
                </a:solidFill>
                <a:latin typeface="DM Sans"/>
                <a:ea typeface="DM Sans"/>
                <a:cs typeface="DM Sans"/>
                <a:sym typeface="DM Sans"/>
              </a:rPr>
              <a:t>−0.30</a:t>
            </a:r>
            <a:endParaRPr b="0" i="0" sz="1200" u="none" cap="none" strike="noStrike">
              <a:solidFill>
                <a:schemeClr val="dk1"/>
              </a:solidFill>
              <a:latin typeface="Calibri"/>
              <a:ea typeface="Calibri"/>
              <a:cs typeface="Calibri"/>
              <a:sym typeface="Calibri"/>
            </a:endParaRPr>
          </a:p>
        </p:txBody>
      </p:sp>
      <p:sp>
        <p:nvSpPr>
          <p:cNvPr id="452" name="Google Shape;452;p11"/>
          <p:cNvSpPr/>
          <p:nvPr/>
        </p:nvSpPr>
        <p:spPr>
          <a:xfrm>
            <a:off x="6705451" y="3621980"/>
            <a:ext cx="533383" cy="289471"/>
          </a:xfrm>
          <a:prstGeom prst="roundRect">
            <a:avLst>
              <a:gd fmla="val 13162" name="adj"/>
            </a:avLst>
          </a:prstGeom>
          <a:solidFill>
            <a:srgbClr val="041E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1"/>
          <p:cNvSpPr/>
          <p:nvPr/>
        </p:nvSpPr>
        <p:spPr>
          <a:xfrm>
            <a:off x="6718151" y="3660080"/>
            <a:ext cx="507983" cy="238671"/>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F6F7F9"/>
              </a:buClr>
              <a:buSzPts val="1200"/>
              <a:buFont typeface="DM Sans"/>
              <a:buNone/>
            </a:pPr>
            <a:r>
              <a:rPr b="0" i="0" lang="en-US" sz="1200" u="none" cap="none" strike="noStrike">
                <a:solidFill>
                  <a:srgbClr val="F6F7F9"/>
                </a:solidFill>
                <a:latin typeface="DM Sans"/>
                <a:ea typeface="DM Sans"/>
                <a:cs typeface="DM Sans"/>
                <a:sym typeface="DM Sans"/>
              </a:rPr>
              <a:t>1.00</a:t>
            </a:r>
            <a:endParaRPr b="0" i="0" sz="1200" u="none" cap="none" strike="noStrike">
              <a:solidFill>
                <a:schemeClr val="dk1"/>
              </a:solidFill>
              <a:latin typeface="Calibri"/>
              <a:ea typeface="Calibri"/>
              <a:cs typeface="Calibri"/>
              <a:sym typeface="Calibri"/>
            </a:endParaRPr>
          </a:p>
        </p:txBody>
      </p:sp>
      <p:sp>
        <p:nvSpPr>
          <p:cNvPr id="454" name="Google Shape;454;p11"/>
          <p:cNvSpPr/>
          <p:nvPr/>
        </p:nvSpPr>
        <p:spPr>
          <a:xfrm>
            <a:off x="7264218" y="3621980"/>
            <a:ext cx="533383" cy="289471"/>
          </a:xfrm>
          <a:prstGeom prst="roundRect">
            <a:avLst>
              <a:gd fmla="val 13162" name="adj"/>
            </a:avLst>
          </a:prstGeom>
          <a:solidFill>
            <a:srgbClr val="8FA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1"/>
          <p:cNvSpPr/>
          <p:nvPr/>
        </p:nvSpPr>
        <p:spPr>
          <a:xfrm>
            <a:off x="7276918" y="3660080"/>
            <a:ext cx="507983" cy="238671"/>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041E42"/>
              </a:buClr>
              <a:buSzPts val="1200"/>
              <a:buFont typeface="DM Sans"/>
              <a:buNone/>
            </a:pPr>
            <a:r>
              <a:rPr b="0" i="0" lang="en-US" sz="1200" u="none" cap="none" strike="noStrike">
                <a:solidFill>
                  <a:srgbClr val="041E42"/>
                </a:solidFill>
                <a:latin typeface="DM Sans"/>
                <a:ea typeface="DM Sans"/>
                <a:cs typeface="DM Sans"/>
                <a:sym typeface="DM Sans"/>
              </a:rPr>
              <a:t>0.60</a:t>
            </a:r>
            <a:endParaRPr b="0" i="0" sz="1200" u="none" cap="none" strike="noStrike">
              <a:solidFill>
                <a:schemeClr val="dk1"/>
              </a:solidFill>
              <a:latin typeface="Calibri"/>
              <a:ea typeface="Calibri"/>
              <a:cs typeface="Calibri"/>
              <a:sym typeface="Calibri"/>
            </a:endParaRPr>
          </a:p>
        </p:txBody>
      </p:sp>
      <p:sp>
        <p:nvSpPr>
          <p:cNvPr id="456" name="Google Shape;456;p11"/>
          <p:cNvSpPr/>
          <p:nvPr/>
        </p:nvSpPr>
        <p:spPr>
          <a:xfrm>
            <a:off x="5041850" y="3974933"/>
            <a:ext cx="507983" cy="238671"/>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5A6880"/>
              </a:buClr>
              <a:buSzPts val="1200"/>
              <a:buFont typeface="DM Sans"/>
              <a:buNone/>
            </a:pPr>
            <a:r>
              <a:rPr b="1" i="0" lang="en-US" sz="1200" u="none" cap="none" strike="noStrike">
                <a:solidFill>
                  <a:srgbClr val="5A6880"/>
                </a:solidFill>
                <a:latin typeface="DM Sans"/>
                <a:ea typeface="DM Sans"/>
                <a:cs typeface="DM Sans"/>
                <a:sym typeface="DM Sans"/>
              </a:rPr>
              <a:t>D</a:t>
            </a:r>
            <a:endParaRPr b="0" i="0" sz="1200" u="none" cap="none" strike="noStrike">
              <a:solidFill>
                <a:schemeClr val="dk1"/>
              </a:solidFill>
              <a:latin typeface="Calibri"/>
              <a:ea typeface="Calibri"/>
              <a:cs typeface="Calibri"/>
              <a:sym typeface="Calibri"/>
            </a:endParaRPr>
          </a:p>
        </p:txBody>
      </p:sp>
      <p:sp>
        <p:nvSpPr>
          <p:cNvPr id="457" name="Google Shape;457;p11"/>
          <p:cNvSpPr/>
          <p:nvPr/>
        </p:nvSpPr>
        <p:spPr>
          <a:xfrm>
            <a:off x="5587917" y="3936833"/>
            <a:ext cx="533383" cy="289471"/>
          </a:xfrm>
          <a:prstGeom prst="roundRect">
            <a:avLst>
              <a:gd fmla="val 13162" name="adj"/>
            </a:avLst>
          </a:prstGeom>
          <a:solidFill>
            <a:srgbClr val="EEF1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1"/>
          <p:cNvSpPr/>
          <p:nvPr/>
        </p:nvSpPr>
        <p:spPr>
          <a:xfrm>
            <a:off x="5600617" y="3974933"/>
            <a:ext cx="507983" cy="238671"/>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041E42"/>
              </a:buClr>
              <a:buSzPts val="1200"/>
              <a:buFont typeface="DM Sans"/>
              <a:buNone/>
            </a:pPr>
            <a:r>
              <a:rPr b="0" i="0" lang="en-US" sz="1200" u="none" cap="none" strike="noStrike">
                <a:solidFill>
                  <a:srgbClr val="041E42"/>
                </a:solidFill>
                <a:latin typeface="DM Sans"/>
                <a:ea typeface="DM Sans"/>
                <a:cs typeface="DM Sans"/>
                <a:sym typeface="DM Sans"/>
              </a:rPr>
              <a:t>0.05</a:t>
            </a:r>
            <a:endParaRPr b="0" i="0" sz="1200" u="none" cap="none" strike="noStrike">
              <a:solidFill>
                <a:schemeClr val="dk1"/>
              </a:solidFill>
              <a:latin typeface="Calibri"/>
              <a:ea typeface="Calibri"/>
              <a:cs typeface="Calibri"/>
              <a:sym typeface="Calibri"/>
            </a:endParaRPr>
          </a:p>
        </p:txBody>
      </p:sp>
      <p:sp>
        <p:nvSpPr>
          <p:cNvPr id="459" name="Google Shape;459;p11"/>
          <p:cNvSpPr/>
          <p:nvPr/>
        </p:nvSpPr>
        <p:spPr>
          <a:xfrm>
            <a:off x="6146684" y="3936833"/>
            <a:ext cx="533383" cy="289471"/>
          </a:xfrm>
          <a:prstGeom prst="roundRect">
            <a:avLst>
              <a:gd fmla="val 13162" name="adj"/>
            </a:avLst>
          </a:prstGeom>
          <a:solidFill>
            <a:srgbClr val="EEF1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1"/>
          <p:cNvSpPr/>
          <p:nvPr/>
        </p:nvSpPr>
        <p:spPr>
          <a:xfrm>
            <a:off x="6159384" y="3974933"/>
            <a:ext cx="507983" cy="238671"/>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041E42"/>
              </a:buClr>
              <a:buSzPts val="1200"/>
              <a:buFont typeface="DM Sans"/>
              <a:buNone/>
            </a:pPr>
            <a:r>
              <a:rPr b="0" i="0" lang="en-US" sz="1200" u="none" cap="none" strike="noStrike">
                <a:solidFill>
                  <a:srgbClr val="041E42"/>
                </a:solidFill>
                <a:latin typeface="DM Sans"/>
                <a:ea typeface="DM Sans"/>
                <a:cs typeface="DM Sans"/>
                <a:sym typeface="DM Sans"/>
              </a:rPr>
              <a:t>0.10</a:t>
            </a:r>
            <a:endParaRPr b="0" i="0" sz="1200" u="none" cap="none" strike="noStrike">
              <a:solidFill>
                <a:schemeClr val="dk1"/>
              </a:solidFill>
              <a:latin typeface="Calibri"/>
              <a:ea typeface="Calibri"/>
              <a:cs typeface="Calibri"/>
              <a:sym typeface="Calibri"/>
            </a:endParaRPr>
          </a:p>
        </p:txBody>
      </p:sp>
      <p:sp>
        <p:nvSpPr>
          <p:cNvPr id="461" name="Google Shape;461;p11"/>
          <p:cNvSpPr/>
          <p:nvPr/>
        </p:nvSpPr>
        <p:spPr>
          <a:xfrm>
            <a:off x="6705451" y="3936833"/>
            <a:ext cx="533383" cy="289471"/>
          </a:xfrm>
          <a:prstGeom prst="roundRect">
            <a:avLst>
              <a:gd fmla="val 13162" name="adj"/>
            </a:avLst>
          </a:prstGeom>
          <a:solidFill>
            <a:srgbClr val="8FA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1"/>
          <p:cNvSpPr/>
          <p:nvPr/>
        </p:nvSpPr>
        <p:spPr>
          <a:xfrm>
            <a:off x="6718151" y="3974933"/>
            <a:ext cx="507983" cy="238671"/>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041E42"/>
              </a:buClr>
              <a:buSzPts val="1200"/>
              <a:buFont typeface="DM Sans"/>
              <a:buNone/>
            </a:pPr>
            <a:r>
              <a:rPr b="0" i="0" lang="en-US" sz="1200" u="none" cap="none" strike="noStrike">
                <a:solidFill>
                  <a:srgbClr val="041E42"/>
                </a:solidFill>
                <a:latin typeface="DM Sans"/>
                <a:ea typeface="DM Sans"/>
                <a:cs typeface="DM Sans"/>
                <a:sym typeface="DM Sans"/>
              </a:rPr>
              <a:t>0.60</a:t>
            </a:r>
            <a:endParaRPr b="0" i="0" sz="1200" u="none" cap="none" strike="noStrike">
              <a:solidFill>
                <a:schemeClr val="dk1"/>
              </a:solidFill>
              <a:latin typeface="Calibri"/>
              <a:ea typeface="Calibri"/>
              <a:cs typeface="Calibri"/>
              <a:sym typeface="Calibri"/>
            </a:endParaRPr>
          </a:p>
        </p:txBody>
      </p:sp>
      <p:sp>
        <p:nvSpPr>
          <p:cNvPr id="463" name="Google Shape;463;p11"/>
          <p:cNvSpPr/>
          <p:nvPr/>
        </p:nvSpPr>
        <p:spPr>
          <a:xfrm>
            <a:off x="7264218" y="3936833"/>
            <a:ext cx="533383" cy="289471"/>
          </a:xfrm>
          <a:prstGeom prst="roundRect">
            <a:avLst>
              <a:gd fmla="val 13162" name="adj"/>
            </a:avLst>
          </a:prstGeom>
          <a:solidFill>
            <a:srgbClr val="041E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1"/>
          <p:cNvSpPr/>
          <p:nvPr/>
        </p:nvSpPr>
        <p:spPr>
          <a:xfrm>
            <a:off x="7276918" y="3974933"/>
            <a:ext cx="507983" cy="238671"/>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F6F7F9"/>
              </a:buClr>
              <a:buSzPts val="1200"/>
              <a:buFont typeface="DM Sans"/>
              <a:buNone/>
            </a:pPr>
            <a:r>
              <a:rPr b="0" i="0" lang="en-US" sz="1200" u="none" cap="none" strike="noStrike">
                <a:solidFill>
                  <a:srgbClr val="F6F7F9"/>
                </a:solidFill>
                <a:latin typeface="DM Sans"/>
                <a:ea typeface="DM Sans"/>
                <a:cs typeface="DM Sans"/>
                <a:sym typeface="DM Sans"/>
              </a:rPr>
              <a:t>1.00</a:t>
            </a:r>
            <a:endParaRPr b="0" i="0" sz="1200" u="none" cap="none" strike="noStrike">
              <a:solidFill>
                <a:schemeClr val="dk1"/>
              </a:solidFill>
              <a:latin typeface="Calibri"/>
              <a:ea typeface="Calibri"/>
              <a:cs typeface="Calibri"/>
              <a:sym typeface="Calibri"/>
            </a:endParaRPr>
          </a:p>
        </p:txBody>
      </p:sp>
      <p:sp>
        <p:nvSpPr>
          <p:cNvPr id="465" name="Google Shape;465;p11"/>
          <p:cNvSpPr/>
          <p:nvPr/>
        </p:nvSpPr>
        <p:spPr>
          <a:xfrm>
            <a:off x="5029150" y="4302497"/>
            <a:ext cx="285150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200"/>
              <a:buFont typeface="DM Sans"/>
              <a:buNone/>
            </a:pPr>
            <a:r>
              <a:rPr b="1" i="0" lang="en-US" sz="1200" u="none" cap="none" strike="noStrike">
                <a:solidFill>
                  <a:srgbClr val="041E42"/>
                </a:solidFill>
                <a:latin typeface="DM Sans"/>
                <a:ea typeface="DM Sans"/>
                <a:cs typeface="DM Sans"/>
                <a:sym typeface="DM Sans"/>
              </a:rPr>
              <a:t>Correlation heatmap</a:t>
            </a:r>
            <a:endParaRPr b="0" i="0" sz="1200" u="none" cap="none" strike="noStrike">
              <a:solidFill>
                <a:schemeClr val="dk1"/>
              </a:solidFill>
              <a:latin typeface="Calibri"/>
              <a:ea typeface="Calibri"/>
              <a:cs typeface="Calibri"/>
              <a:sym typeface="Calibri"/>
            </a:endParaRPr>
          </a:p>
        </p:txBody>
      </p:sp>
      <p:sp>
        <p:nvSpPr>
          <p:cNvPr id="466" name="Google Shape;466;p11"/>
          <p:cNvSpPr/>
          <p:nvPr/>
        </p:nvSpPr>
        <p:spPr>
          <a:xfrm>
            <a:off x="5029150" y="4592005"/>
            <a:ext cx="2812415"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B4A63"/>
              </a:buClr>
              <a:buSzPts val="1200"/>
              <a:buFont typeface="DM Sans"/>
              <a:buNone/>
            </a:pPr>
            <a:r>
              <a:rPr b="0" i="0" lang="en-US" sz="1200" u="none" cap="none" strike="noStrike">
                <a:solidFill>
                  <a:srgbClr val="3B4A63"/>
                </a:solidFill>
                <a:latin typeface="DM Sans"/>
                <a:ea typeface="DM Sans"/>
                <a:cs typeface="DM Sans"/>
                <a:sym typeface="DM Sans"/>
              </a:rPr>
              <a:t>Navy = positive · orange = negative · pale = near 0</a:t>
            </a:r>
            <a:endParaRPr b="0" i="0" sz="1200" u="none" cap="none" strike="noStrike">
              <a:solidFill>
                <a:schemeClr val="dk1"/>
              </a:solidFill>
              <a:latin typeface="Calibri"/>
              <a:ea typeface="Calibri"/>
              <a:cs typeface="Calibri"/>
              <a:sym typeface="Calibri"/>
            </a:endParaRPr>
          </a:p>
        </p:txBody>
      </p:sp>
      <p:pic>
        <p:nvPicPr>
          <p:cNvPr descr="Scatter plot colored by category: Category A points sit low, Category B points sit high" id="467" name="Google Shape;467;p11"/>
          <p:cNvPicPr preferRelativeResize="0"/>
          <p:nvPr/>
        </p:nvPicPr>
        <p:blipFill rotWithShape="1">
          <a:blip r:embed="rId3">
            <a:alphaModFix/>
          </a:blip>
          <a:srcRect b="0" l="0" r="0" t="0"/>
          <a:stretch/>
        </p:blipFill>
        <p:spPr>
          <a:xfrm>
            <a:off x="8102368" y="2606018"/>
            <a:ext cx="2667000" cy="1905000"/>
          </a:xfrm>
          <a:prstGeom prst="rect">
            <a:avLst/>
          </a:prstGeom>
          <a:noFill/>
          <a:ln>
            <a:noFill/>
          </a:ln>
        </p:spPr>
      </p:pic>
      <p:sp>
        <p:nvSpPr>
          <p:cNvPr id="468" name="Google Shape;468;p11"/>
          <p:cNvSpPr/>
          <p:nvPr/>
        </p:nvSpPr>
        <p:spPr>
          <a:xfrm>
            <a:off x="8102368" y="4630372"/>
            <a:ext cx="127000" cy="127000"/>
          </a:xfrm>
          <a:prstGeom prst="roundRect">
            <a:avLst>
              <a:gd fmla="val 50000" name="adj"/>
            </a:avLst>
          </a:prstGeom>
          <a:solidFill>
            <a:srgbClr val="1E40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1"/>
          <p:cNvSpPr/>
          <p:nvPr/>
        </p:nvSpPr>
        <p:spPr>
          <a:xfrm>
            <a:off x="8292868" y="4587211"/>
            <a:ext cx="7610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B4A63"/>
              </a:buClr>
              <a:buSzPts val="1200"/>
              <a:buFont typeface="DM Sans"/>
              <a:buNone/>
            </a:pPr>
            <a:r>
              <a:rPr b="0" i="0" lang="en-US" sz="1200" u="none" cap="none" strike="noStrike">
                <a:solidFill>
                  <a:srgbClr val="3B4A63"/>
                </a:solidFill>
                <a:latin typeface="DM Sans"/>
                <a:ea typeface="DM Sans"/>
                <a:cs typeface="DM Sans"/>
                <a:sym typeface="DM Sans"/>
              </a:rPr>
              <a:t>A (circles)</a:t>
            </a:r>
            <a:endParaRPr b="0" i="0" sz="1200" u="none" cap="none" strike="noStrike">
              <a:solidFill>
                <a:schemeClr val="dk1"/>
              </a:solidFill>
              <a:latin typeface="Calibri"/>
              <a:ea typeface="Calibri"/>
              <a:cs typeface="Calibri"/>
              <a:sym typeface="Calibri"/>
            </a:endParaRPr>
          </a:p>
        </p:txBody>
      </p:sp>
      <p:sp>
        <p:nvSpPr>
          <p:cNvPr id="470" name="Google Shape;470;p11"/>
          <p:cNvSpPr/>
          <p:nvPr/>
        </p:nvSpPr>
        <p:spPr>
          <a:xfrm>
            <a:off x="9187185" y="4643090"/>
            <a:ext cx="101567" cy="101567"/>
          </a:xfrm>
          <a:prstGeom prst="rect">
            <a:avLst/>
          </a:prstGeom>
          <a:solidFill>
            <a:srgbClr val="F9A826"/>
          </a:solidFill>
          <a:ln cap="flat" cmpd="sng" w="12700">
            <a:solidFill>
              <a:srgbClr val="041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1"/>
          <p:cNvSpPr/>
          <p:nvPr/>
        </p:nvSpPr>
        <p:spPr>
          <a:xfrm>
            <a:off x="9358602" y="4587211"/>
            <a:ext cx="85228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B4A63"/>
              </a:buClr>
              <a:buSzPts val="1200"/>
              <a:buFont typeface="DM Sans"/>
              <a:buNone/>
            </a:pPr>
            <a:r>
              <a:rPr b="0" i="0" lang="en-US" sz="1200" u="none" cap="none" strike="noStrike">
                <a:solidFill>
                  <a:srgbClr val="3B4A63"/>
                </a:solidFill>
                <a:latin typeface="DM Sans"/>
                <a:ea typeface="DM Sans"/>
                <a:cs typeface="DM Sans"/>
                <a:sym typeface="DM Sans"/>
              </a:rPr>
              <a:t>B (squares)</a:t>
            </a:r>
            <a:endParaRPr b="0" i="0" sz="1200" u="none" cap="none" strike="noStrike">
              <a:solidFill>
                <a:schemeClr val="dk1"/>
              </a:solidFill>
              <a:latin typeface="Calibri"/>
              <a:ea typeface="Calibri"/>
              <a:cs typeface="Calibri"/>
              <a:sym typeface="Calibri"/>
            </a:endParaRPr>
          </a:p>
        </p:txBody>
      </p:sp>
      <p:sp>
        <p:nvSpPr>
          <p:cNvPr id="472" name="Google Shape;472;p11"/>
          <p:cNvSpPr/>
          <p:nvPr/>
        </p:nvSpPr>
        <p:spPr>
          <a:xfrm>
            <a:off x="8102368" y="4876726"/>
            <a:ext cx="274701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880"/>
              </a:buClr>
              <a:buSzPts val="1200"/>
              <a:buFont typeface="DM Sans"/>
              <a:buNone/>
            </a:pPr>
            <a:r>
              <a:rPr b="0" i="0" lang="en-US" sz="1200" u="none" cap="none" strike="noStrike">
                <a:solidFill>
                  <a:srgbClr val="5A6880"/>
                </a:solidFill>
                <a:latin typeface="DM Sans"/>
                <a:ea typeface="DM Sans"/>
                <a:cs typeface="DM Sans"/>
                <a:sym typeface="DM Sans"/>
              </a:rPr>
              <a:t>Scatter colored by a 3rd variable</a:t>
            </a:r>
            <a:endParaRPr b="0" i="0" sz="1200" u="none" cap="none" strike="noStrike">
              <a:solidFill>
                <a:schemeClr val="dk1"/>
              </a:solidFill>
              <a:latin typeface="Calibri"/>
              <a:ea typeface="Calibri"/>
              <a:cs typeface="Calibri"/>
              <a:sym typeface="Calibri"/>
            </a:endParaRPr>
          </a:p>
        </p:txBody>
      </p:sp>
      <p:sp>
        <p:nvSpPr>
          <p:cNvPr id="473" name="Google Shape;473;p11"/>
          <p:cNvSpPr/>
          <p:nvPr/>
        </p:nvSpPr>
        <p:spPr>
          <a:xfrm>
            <a:off x="9385350" y="711188"/>
            <a:ext cx="279383" cy="279383"/>
          </a:xfrm>
          <a:prstGeom prst="roundRect">
            <a:avLst>
              <a:gd fmla="val 50000" name="adj"/>
            </a:avLst>
          </a:prstGeom>
          <a:solidFill>
            <a:srgbClr val="1E40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1"/>
          <p:cNvSpPr/>
          <p:nvPr/>
        </p:nvSpPr>
        <p:spPr>
          <a:xfrm>
            <a:off x="9359950" y="711188"/>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F6F7F9"/>
              </a:buClr>
              <a:buSzPts val="1200"/>
              <a:buFont typeface="DM Sans"/>
              <a:buNone/>
            </a:pPr>
            <a:r>
              <a:rPr b="1" i="0" lang="en-US" sz="1200" u="none" cap="none" strike="noStrike">
                <a:solidFill>
                  <a:srgbClr val="F6F7F9"/>
                </a:solidFill>
                <a:latin typeface="DM Sans"/>
                <a:ea typeface="DM Sans"/>
                <a:cs typeface="DM Sans"/>
                <a:sym typeface="DM Sans"/>
              </a:rPr>
              <a:t>1</a:t>
            </a:r>
            <a:endParaRPr b="0" i="0" sz="1200" u="none" cap="none" strike="noStrike">
              <a:solidFill>
                <a:schemeClr val="dk1"/>
              </a:solidFill>
              <a:latin typeface="Calibri"/>
              <a:ea typeface="Calibri"/>
              <a:cs typeface="Calibri"/>
              <a:sym typeface="Calibri"/>
            </a:endParaRPr>
          </a:p>
        </p:txBody>
      </p:sp>
      <p:sp>
        <p:nvSpPr>
          <p:cNvPr id="475" name="Google Shape;475;p11"/>
          <p:cNvSpPr/>
          <p:nvPr/>
        </p:nvSpPr>
        <p:spPr>
          <a:xfrm>
            <a:off x="9728233" y="711188"/>
            <a:ext cx="279383" cy="279383"/>
          </a:xfrm>
          <a:prstGeom prst="roundRect">
            <a:avLst>
              <a:gd fmla="val 50000" name="adj"/>
            </a:avLst>
          </a:prstGeom>
          <a:solidFill>
            <a:srgbClr val="1E40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1"/>
          <p:cNvSpPr/>
          <p:nvPr/>
        </p:nvSpPr>
        <p:spPr>
          <a:xfrm>
            <a:off x="9702833" y="711188"/>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F6F7F9"/>
              </a:buClr>
              <a:buSzPts val="1200"/>
              <a:buFont typeface="DM Sans"/>
              <a:buNone/>
            </a:pPr>
            <a:r>
              <a:rPr b="1" i="0" lang="en-US" sz="1200" u="none" cap="none" strike="noStrike">
                <a:solidFill>
                  <a:srgbClr val="F6F7F9"/>
                </a:solidFill>
                <a:latin typeface="DM Sans"/>
                <a:ea typeface="DM Sans"/>
                <a:cs typeface="DM Sans"/>
                <a:sym typeface="DM Sans"/>
              </a:rPr>
              <a:t>2</a:t>
            </a:r>
            <a:endParaRPr b="0" i="0" sz="1200" u="none" cap="none" strike="noStrike">
              <a:solidFill>
                <a:schemeClr val="dk1"/>
              </a:solidFill>
              <a:latin typeface="Calibri"/>
              <a:ea typeface="Calibri"/>
              <a:cs typeface="Calibri"/>
              <a:sym typeface="Calibri"/>
            </a:endParaRPr>
          </a:p>
        </p:txBody>
      </p:sp>
      <p:sp>
        <p:nvSpPr>
          <p:cNvPr id="477" name="Google Shape;477;p11"/>
          <p:cNvSpPr/>
          <p:nvPr/>
        </p:nvSpPr>
        <p:spPr>
          <a:xfrm>
            <a:off x="10071116" y="711188"/>
            <a:ext cx="279383" cy="279383"/>
          </a:xfrm>
          <a:prstGeom prst="roundRect">
            <a:avLst>
              <a:gd fmla="val 50000" name="adj"/>
            </a:avLst>
          </a:prstGeom>
          <a:solidFill>
            <a:srgbClr val="1E40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1"/>
          <p:cNvSpPr/>
          <p:nvPr/>
        </p:nvSpPr>
        <p:spPr>
          <a:xfrm>
            <a:off x="10045716" y="711188"/>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F6F7F9"/>
              </a:buClr>
              <a:buSzPts val="1200"/>
              <a:buFont typeface="DM Sans"/>
              <a:buNone/>
            </a:pPr>
            <a:r>
              <a:rPr b="1" i="0" lang="en-US" sz="1200" u="none" cap="none" strike="noStrike">
                <a:solidFill>
                  <a:srgbClr val="F6F7F9"/>
                </a:solidFill>
                <a:latin typeface="DM Sans"/>
                <a:ea typeface="DM Sans"/>
                <a:cs typeface="DM Sans"/>
                <a:sym typeface="DM Sans"/>
              </a:rPr>
              <a:t>3</a:t>
            </a:r>
            <a:endParaRPr b="0" i="0" sz="1200" u="none" cap="none" strike="noStrike">
              <a:solidFill>
                <a:schemeClr val="dk1"/>
              </a:solidFill>
              <a:latin typeface="Calibri"/>
              <a:ea typeface="Calibri"/>
              <a:cs typeface="Calibri"/>
              <a:sym typeface="Calibri"/>
            </a:endParaRPr>
          </a:p>
        </p:txBody>
      </p:sp>
      <p:sp>
        <p:nvSpPr>
          <p:cNvPr id="479" name="Google Shape;479;p11"/>
          <p:cNvSpPr/>
          <p:nvPr/>
        </p:nvSpPr>
        <p:spPr>
          <a:xfrm>
            <a:off x="10414000" y="711188"/>
            <a:ext cx="279383" cy="279383"/>
          </a:xfrm>
          <a:prstGeom prst="roundRect">
            <a:avLst>
              <a:gd fmla="val 50000" name="adj"/>
            </a:avLst>
          </a:prstGeom>
          <a:solidFill>
            <a:srgbClr val="1E40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1"/>
          <p:cNvSpPr/>
          <p:nvPr/>
        </p:nvSpPr>
        <p:spPr>
          <a:xfrm>
            <a:off x="10388600" y="711188"/>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F6F7F9"/>
              </a:buClr>
              <a:buSzPts val="1200"/>
              <a:buFont typeface="DM Sans"/>
              <a:buNone/>
            </a:pPr>
            <a:r>
              <a:rPr b="1" i="0" lang="en-US" sz="1200" u="none" cap="none" strike="noStrike">
                <a:solidFill>
                  <a:srgbClr val="F6F7F9"/>
                </a:solidFill>
                <a:latin typeface="DM Sans"/>
                <a:ea typeface="DM Sans"/>
                <a:cs typeface="DM Sans"/>
                <a:sym typeface="DM Sans"/>
              </a:rPr>
              <a:t>4</a:t>
            </a:r>
            <a:endParaRPr b="0" i="0" sz="1200" u="none" cap="none" strike="noStrike">
              <a:solidFill>
                <a:schemeClr val="dk1"/>
              </a:solidFill>
              <a:latin typeface="Calibri"/>
              <a:ea typeface="Calibri"/>
              <a:cs typeface="Calibri"/>
              <a:sym typeface="Calibri"/>
            </a:endParaRPr>
          </a:p>
        </p:txBody>
      </p:sp>
      <p:sp>
        <p:nvSpPr>
          <p:cNvPr id="481" name="Google Shape;481;p11"/>
          <p:cNvSpPr/>
          <p:nvPr/>
        </p:nvSpPr>
        <p:spPr>
          <a:xfrm>
            <a:off x="10756883" y="711188"/>
            <a:ext cx="279383" cy="279383"/>
          </a:xfrm>
          <a:prstGeom prst="roundRect">
            <a:avLst>
              <a:gd fmla="val 50000" name="adj"/>
            </a:avLst>
          </a:prstGeom>
          <a:solidFill>
            <a:srgbClr val="F9A8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1"/>
          <p:cNvSpPr/>
          <p:nvPr/>
        </p:nvSpPr>
        <p:spPr>
          <a:xfrm>
            <a:off x="10731483" y="711188"/>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041E42"/>
              </a:buClr>
              <a:buSzPts val="1200"/>
              <a:buFont typeface="DM Sans"/>
              <a:buNone/>
            </a:pPr>
            <a:r>
              <a:rPr b="1" i="0" lang="en-US" sz="1200" u="none" cap="none" strike="noStrike">
                <a:solidFill>
                  <a:srgbClr val="041E42"/>
                </a:solidFill>
                <a:latin typeface="DM Sans"/>
                <a:ea typeface="DM Sans"/>
                <a:cs typeface="DM Sans"/>
                <a:sym typeface="DM Sans"/>
              </a:rPr>
              <a:t>5</a:t>
            </a:r>
            <a:endParaRPr b="0" i="0" sz="1200" u="none" cap="none" strike="noStrike">
              <a:solidFill>
                <a:schemeClr val="dk1"/>
              </a:solidFill>
              <a:latin typeface="Calibri"/>
              <a:ea typeface="Calibri"/>
              <a:cs typeface="Calibri"/>
              <a:sym typeface="Calibri"/>
            </a:endParaRPr>
          </a:p>
        </p:txBody>
      </p:sp>
      <p:sp>
        <p:nvSpPr>
          <p:cNvPr id="483" name="Google Shape;483;p11"/>
          <p:cNvSpPr/>
          <p:nvPr/>
        </p:nvSpPr>
        <p:spPr>
          <a:xfrm>
            <a:off x="11099767" y="711188"/>
            <a:ext cx="279383" cy="279383"/>
          </a:xfrm>
          <a:prstGeom prst="roundRect">
            <a:avLst>
              <a:gd fmla="val 50000" name="adj"/>
            </a:avLst>
          </a:prstGeom>
          <a:solidFill>
            <a:srgbClr val="DCE6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1"/>
          <p:cNvSpPr/>
          <p:nvPr/>
        </p:nvSpPr>
        <p:spPr>
          <a:xfrm>
            <a:off x="11074367" y="711188"/>
            <a:ext cx="330183" cy="304783"/>
          </a:xfrm>
          <a:prstGeom prst="rect">
            <a:avLst/>
          </a:prstGeom>
          <a:noFill/>
          <a:ln>
            <a:noFill/>
          </a:ln>
        </p:spPr>
        <p:txBody>
          <a:bodyPr anchorCtr="0" anchor="t" bIns="0" lIns="0" spcFirstLastPara="1" rIns="0" wrap="square" tIns="0">
            <a:normAutofit/>
          </a:bodyPr>
          <a:lstStyle/>
          <a:p>
            <a:pPr indent="0" lvl="0" marL="0" marR="0" rtl="0" algn="ctr">
              <a:lnSpc>
                <a:spcPct val="183000"/>
              </a:lnSpc>
              <a:spcBef>
                <a:spcPts val="0"/>
              </a:spcBef>
              <a:spcAft>
                <a:spcPts val="0"/>
              </a:spcAft>
              <a:buClr>
                <a:srgbClr val="1E407C"/>
              </a:buClr>
              <a:buSzPts val="1200"/>
              <a:buFont typeface="DM Sans"/>
              <a:buNone/>
            </a:pPr>
            <a:r>
              <a:rPr b="1" i="0" lang="en-US" sz="1200" u="none" cap="none" strike="noStrike">
                <a:solidFill>
                  <a:srgbClr val="1E407C"/>
                </a:solidFill>
                <a:latin typeface="DM Sans"/>
                <a:ea typeface="DM Sans"/>
                <a:cs typeface="DM Sans"/>
                <a:sym typeface="DM Sans"/>
              </a:rPr>
              <a:t>6</a:t>
            </a:r>
            <a:endParaRPr b="0" i="0" sz="1200" u="none" cap="none" strike="noStrike">
              <a:solidFill>
                <a:schemeClr val="dk1"/>
              </a:solidFill>
              <a:latin typeface="Calibri"/>
              <a:ea typeface="Calibri"/>
              <a:cs typeface="Calibri"/>
              <a:sym typeface="Calibri"/>
            </a:endParaRPr>
          </a:p>
        </p:txBody>
      </p:sp>
      <p:sp>
        <p:nvSpPr>
          <p:cNvPr id="485" name="Google Shape;485;p11"/>
          <p:cNvSpPr/>
          <p:nvPr/>
        </p:nvSpPr>
        <p:spPr>
          <a:xfrm>
            <a:off x="812767" y="6237015"/>
            <a:ext cx="325734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880"/>
              </a:buClr>
              <a:buSzPts val="1200"/>
              <a:buFont typeface="DM Sans"/>
              <a:buNone/>
            </a:pPr>
            <a:r>
              <a:rPr b="0" i="0" lang="en-US" sz="1200" u="none" cap="none" strike="noStrike">
                <a:solidFill>
                  <a:srgbClr val="5A6880"/>
                </a:solidFill>
                <a:latin typeface="DM Sans"/>
                <a:ea typeface="DM Sans"/>
                <a:cs typeface="DM Sans"/>
                <a:sym typeface="DM Sans"/>
              </a:rPr>
              <a:t>Nittany Data Labs · Exploratory Data Analysis</a:t>
            </a:r>
            <a:endParaRPr b="0" i="0" sz="1200" u="none" cap="none" strike="noStrike">
              <a:solidFill>
                <a:schemeClr val="dk1"/>
              </a:solidFill>
              <a:latin typeface="Calibri"/>
              <a:ea typeface="Calibri"/>
              <a:cs typeface="Calibri"/>
              <a:sym typeface="Calibri"/>
            </a:endParaRPr>
          </a:p>
        </p:txBody>
      </p:sp>
      <p:sp>
        <p:nvSpPr>
          <p:cNvPr id="486" name="Google Shape;486;p11"/>
          <p:cNvSpPr/>
          <p:nvPr/>
        </p:nvSpPr>
        <p:spPr>
          <a:xfrm>
            <a:off x="11284024" y="6237015"/>
            <a:ext cx="14592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880"/>
              </a:buClr>
              <a:buSzPts val="1200"/>
              <a:buFont typeface="DM Sans"/>
              <a:buNone/>
            </a:pPr>
            <a:r>
              <a:rPr b="0" i="0" lang="en-US" sz="1200" u="none" cap="none" strike="noStrike">
                <a:solidFill>
                  <a:srgbClr val="5A6880"/>
                </a:solidFill>
                <a:latin typeface="DM Sans"/>
                <a:ea typeface="DM Sans"/>
                <a:cs typeface="DM Sans"/>
                <a:sym typeface="DM Sans"/>
              </a:rPr>
              <a:t>11</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9"/>
        </a:solidFill>
      </p:bgPr>
    </p:bg>
    <p:spTree>
      <p:nvGrpSpPr>
        <p:cNvPr id="491" name="Shape 491"/>
        <p:cNvGrpSpPr/>
        <p:nvPr/>
      </p:nvGrpSpPr>
      <p:grpSpPr>
        <a:xfrm>
          <a:off x="0" y="0"/>
          <a:ext cx="0" cy="0"/>
          <a:chOff x="0" y="0"/>
          <a:chExt cx="0" cy="0"/>
        </a:xfrm>
      </p:grpSpPr>
      <p:sp>
        <p:nvSpPr>
          <p:cNvPr id="492" name="Google Shape;492;h5dd98a2005baa54f_0_0"/>
          <p:cNvSpPr txBox="1"/>
          <p:nvPr/>
        </p:nvSpPr>
        <p:spPr>
          <a:xfrm>
            <a:off x="813207" y="670560"/>
            <a:ext cx="4876800" cy="304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407C"/>
              </a:buClr>
              <a:buSzPts val="1300"/>
              <a:buFont typeface="DM Sans"/>
              <a:buNone/>
            </a:pPr>
            <a:r>
              <a:rPr b="1" i="0" lang="en-US" sz="1300" u="none" cap="none" strike="noStrike">
                <a:solidFill>
                  <a:srgbClr val="1E407C"/>
                </a:solidFill>
                <a:latin typeface="DM Sans"/>
                <a:ea typeface="DM Sans"/>
                <a:cs typeface="DM Sans"/>
                <a:sym typeface="DM Sans"/>
              </a:rPr>
              <a:t>STEP 6 OF 6</a:t>
            </a:r>
            <a:endParaRPr b="0" i="0" sz="1300" u="none" cap="none" strike="noStrike">
              <a:solidFill>
                <a:schemeClr val="dk1"/>
              </a:solidFill>
              <a:latin typeface="Calibri"/>
              <a:ea typeface="Calibri"/>
              <a:cs typeface="Calibri"/>
              <a:sym typeface="Calibri"/>
            </a:endParaRPr>
          </a:p>
        </p:txBody>
      </p:sp>
      <p:sp>
        <p:nvSpPr>
          <p:cNvPr id="493" name="Google Shape;493;h5dd98a2005baa54f_0_0"/>
          <p:cNvSpPr txBox="1"/>
          <p:nvPr/>
        </p:nvSpPr>
        <p:spPr>
          <a:xfrm>
            <a:off x="813207" y="999744"/>
            <a:ext cx="7924800" cy="60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1E42"/>
              </a:buClr>
              <a:buSzPts val="3500"/>
              <a:buFont typeface="DM Sans"/>
              <a:buNone/>
            </a:pPr>
            <a:r>
              <a:rPr b="1" i="0" lang="en-US" sz="3500" u="none" cap="none" strike="noStrike">
                <a:solidFill>
                  <a:srgbClr val="041E42"/>
                </a:solidFill>
                <a:latin typeface="DM Sans"/>
                <a:ea typeface="DM Sans"/>
                <a:cs typeface="DM Sans"/>
                <a:sym typeface="DM Sans"/>
              </a:rPr>
              <a:t>Share your findings</a:t>
            </a:r>
            <a:endParaRPr b="0" i="0" sz="3500" u="none" cap="none" strike="noStrike">
              <a:solidFill>
                <a:schemeClr val="dk1"/>
              </a:solidFill>
              <a:latin typeface="Calibri"/>
              <a:ea typeface="Calibri"/>
              <a:cs typeface="Calibri"/>
              <a:sym typeface="Calibri"/>
            </a:endParaRPr>
          </a:p>
        </p:txBody>
      </p:sp>
      <p:sp>
        <p:nvSpPr>
          <p:cNvPr id="494" name="Google Shape;494;h5dd98a2005baa54f_0_0"/>
          <p:cNvSpPr/>
          <p:nvPr/>
        </p:nvSpPr>
        <p:spPr>
          <a:xfrm>
            <a:off x="9375648" y="731520"/>
            <a:ext cx="280500" cy="280500"/>
          </a:xfrm>
          <a:prstGeom prst="ellipse">
            <a:avLst/>
          </a:prstGeom>
          <a:solidFill>
            <a:srgbClr val="1E407C"/>
          </a:solidFill>
          <a:ln cap="flat" cmpd="sng" w="16925">
            <a:solidFill>
              <a:srgbClr val="1E407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5" name="Google Shape;495;h5dd98a2005baa54f_0_0"/>
          <p:cNvSpPr txBox="1"/>
          <p:nvPr/>
        </p:nvSpPr>
        <p:spPr>
          <a:xfrm>
            <a:off x="9375648" y="731520"/>
            <a:ext cx="280500" cy="280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6F7F9"/>
              </a:buClr>
              <a:buSzPts val="1200"/>
              <a:buFont typeface="DM Sans"/>
              <a:buNone/>
            </a:pPr>
            <a:r>
              <a:rPr b="1" i="0" lang="en-US" sz="1200" u="none" cap="none" strike="noStrike">
                <a:solidFill>
                  <a:srgbClr val="F6F7F9"/>
                </a:solidFill>
                <a:latin typeface="DM Sans"/>
                <a:ea typeface="DM Sans"/>
                <a:cs typeface="DM Sans"/>
                <a:sym typeface="DM Sans"/>
              </a:rPr>
              <a:t>1</a:t>
            </a:r>
            <a:endParaRPr b="0" i="0" sz="1200" u="none" cap="none" strike="noStrike">
              <a:solidFill>
                <a:schemeClr val="dk1"/>
              </a:solidFill>
              <a:latin typeface="Calibri"/>
              <a:ea typeface="Calibri"/>
              <a:cs typeface="Calibri"/>
              <a:sym typeface="Calibri"/>
            </a:endParaRPr>
          </a:p>
        </p:txBody>
      </p:sp>
      <p:sp>
        <p:nvSpPr>
          <p:cNvPr id="496" name="Google Shape;496;h5dd98a2005baa54f_0_0"/>
          <p:cNvSpPr/>
          <p:nvPr/>
        </p:nvSpPr>
        <p:spPr>
          <a:xfrm>
            <a:off x="9717024" y="731520"/>
            <a:ext cx="280500" cy="280500"/>
          </a:xfrm>
          <a:prstGeom prst="ellipse">
            <a:avLst/>
          </a:prstGeom>
          <a:solidFill>
            <a:srgbClr val="1E407C"/>
          </a:solidFill>
          <a:ln cap="flat" cmpd="sng" w="16925">
            <a:solidFill>
              <a:srgbClr val="1E407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7" name="Google Shape;497;h5dd98a2005baa54f_0_0"/>
          <p:cNvSpPr txBox="1"/>
          <p:nvPr/>
        </p:nvSpPr>
        <p:spPr>
          <a:xfrm>
            <a:off x="9717024" y="731520"/>
            <a:ext cx="280500" cy="280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6F7F9"/>
              </a:buClr>
              <a:buSzPts val="1200"/>
              <a:buFont typeface="DM Sans"/>
              <a:buNone/>
            </a:pPr>
            <a:r>
              <a:rPr b="1" i="0" lang="en-US" sz="1200" u="none" cap="none" strike="noStrike">
                <a:solidFill>
                  <a:srgbClr val="F6F7F9"/>
                </a:solidFill>
                <a:latin typeface="DM Sans"/>
                <a:ea typeface="DM Sans"/>
                <a:cs typeface="DM Sans"/>
                <a:sym typeface="DM Sans"/>
              </a:rPr>
              <a:t>2</a:t>
            </a:r>
            <a:endParaRPr b="0" i="0" sz="1200" u="none" cap="none" strike="noStrike">
              <a:solidFill>
                <a:schemeClr val="dk1"/>
              </a:solidFill>
              <a:latin typeface="Calibri"/>
              <a:ea typeface="Calibri"/>
              <a:cs typeface="Calibri"/>
              <a:sym typeface="Calibri"/>
            </a:endParaRPr>
          </a:p>
        </p:txBody>
      </p:sp>
      <p:sp>
        <p:nvSpPr>
          <p:cNvPr id="498" name="Google Shape;498;h5dd98a2005baa54f_0_0"/>
          <p:cNvSpPr/>
          <p:nvPr/>
        </p:nvSpPr>
        <p:spPr>
          <a:xfrm>
            <a:off x="10058400" y="731520"/>
            <a:ext cx="280500" cy="280500"/>
          </a:xfrm>
          <a:prstGeom prst="ellipse">
            <a:avLst/>
          </a:prstGeom>
          <a:solidFill>
            <a:srgbClr val="1E407C"/>
          </a:solidFill>
          <a:ln cap="flat" cmpd="sng" w="16925">
            <a:solidFill>
              <a:srgbClr val="1E407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9" name="Google Shape;499;h5dd98a2005baa54f_0_0"/>
          <p:cNvSpPr txBox="1"/>
          <p:nvPr/>
        </p:nvSpPr>
        <p:spPr>
          <a:xfrm>
            <a:off x="10058400" y="731520"/>
            <a:ext cx="280500" cy="280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6F7F9"/>
              </a:buClr>
              <a:buSzPts val="1200"/>
              <a:buFont typeface="DM Sans"/>
              <a:buNone/>
            </a:pPr>
            <a:r>
              <a:rPr b="1" i="0" lang="en-US" sz="1200" u="none" cap="none" strike="noStrike">
                <a:solidFill>
                  <a:srgbClr val="F6F7F9"/>
                </a:solidFill>
                <a:latin typeface="DM Sans"/>
                <a:ea typeface="DM Sans"/>
                <a:cs typeface="DM Sans"/>
                <a:sym typeface="DM Sans"/>
              </a:rPr>
              <a:t>3</a:t>
            </a:r>
            <a:endParaRPr b="0" i="0" sz="1200" u="none" cap="none" strike="noStrike">
              <a:solidFill>
                <a:schemeClr val="dk1"/>
              </a:solidFill>
              <a:latin typeface="Calibri"/>
              <a:ea typeface="Calibri"/>
              <a:cs typeface="Calibri"/>
              <a:sym typeface="Calibri"/>
            </a:endParaRPr>
          </a:p>
        </p:txBody>
      </p:sp>
      <p:sp>
        <p:nvSpPr>
          <p:cNvPr id="500" name="Google Shape;500;h5dd98a2005baa54f_0_0"/>
          <p:cNvSpPr/>
          <p:nvPr/>
        </p:nvSpPr>
        <p:spPr>
          <a:xfrm>
            <a:off x="10399776" y="731520"/>
            <a:ext cx="280500" cy="280500"/>
          </a:xfrm>
          <a:prstGeom prst="ellipse">
            <a:avLst/>
          </a:prstGeom>
          <a:solidFill>
            <a:srgbClr val="1E407C"/>
          </a:solidFill>
          <a:ln cap="flat" cmpd="sng" w="16925">
            <a:solidFill>
              <a:srgbClr val="1E407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1" name="Google Shape;501;h5dd98a2005baa54f_0_0"/>
          <p:cNvSpPr txBox="1"/>
          <p:nvPr/>
        </p:nvSpPr>
        <p:spPr>
          <a:xfrm>
            <a:off x="10399776" y="731520"/>
            <a:ext cx="280500" cy="280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6F7F9"/>
              </a:buClr>
              <a:buSzPts val="1200"/>
              <a:buFont typeface="DM Sans"/>
              <a:buNone/>
            </a:pPr>
            <a:r>
              <a:rPr b="1" i="0" lang="en-US" sz="1200" u="none" cap="none" strike="noStrike">
                <a:solidFill>
                  <a:srgbClr val="F6F7F9"/>
                </a:solidFill>
                <a:latin typeface="DM Sans"/>
                <a:ea typeface="DM Sans"/>
                <a:cs typeface="DM Sans"/>
                <a:sym typeface="DM Sans"/>
              </a:rPr>
              <a:t>4</a:t>
            </a:r>
            <a:endParaRPr b="0" i="0" sz="1200" u="none" cap="none" strike="noStrike">
              <a:solidFill>
                <a:schemeClr val="dk1"/>
              </a:solidFill>
              <a:latin typeface="Calibri"/>
              <a:ea typeface="Calibri"/>
              <a:cs typeface="Calibri"/>
              <a:sym typeface="Calibri"/>
            </a:endParaRPr>
          </a:p>
        </p:txBody>
      </p:sp>
      <p:sp>
        <p:nvSpPr>
          <p:cNvPr id="502" name="Google Shape;502;h5dd98a2005baa54f_0_0"/>
          <p:cNvSpPr/>
          <p:nvPr/>
        </p:nvSpPr>
        <p:spPr>
          <a:xfrm>
            <a:off x="10741152" y="731520"/>
            <a:ext cx="280500" cy="280500"/>
          </a:xfrm>
          <a:prstGeom prst="ellipse">
            <a:avLst/>
          </a:prstGeom>
          <a:solidFill>
            <a:srgbClr val="1E407C"/>
          </a:solidFill>
          <a:ln cap="flat" cmpd="sng" w="16925">
            <a:solidFill>
              <a:srgbClr val="1E407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3" name="Google Shape;503;h5dd98a2005baa54f_0_0"/>
          <p:cNvSpPr txBox="1"/>
          <p:nvPr/>
        </p:nvSpPr>
        <p:spPr>
          <a:xfrm>
            <a:off x="10741152" y="731520"/>
            <a:ext cx="280500" cy="280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6F7F9"/>
              </a:buClr>
              <a:buSzPts val="1200"/>
              <a:buFont typeface="DM Sans"/>
              <a:buNone/>
            </a:pPr>
            <a:r>
              <a:rPr b="1" i="0" lang="en-US" sz="1200" u="none" cap="none" strike="noStrike">
                <a:solidFill>
                  <a:srgbClr val="F6F7F9"/>
                </a:solidFill>
                <a:latin typeface="DM Sans"/>
                <a:ea typeface="DM Sans"/>
                <a:cs typeface="DM Sans"/>
                <a:sym typeface="DM Sans"/>
              </a:rPr>
              <a:t>5</a:t>
            </a:r>
            <a:endParaRPr b="0" i="0" sz="1200" u="none" cap="none" strike="noStrike">
              <a:solidFill>
                <a:schemeClr val="dk1"/>
              </a:solidFill>
              <a:latin typeface="Calibri"/>
              <a:ea typeface="Calibri"/>
              <a:cs typeface="Calibri"/>
              <a:sym typeface="Calibri"/>
            </a:endParaRPr>
          </a:p>
        </p:txBody>
      </p:sp>
      <p:sp>
        <p:nvSpPr>
          <p:cNvPr id="504" name="Google Shape;504;h5dd98a2005baa54f_0_0"/>
          <p:cNvSpPr/>
          <p:nvPr/>
        </p:nvSpPr>
        <p:spPr>
          <a:xfrm>
            <a:off x="11082528" y="731520"/>
            <a:ext cx="280500" cy="280500"/>
          </a:xfrm>
          <a:prstGeom prst="ellipse">
            <a:avLst/>
          </a:prstGeom>
          <a:solidFill>
            <a:srgbClr val="F9A826"/>
          </a:solidFill>
          <a:ln cap="flat" cmpd="sng" w="16925">
            <a:solidFill>
              <a:srgbClr val="F9A82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5" name="Google Shape;505;h5dd98a2005baa54f_0_0"/>
          <p:cNvSpPr txBox="1"/>
          <p:nvPr/>
        </p:nvSpPr>
        <p:spPr>
          <a:xfrm>
            <a:off x="11082528" y="731520"/>
            <a:ext cx="280500" cy="280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41E42"/>
              </a:buClr>
              <a:buSzPts val="1200"/>
              <a:buFont typeface="DM Sans"/>
              <a:buNone/>
            </a:pPr>
            <a:r>
              <a:rPr b="1" i="0" lang="en-US" sz="1200" u="none" cap="none" strike="noStrike">
                <a:solidFill>
                  <a:srgbClr val="041E42"/>
                </a:solidFill>
                <a:latin typeface="DM Sans"/>
                <a:ea typeface="DM Sans"/>
                <a:cs typeface="DM Sans"/>
                <a:sym typeface="DM Sans"/>
              </a:rPr>
              <a:t>6</a:t>
            </a:r>
            <a:endParaRPr b="0" i="0" sz="1200" u="none" cap="none" strike="noStrike">
              <a:solidFill>
                <a:schemeClr val="dk1"/>
              </a:solidFill>
              <a:latin typeface="Calibri"/>
              <a:ea typeface="Calibri"/>
              <a:cs typeface="Calibri"/>
              <a:sym typeface="Calibri"/>
            </a:endParaRPr>
          </a:p>
        </p:txBody>
      </p:sp>
      <p:sp>
        <p:nvSpPr>
          <p:cNvPr id="506" name="Google Shape;506;h5dd98a2005baa54f_0_0"/>
          <p:cNvSpPr/>
          <p:nvPr/>
        </p:nvSpPr>
        <p:spPr>
          <a:xfrm>
            <a:off x="813207" y="2133600"/>
            <a:ext cx="48900" cy="560700"/>
          </a:xfrm>
          <a:prstGeom prst="rect">
            <a:avLst/>
          </a:prstGeom>
          <a:solidFill>
            <a:srgbClr val="F9A826"/>
          </a:solidFill>
          <a:ln cap="flat" cmpd="sng" w="16925">
            <a:solidFill>
              <a:srgbClr val="F9A82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7" name="Google Shape;507;h5dd98a2005baa54f_0_0"/>
          <p:cNvSpPr txBox="1"/>
          <p:nvPr/>
        </p:nvSpPr>
        <p:spPr>
          <a:xfrm>
            <a:off x="999744" y="2133600"/>
            <a:ext cx="3657600" cy="56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4A63"/>
              </a:buClr>
              <a:buSzPts val="1900"/>
              <a:buFont typeface="DM Sans"/>
              <a:buNone/>
            </a:pPr>
            <a:r>
              <a:rPr b="0" i="0" lang="en-US" sz="1900" u="none" cap="none" strike="noStrike">
                <a:solidFill>
                  <a:srgbClr val="3B4A63"/>
                </a:solidFill>
                <a:latin typeface="DM Sans"/>
                <a:ea typeface="DM Sans"/>
                <a:cs typeface="DM Sans"/>
                <a:sym typeface="DM Sans"/>
              </a:rPr>
              <a:t>Start with your </a:t>
            </a:r>
            <a:r>
              <a:rPr b="1" i="0" lang="en-US" sz="1900" u="none" cap="none" strike="noStrike">
                <a:solidFill>
                  <a:srgbClr val="3B4A63"/>
                </a:solidFill>
                <a:latin typeface="DM Sans"/>
                <a:ea typeface="DM Sans"/>
                <a:cs typeface="DM Sans"/>
                <a:sym typeface="DM Sans"/>
              </a:rPr>
              <a:t>question</a:t>
            </a:r>
            <a:endParaRPr b="0" i="0" sz="1900" u="none" cap="none" strike="noStrike">
              <a:solidFill>
                <a:schemeClr val="dk1"/>
              </a:solidFill>
              <a:latin typeface="Calibri"/>
              <a:ea typeface="Calibri"/>
              <a:cs typeface="Calibri"/>
              <a:sym typeface="Calibri"/>
            </a:endParaRPr>
          </a:p>
        </p:txBody>
      </p:sp>
      <p:sp>
        <p:nvSpPr>
          <p:cNvPr id="508" name="Google Shape;508;h5dd98a2005baa54f_0_0"/>
          <p:cNvSpPr/>
          <p:nvPr/>
        </p:nvSpPr>
        <p:spPr>
          <a:xfrm>
            <a:off x="813207" y="3011424"/>
            <a:ext cx="48900" cy="560700"/>
          </a:xfrm>
          <a:prstGeom prst="rect">
            <a:avLst/>
          </a:prstGeom>
          <a:solidFill>
            <a:srgbClr val="F9A826"/>
          </a:solidFill>
          <a:ln cap="flat" cmpd="sng" w="16925">
            <a:solidFill>
              <a:srgbClr val="F9A82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9" name="Google Shape;509;h5dd98a2005baa54f_0_0"/>
          <p:cNvSpPr txBox="1"/>
          <p:nvPr/>
        </p:nvSpPr>
        <p:spPr>
          <a:xfrm>
            <a:off x="999744" y="3011424"/>
            <a:ext cx="3657600" cy="56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4A63"/>
              </a:buClr>
              <a:buSzPts val="1900"/>
              <a:buFont typeface="DM Sans"/>
              <a:buNone/>
            </a:pPr>
            <a:r>
              <a:rPr b="0" i="0" lang="en-US" sz="1900" u="none" cap="none" strike="noStrike">
                <a:solidFill>
                  <a:srgbClr val="3B4A63"/>
                </a:solidFill>
                <a:latin typeface="DM Sans"/>
                <a:ea typeface="DM Sans"/>
                <a:cs typeface="DM Sans"/>
                <a:sym typeface="DM Sans"/>
              </a:rPr>
              <a:t>Show only the </a:t>
            </a:r>
            <a:r>
              <a:rPr b="1" i="0" lang="en-US" sz="1900" u="none" cap="none" strike="noStrike">
                <a:solidFill>
                  <a:srgbClr val="3B4A63"/>
                </a:solidFill>
                <a:latin typeface="DM Sans"/>
                <a:ea typeface="DM Sans"/>
                <a:cs typeface="DM Sans"/>
                <a:sym typeface="DM Sans"/>
              </a:rPr>
              <a:t>key charts</a:t>
            </a:r>
            <a:endParaRPr b="0" i="0" sz="1900" u="none" cap="none" strike="noStrike">
              <a:solidFill>
                <a:schemeClr val="dk1"/>
              </a:solidFill>
              <a:latin typeface="Calibri"/>
              <a:ea typeface="Calibri"/>
              <a:cs typeface="Calibri"/>
              <a:sym typeface="Calibri"/>
            </a:endParaRPr>
          </a:p>
        </p:txBody>
      </p:sp>
      <p:sp>
        <p:nvSpPr>
          <p:cNvPr id="510" name="Google Shape;510;h5dd98a2005baa54f_0_0"/>
          <p:cNvSpPr/>
          <p:nvPr/>
        </p:nvSpPr>
        <p:spPr>
          <a:xfrm>
            <a:off x="813207" y="3889248"/>
            <a:ext cx="48900" cy="560700"/>
          </a:xfrm>
          <a:prstGeom prst="rect">
            <a:avLst/>
          </a:prstGeom>
          <a:solidFill>
            <a:srgbClr val="F9A826"/>
          </a:solidFill>
          <a:ln cap="flat" cmpd="sng" w="16925">
            <a:solidFill>
              <a:srgbClr val="F9A82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11" name="Google Shape;511;h5dd98a2005baa54f_0_0"/>
          <p:cNvSpPr txBox="1"/>
          <p:nvPr/>
        </p:nvSpPr>
        <p:spPr>
          <a:xfrm>
            <a:off x="999744" y="3889248"/>
            <a:ext cx="3657600" cy="56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4A63"/>
              </a:buClr>
              <a:buSzPts val="1900"/>
              <a:buFont typeface="DM Sans"/>
              <a:buNone/>
            </a:pPr>
            <a:r>
              <a:rPr b="0" i="0" lang="en-US" sz="1900" u="none" cap="none" strike="noStrike">
                <a:solidFill>
                  <a:srgbClr val="3B4A63"/>
                </a:solidFill>
                <a:latin typeface="DM Sans"/>
                <a:ea typeface="DM Sans"/>
                <a:cs typeface="DM Sans"/>
                <a:sym typeface="DM Sans"/>
              </a:rPr>
              <a:t>Highlight </a:t>
            </a:r>
            <a:r>
              <a:rPr b="1" i="0" lang="en-US" sz="1900" u="none" cap="none" strike="noStrike">
                <a:solidFill>
                  <a:srgbClr val="3B4A63"/>
                </a:solidFill>
                <a:latin typeface="DM Sans"/>
                <a:ea typeface="DM Sans"/>
                <a:cs typeface="DM Sans"/>
                <a:sym typeface="DM Sans"/>
              </a:rPr>
              <a:t>patterns and surprises</a:t>
            </a:r>
            <a:endParaRPr b="0" i="0" sz="1900" u="none" cap="none" strike="noStrike">
              <a:solidFill>
                <a:schemeClr val="dk1"/>
              </a:solidFill>
              <a:latin typeface="Calibri"/>
              <a:ea typeface="Calibri"/>
              <a:cs typeface="Calibri"/>
              <a:sym typeface="Calibri"/>
            </a:endParaRPr>
          </a:p>
        </p:txBody>
      </p:sp>
      <p:sp>
        <p:nvSpPr>
          <p:cNvPr id="512" name="Google Shape;512;h5dd98a2005baa54f_0_0"/>
          <p:cNvSpPr/>
          <p:nvPr/>
        </p:nvSpPr>
        <p:spPr>
          <a:xfrm>
            <a:off x="813207" y="4767072"/>
            <a:ext cx="48900" cy="560700"/>
          </a:xfrm>
          <a:prstGeom prst="rect">
            <a:avLst/>
          </a:prstGeom>
          <a:solidFill>
            <a:srgbClr val="F9A826"/>
          </a:solidFill>
          <a:ln cap="flat" cmpd="sng" w="16925">
            <a:solidFill>
              <a:srgbClr val="F9A82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13" name="Google Shape;513;h5dd98a2005baa54f_0_0"/>
          <p:cNvSpPr txBox="1"/>
          <p:nvPr/>
        </p:nvSpPr>
        <p:spPr>
          <a:xfrm>
            <a:off x="999744" y="4767072"/>
            <a:ext cx="3657600" cy="56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4A63"/>
              </a:buClr>
              <a:buSzPts val="1900"/>
              <a:buFont typeface="DM Sans"/>
              <a:buNone/>
            </a:pPr>
            <a:r>
              <a:rPr b="0" i="0" lang="en-US" sz="1900" u="none" cap="none" strike="noStrike">
                <a:solidFill>
                  <a:srgbClr val="3B4A63"/>
                </a:solidFill>
                <a:latin typeface="DM Sans"/>
                <a:ea typeface="DM Sans"/>
                <a:cs typeface="DM Sans"/>
                <a:sym typeface="DM Sans"/>
              </a:rPr>
              <a:t>End with </a:t>
            </a:r>
            <a:r>
              <a:rPr b="1" i="0" lang="en-US" sz="1900" u="none" cap="none" strike="noStrike">
                <a:solidFill>
                  <a:srgbClr val="3B4A63"/>
                </a:solidFill>
                <a:latin typeface="DM Sans"/>
                <a:ea typeface="DM Sans"/>
                <a:cs typeface="DM Sans"/>
                <a:sym typeface="DM Sans"/>
              </a:rPr>
              <a:t>open questions</a:t>
            </a:r>
            <a:r>
              <a:rPr b="0" i="0" lang="en-US" sz="1900" u="none" cap="none" strike="noStrike">
                <a:solidFill>
                  <a:srgbClr val="3B4A63"/>
                </a:solidFill>
                <a:latin typeface="DM Sans"/>
                <a:ea typeface="DM Sans"/>
                <a:cs typeface="DM Sans"/>
                <a:sym typeface="DM Sans"/>
              </a:rPr>
              <a:t> and next steps</a:t>
            </a:r>
            <a:endParaRPr b="0" i="0" sz="1900" u="none" cap="none" strike="noStrike">
              <a:solidFill>
                <a:schemeClr val="dk1"/>
              </a:solidFill>
              <a:latin typeface="Calibri"/>
              <a:ea typeface="Calibri"/>
              <a:cs typeface="Calibri"/>
              <a:sym typeface="Calibri"/>
            </a:endParaRPr>
          </a:p>
        </p:txBody>
      </p:sp>
      <p:sp>
        <p:nvSpPr>
          <p:cNvPr id="514" name="Google Shape;514;h5dd98a2005baa54f_0_0"/>
          <p:cNvSpPr/>
          <p:nvPr/>
        </p:nvSpPr>
        <p:spPr>
          <a:xfrm>
            <a:off x="5181600" y="1828800"/>
            <a:ext cx="6193500" cy="4206300"/>
          </a:xfrm>
          <a:prstGeom prst="roundRect">
            <a:avLst>
              <a:gd fmla="val 2899" name="adj"/>
            </a:avLst>
          </a:prstGeom>
          <a:solidFill>
            <a:srgbClr val="FDFDFE"/>
          </a:solidFill>
          <a:ln cap="flat" cmpd="sng" w="16925">
            <a:solidFill>
              <a:srgbClr val="D5DEEA"/>
            </a:solidFill>
            <a:prstDash val="solid"/>
            <a:round/>
            <a:headEnd len="sm" w="sm" type="none"/>
            <a:tailEnd len="sm" w="sm" type="none"/>
          </a:ln>
          <a:effectLst>
            <a:outerShdw blurRad="169333" rotWithShape="0" algn="bl" dir="5400000" dist="67733">
              <a:srgbClr val="041E42">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15" name="Google Shape;515;h5dd98a2005baa54f_0_0"/>
          <p:cNvSpPr/>
          <p:nvPr/>
        </p:nvSpPr>
        <p:spPr>
          <a:xfrm>
            <a:off x="5425440" y="2048256"/>
            <a:ext cx="975300" cy="316800"/>
          </a:xfrm>
          <a:prstGeom prst="roundRect">
            <a:avLst>
              <a:gd fmla="val 15385" name="adj"/>
            </a:avLst>
          </a:prstGeom>
          <a:solidFill>
            <a:srgbClr val="041E42"/>
          </a:solidFill>
          <a:ln cap="flat" cmpd="sng" w="16925">
            <a:solidFill>
              <a:srgbClr val="041E4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16" name="Google Shape;516;h5dd98a2005baa54f_0_0"/>
          <p:cNvSpPr txBox="1"/>
          <p:nvPr/>
        </p:nvSpPr>
        <p:spPr>
          <a:xfrm>
            <a:off x="5425440" y="2048256"/>
            <a:ext cx="975300" cy="316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6F7F9"/>
              </a:buClr>
              <a:buSzPts val="1300"/>
              <a:buFont typeface="DM Sans"/>
              <a:buNone/>
            </a:pPr>
            <a:r>
              <a:rPr b="1" i="0" lang="en-US" sz="1300" u="none" cap="none" strike="noStrike">
                <a:solidFill>
                  <a:srgbClr val="F6F7F9"/>
                </a:solidFill>
                <a:latin typeface="DM Sans"/>
                <a:ea typeface="DM Sans"/>
                <a:cs typeface="DM Sans"/>
                <a:sym typeface="DM Sans"/>
              </a:rPr>
              <a:t>Findings</a:t>
            </a:r>
            <a:endParaRPr b="0" i="0" sz="1300" u="none" cap="none" strike="noStrike">
              <a:solidFill>
                <a:schemeClr val="dk1"/>
              </a:solidFill>
              <a:latin typeface="Calibri"/>
              <a:ea typeface="Calibri"/>
              <a:cs typeface="Calibri"/>
              <a:sym typeface="Calibri"/>
            </a:endParaRPr>
          </a:p>
        </p:txBody>
      </p:sp>
      <p:sp>
        <p:nvSpPr>
          <p:cNvPr id="517" name="Google Shape;517;h5dd98a2005baa54f_0_0"/>
          <p:cNvSpPr txBox="1"/>
          <p:nvPr/>
        </p:nvSpPr>
        <p:spPr>
          <a:xfrm>
            <a:off x="6522720" y="2048256"/>
            <a:ext cx="4632900" cy="316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1E42"/>
              </a:buClr>
              <a:buSzPts val="1500"/>
              <a:buFont typeface="DM Sans"/>
              <a:buNone/>
            </a:pPr>
            <a:r>
              <a:rPr b="1" i="0" lang="en-US" sz="1500" u="none" cap="none" strike="noStrike">
                <a:solidFill>
                  <a:srgbClr val="041E42"/>
                </a:solidFill>
                <a:latin typeface="DM Sans"/>
                <a:ea typeface="DM Sans"/>
                <a:cs typeface="DM Sans"/>
                <a:sym typeface="DM Sans"/>
              </a:rPr>
              <a:t>Q: Which category has the highest values?</a:t>
            </a:r>
            <a:endParaRPr b="0" i="0" sz="1500" u="none" cap="none" strike="noStrike">
              <a:solidFill>
                <a:schemeClr val="dk1"/>
              </a:solidFill>
              <a:latin typeface="Calibri"/>
              <a:ea typeface="Calibri"/>
              <a:cs typeface="Calibri"/>
              <a:sym typeface="Calibri"/>
            </a:endParaRPr>
          </a:p>
        </p:txBody>
      </p:sp>
      <p:pic>
        <p:nvPicPr>
          <p:cNvPr id="518" name="Google Shape;518;h5dd98a2005baa54f_0_0"/>
          <p:cNvPicPr preferRelativeResize="0"/>
          <p:nvPr/>
        </p:nvPicPr>
        <p:blipFill rotWithShape="1">
          <a:blip r:embed="rId3">
            <a:alphaModFix/>
          </a:blip>
          <a:srcRect b="0" l="0" r="0" t="0"/>
          <a:stretch/>
        </p:blipFill>
        <p:spPr>
          <a:xfrm>
            <a:off x="5364480" y="2499360"/>
            <a:ext cx="3352800" cy="2804100"/>
          </a:xfrm>
          <a:prstGeom prst="rect">
            <a:avLst/>
          </a:prstGeom>
          <a:noFill/>
          <a:ln>
            <a:noFill/>
          </a:ln>
        </p:spPr>
      </p:pic>
      <p:sp>
        <p:nvSpPr>
          <p:cNvPr id="519" name="Google Shape;519;h5dd98a2005baa54f_0_0"/>
          <p:cNvSpPr/>
          <p:nvPr/>
        </p:nvSpPr>
        <p:spPr>
          <a:xfrm>
            <a:off x="8900160" y="2535936"/>
            <a:ext cx="2255700" cy="804900"/>
          </a:xfrm>
          <a:prstGeom prst="roundRect">
            <a:avLst>
              <a:gd fmla="val 9091" name="adj"/>
            </a:avLst>
          </a:prstGeom>
          <a:solidFill>
            <a:srgbClr val="F6F7F9"/>
          </a:solidFill>
          <a:ln cap="flat" cmpd="sng" w="16925">
            <a:solidFill>
              <a:srgbClr val="D5DEEA"/>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0" name="Google Shape;520;h5dd98a2005baa54f_0_0"/>
          <p:cNvSpPr/>
          <p:nvPr/>
        </p:nvSpPr>
        <p:spPr>
          <a:xfrm>
            <a:off x="9022080" y="2657856"/>
            <a:ext cx="268500" cy="268500"/>
          </a:xfrm>
          <a:prstGeom prst="ellipse">
            <a:avLst/>
          </a:prstGeom>
          <a:solidFill>
            <a:srgbClr val="F9A826"/>
          </a:solidFill>
          <a:ln cap="flat" cmpd="sng" w="16925">
            <a:solidFill>
              <a:srgbClr val="F9A82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1" name="Google Shape;521;h5dd98a2005baa54f_0_0"/>
          <p:cNvSpPr txBox="1"/>
          <p:nvPr/>
        </p:nvSpPr>
        <p:spPr>
          <a:xfrm>
            <a:off x="9022080" y="2657856"/>
            <a:ext cx="268500" cy="26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41E42"/>
              </a:buClr>
              <a:buSzPts val="1200"/>
              <a:buFont typeface="DM Sans"/>
              <a:buNone/>
            </a:pPr>
            <a:r>
              <a:rPr b="1" i="0" lang="en-US" sz="1200" u="none" cap="none" strike="noStrike">
                <a:solidFill>
                  <a:srgbClr val="041E42"/>
                </a:solidFill>
                <a:latin typeface="DM Sans"/>
                <a:ea typeface="DM Sans"/>
                <a:cs typeface="DM Sans"/>
                <a:sym typeface="DM Sans"/>
              </a:rPr>
              <a:t>1</a:t>
            </a:r>
            <a:endParaRPr b="0" i="0" sz="1200" u="none" cap="none" strike="noStrike">
              <a:solidFill>
                <a:schemeClr val="dk1"/>
              </a:solidFill>
              <a:latin typeface="Calibri"/>
              <a:ea typeface="Calibri"/>
              <a:cs typeface="Calibri"/>
              <a:sym typeface="Calibri"/>
            </a:endParaRPr>
          </a:p>
        </p:txBody>
      </p:sp>
      <p:sp>
        <p:nvSpPr>
          <p:cNvPr id="522" name="Google Shape;522;h5dd98a2005baa54f_0_0"/>
          <p:cNvSpPr txBox="1"/>
          <p:nvPr/>
        </p:nvSpPr>
        <p:spPr>
          <a:xfrm>
            <a:off x="9387840" y="2633472"/>
            <a:ext cx="1706700" cy="316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1E42"/>
              </a:buClr>
              <a:buSzPts val="1500"/>
              <a:buFont typeface="DM Sans"/>
              <a:buNone/>
            </a:pPr>
            <a:r>
              <a:rPr b="1" i="0" lang="en-US" sz="1500" u="none" cap="none" strike="noStrike">
                <a:solidFill>
                  <a:srgbClr val="041E42"/>
                </a:solidFill>
                <a:latin typeface="DM Sans"/>
                <a:ea typeface="DM Sans"/>
                <a:cs typeface="DM Sans"/>
                <a:sym typeface="DM Sans"/>
              </a:rPr>
              <a:t>B is highest</a:t>
            </a:r>
            <a:endParaRPr b="0" i="0" sz="1500" u="none" cap="none" strike="noStrike">
              <a:solidFill>
                <a:schemeClr val="dk1"/>
              </a:solidFill>
              <a:latin typeface="Calibri"/>
              <a:ea typeface="Calibri"/>
              <a:cs typeface="Calibri"/>
              <a:sym typeface="Calibri"/>
            </a:endParaRPr>
          </a:p>
        </p:txBody>
      </p:sp>
      <p:sp>
        <p:nvSpPr>
          <p:cNvPr id="523" name="Google Shape;523;h5dd98a2005baa54f_0_0"/>
          <p:cNvSpPr txBox="1"/>
          <p:nvPr/>
        </p:nvSpPr>
        <p:spPr>
          <a:xfrm>
            <a:off x="9046464" y="2987040"/>
            <a:ext cx="2048400" cy="26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4A63"/>
              </a:buClr>
              <a:buSzPts val="1200"/>
              <a:buFont typeface="DM Sans"/>
              <a:buNone/>
            </a:pPr>
            <a:r>
              <a:rPr b="0" i="0" lang="en-US" sz="1200" u="none" cap="none" strike="noStrike">
                <a:solidFill>
                  <a:srgbClr val="3B4A63"/>
                </a:solidFill>
                <a:latin typeface="DM Sans"/>
                <a:ea typeface="DM Sans"/>
                <a:cs typeface="DM Sans"/>
                <a:sym typeface="DM Sans"/>
              </a:rPr>
              <a:t>About 1.6× Category A</a:t>
            </a:r>
            <a:endParaRPr b="0" i="0" sz="1200" u="none" cap="none" strike="noStrike">
              <a:solidFill>
                <a:schemeClr val="dk1"/>
              </a:solidFill>
              <a:latin typeface="Calibri"/>
              <a:ea typeface="Calibri"/>
              <a:cs typeface="Calibri"/>
              <a:sym typeface="Calibri"/>
            </a:endParaRPr>
          </a:p>
        </p:txBody>
      </p:sp>
      <p:sp>
        <p:nvSpPr>
          <p:cNvPr id="524" name="Google Shape;524;h5dd98a2005baa54f_0_0"/>
          <p:cNvSpPr/>
          <p:nvPr/>
        </p:nvSpPr>
        <p:spPr>
          <a:xfrm>
            <a:off x="8900160" y="3462528"/>
            <a:ext cx="2255700" cy="804900"/>
          </a:xfrm>
          <a:prstGeom prst="roundRect">
            <a:avLst>
              <a:gd fmla="val 9091" name="adj"/>
            </a:avLst>
          </a:prstGeom>
          <a:solidFill>
            <a:srgbClr val="F6F7F9"/>
          </a:solidFill>
          <a:ln cap="flat" cmpd="sng" w="16925">
            <a:solidFill>
              <a:srgbClr val="D5DEEA"/>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5" name="Google Shape;525;h5dd98a2005baa54f_0_0"/>
          <p:cNvSpPr/>
          <p:nvPr/>
        </p:nvSpPr>
        <p:spPr>
          <a:xfrm>
            <a:off x="9022080" y="3584448"/>
            <a:ext cx="268500" cy="268500"/>
          </a:xfrm>
          <a:prstGeom prst="ellipse">
            <a:avLst/>
          </a:prstGeom>
          <a:solidFill>
            <a:srgbClr val="F9A826"/>
          </a:solidFill>
          <a:ln cap="flat" cmpd="sng" w="16925">
            <a:solidFill>
              <a:srgbClr val="F9A82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6" name="Google Shape;526;h5dd98a2005baa54f_0_0"/>
          <p:cNvSpPr txBox="1"/>
          <p:nvPr/>
        </p:nvSpPr>
        <p:spPr>
          <a:xfrm>
            <a:off x="9022080" y="3584448"/>
            <a:ext cx="268500" cy="26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41E42"/>
              </a:buClr>
              <a:buSzPts val="1200"/>
              <a:buFont typeface="DM Sans"/>
              <a:buNone/>
            </a:pPr>
            <a:r>
              <a:rPr b="1" i="0" lang="en-US" sz="1200" u="none" cap="none" strike="noStrike">
                <a:solidFill>
                  <a:srgbClr val="041E42"/>
                </a:solidFill>
                <a:latin typeface="DM Sans"/>
                <a:ea typeface="DM Sans"/>
                <a:cs typeface="DM Sans"/>
                <a:sym typeface="DM Sans"/>
              </a:rPr>
              <a:t>2</a:t>
            </a:r>
            <a:endParaRPr b="0" i="0" sz="1200" u="none" cap="none" strike="noStrike">
              <a:solidFill>
                <a:schemeClr val="dk1"/>
              </a:solidFill>
              <a:latin typeface="Calibri"/>
              <a:ea typeface="Calibri"/>
              <a:cs typeface="Calibri"/>
              <a:sym typeface="Calibri"/>
            </a:endParaRPr>
          </a:p>
        </p:txBody>
      </p:sp>
      <p:sp>
        <p:nvSpPr>
          <p:cNvPr id="527" name="Google Shape;527;h5dd98a2005baa54f_0_0"/>
          <p:cNvSpPr txBox="1"/>
          <p:nvPr/>
        </p:nvSpPr>
        <p:spPr>
          <a:xfrm>
            <a:off x="9387840" y="3560064"/>
            <a:ext cx="1706700" cy="316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1E42"/>
              </a:buClr>
              <a:buSzPts val="1500"/>
              <a:buFont typeface="DM Sans"/>
              <a:buNone/>
            </a:pPr>
            <a:r>
              <a:rPr b="1" i="0" lang="en-US" sz="1500" u="none" cap="none" strike="noStrike">
                <a:solidFill>
                  <a:srgbClr val="041E42"/>
                </a:solidFill>
                <a:latin typeface="DM Sans"/>
                <a:ea typeface="DM Sans"/>
                <a:cs typeface="DM Sans"/>
                <a:sym typeface="DM Sans"/>
              </a:rPr>
              <a:t>D is rare</a:t>
            </a:r>
            <a:endParaRPr b="0" i="0" sz="1500" u="none" cap="none" strike="noStrike">
              <a:solidFill>
                <a:schemeClr val="dk1"/>
              </a:solidFill>
              <a:latin typeface="Calibri"/>
              <a:ea typeface="Calibri"/>
              <a:cs typeface="Calibri"/>
              <a:sym typeface="Calibri"/>
            </a:endParaRPr>
          </a:p>
        </p:txBody>
      </p:sp>
      <p:sp>
        <p:nvSpPr>
          <p:cNvPr id="528" name="Google Shape;528;h5dd98a2005baa54f_0_0"/>
          <p:cNvSpPr txBox="1"/>
          <p:nvPr/>
        </p:nvSpPr>
        <p:spPr>
          <a:xfrm>
            <a:off x="9046464" y="3913632"/>
            <a:ext cx="2048400" cy="26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4A63"/>
              </a:buClr>
              <a:buSzPts val="1200"/>
              <a:buFont typeface="DM Sans"/>
              <a:buNone/>
            </a:pPr>
            <a:r>
              <a:rPr b="0" i="0" lang="en-US" sz="1200" u="none" cap="none" strike="noStrike">
                <a:solidFill>
                  <a:srgbClr val="3B4A63"/>
                </a:solidFill>
                <a:latin typeface="DM Sans"/>
                <a:ea typeface="DM Sans"/>
                <a:cs typeface="DM Sans"/>
                <a:sym typeface="DM Sans"/>
              </a:rPr>
              <a:t>Too few rows to trust yet</a:t>
            </a:r>
            <a:endParaRPr b="0" i="0" sz="1200" u="none" cap="none" strike="noStrike">
              <a:solidFill>
                <a:schemeClr val="dk1"/>
              </a:solidFill>
              <a:latin typeface="Calibri"/>
              <a:ea typeface="Calibri"/>
              <a:cs typeface="Calibri"/>
              <a:sym typeface="Calibri"/>
            </a:endParaRPr>
          </a:p>
        </p:txBody>
      </p:sp>
      <p:sp>
        <p:nvSpPr>
          <p:cNvPr id="529" name="Google Shape;529;h5dd98a2005baa54f_0_0"/>
          <p:cNvSpPr/>
          <p:nvPr/>
        </p:nvSpPr>
        <p:spPr>
          <a:xfrm>
            <a:off x="8900160" y="4389120"/>
            <a:ext cx="2255700" cy="804900"/>
          </a:xfrm>
          <a:prstGeom prst="roundRect">
            <a:avLst>
              <a:gd fmla="val 9091" name="adj"/>
            </a:avLst>
          </a:prstGeom>
          <a:solidFill>
            <a:srgbClr val="F6F7F9"/>
          </a:solidFill>
          <a:ln cap="flat" cmpd="sng" w="16925">
            <a:solidFill>
              <a:srgbClr val="D5DEEA"/>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30" name="Google Shape;530;h5dd98a2005baa54f_0_0"/>
          <p:cNvSpPr/>
          <p:nvPr/>
        </p:nvSpPr>
        <p:spPr>
          <a:xfrm>
            <a:off x="9022080" y="4511040"/>
            <a:ext cx="268500" cy="268500"/>
          </a:xfrm>
          <a:prstGeom prst="ellipse">
            <a:avLst/>
          </a:prstGeom>
          <a:solidFill>
            <a:srgbClr val="F9A826"/>
          </a:solidFill>
          <a:ln cap="flat" cmpd="sng" w="16925">
            <a:solidFill>
              <a:srgbClr val="F9A82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31" name="Google Shape;531;h5dd98a2005baa54f_0_0"/>
          <p:cNvSpPr txBox="1"/>
          <p:nvPr/>
        </p:nvSpPr>
        <p:spPr>
          <a:xfrm>
            <a:off x="9022080" y="4511040"/>
            <a:ext cx="268500" cy="26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41E42"/>
              </a:buClr>
              <a:buSzPts val="1200"/>
              <a:buFont typeface="DM Sans"/>
              <a:buNone/>
            </a:pPr>
            <a:r>
              <a:rPr b="1" i="0" lang="en-US" sz="1200" u="none" cap="none" strike="noStrike">
                <a:solidFill>
                  <a:srgbClr val="041E42"/>
                </a:solidFill>
                <a:latin typeface="DM Sans"/>
                <a:ea typeface="DM Sans"/>
                <a:cs typeface="DM Sans"/>
                <a:sym typeface="DM Sans"/>
              </a:rPr>
              <a:t>3</a:t>
            </a:r>
            <a:endParaRPr b="0" i="0" sz="1200" u="none" cap="none" strike="noStrike">
              <a:solidFill>
                <a:schemeClr val="dk1"/>
              </a:solidFill>
              <a:latin typeface="Calibri"/>
              <a:ea typeface="Calibri"/>
              <a:cs typeface="Calibri"/>
              <a:sym typeface="Calibri"/>
            </a:endParaRPr>
          </a:p>
        </p:txBody>
      </p:sp>
      <p:sp>
        <p:nvSpPr>
          <p:cNvPr id="532" name="Google Shape;532;h5dd98a2005baa54f_0_0"/>
          <p:cNvSpPr txBox="1"/>
          <p:nvPr/>
        </p:nvSpPr>
        <p:spPr>
          <a:xfrm>
            <a:off x="9387840" y="4486656"/>
            <a:ext cx="1706700" cy="316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1E42"/>
              </a:buClr>
              <a:buSzPts val="1500"/>
              <a:buFont typeface="DM Sans"/>
              <a:buNone/>
            </a:pPr>
            <a:r>
              <a:rPr b="1" i="0" lang="en-US" sz="1500" u="none" cap="none" strike="noStrike">
                <a:solidFill>
                  <a:srgbClr val="041E42"/>
                </a:solidFill>
                <a:latin typeface="DM Sans"/>
                <a:ea typeface="DM Sans"/>
                <a:cs typeface="DM Sans"/>
                <a:sym typeface="DM Sans"/>
              </a:rPr>
              <a:t>Skewed values</a:t>
            </a:r>
            <a:endParaRPr b="0" i="0" sz="1500" u="none" cap="none" strike="noStrike">
              <a:solidFill>
                <a:schemeClr val="dk1"/>
              </a:solidFill>
              <a:latin typeface="Calibri"/>
              <a:ea typeface="Calibri"/>
              <a:cs typeface="Calibri"/>
              <a:sym typeface="Calibri"/>
            </a:endParaRPr>
          </a:p>
        </p:txBody>
      </p:sp>
      <p:sp>
        <p:nvSpPr>
          <p:cNvPr id="533" name="Google Shape;533;h5dd98a2005baa54f_0_0"/>
          <p:cNvSpPr txBox="1"/>
          <p:nvPr/>
        </p:nvSpPr>
        <p:spPr>
          <a:xfrm>
            <a:off x="9046464" y="4840224"/>
            <a:ext cx="2048400" cy="26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4A63"/>
              </a:buClr>
              <a:buSzPts val="1200"/>
              <a:buFont typeface="DM Sans"/>
              <a:buNone/>
            </a:pPr>
            <a:r>
              <a:rPr b="0" i="0" lang="en-US" sz="1200" u="none" cap="none" strike="noStrike">
                <a:solidFill>
                  <a:srgbClr val="3B4A63"/>
                </a:solidFill>
                <a:latin typeface="DM Sans"/>
                <a:ea typeface="DM Sans"/>
                <a:cs typeface="DM Sans"/>
                <a:sym typeface="DM Sans"/>
              </a:rPr>
              <a:t>Median beats mean here</a:t>
            </a:r>
            <a:endParaRPr b="0" i="0" sz="1200" u="none" cap="none" strike="noStrike">
              <a:solidFill>
                <a:schemeClr val="dk1"/>
              </a:solidFill>
              <a:latin typeface="Calibri"/>
              <a:ea typeface="Calibri"/>
              <a:cs typeface="Calibri"/>
              <a:sym typeface="Calibri"/>
            </a:endParaRPr>
          </a:p>
        </p:txBody>
      </p:sp>
      <p:sp>
        <p:nvSpPr>
          <p:cNvPr id="534" name="Google Shape;534;h5dd98a2005baa54f_0_0"/>
          <p:cNvSpPr txBox="1"/>
          <p:nvPr/>
        </p:nvSpPr>
        <p:spPr>
          <a:xfrm>
            <a:off x="5425440" y="5486400"/>
            <a:ext cx="57303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1E42"/>
              </a:buClr>
              <a:buSzPts val="1300"/>
              <a:buFont typeface="DM Sans"/>
              <a:buNone/>
            </a:pPr>
            <a:r>
              <a:rPr b="1" i="0" lang="en-US" sz="1300" u="none" cap="none" strike="noStrike">
                <a:solidFill>
                  <a:srgbClr val="041E42"/>
                </a:solidFill>
                <a:latin typeface="DM Sans"/>
                <a:ea typeface="DM Sans"/>
                <a:cs typeface="DM Sans"/>
                <a:sym typeface="DM Sans"/>
              </a:rPr>
              <a:t>Open questions: </a:t>
            </a:r>
            <a:r>
              <a:rPr b="0" i="0" lang="en-US" sz="1300" u="none" cap="none" strike="noStrike">
                <a:solidFill>
                  <a:srgbClr val="3B4A63"/>
                </a:solidFill>
                <a:latin typeface="DM Sans"/>
                <a:ea typeface="DM Sans"/>
                <a:cs typeface="DM Sans"/>
                <a:sym typeface="DM Sans"/>
              </a:rPr>
              <a:t>Why is B higher? Does it hold across groups?</a:t>
            </a:r>
            <a:endParaRPr b="0" i="0" sz="1300" u="none" cap="none" strike="noStrike">
              <a:solidFill>
                <a:schemeClr val="dk1"/>
              </a:solidFill>
              <a:latin typeface="Calibri"/>
              <a:ea typeface="Calibri"/>
              <a:cs typeface="Calibri"/>
              <a:sym typeface="Calibri"/>
            </a:endParaRPr>
          </a:p>
        </p:txBody>
      </p:sp>
      <p:sp>
        <p:nvSpPr>
          <p:cNvPr id="535" name="Google Shape;535;h5dd98a2005baa54f_0_0"/>
          <p:cNvSpPr txBox="1"/>
          <p:nvPr/>
        </p:nvSpPr>
        <p:spPr>
          <a:xfrm>
            <a:off x="813207" y="6315456"/>
            <a:ext cx="6096000" cy="243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880"/>
              </a:buClr>
              <a:buSzPts val="1200"/>
              <a:buFont typeface="DM Sans"/>
              <a:buNone/>
            </a:pPr>
            <a:r>
              <a:rPr b="0" i="0" lang="en-US" sz="1200" u="none" cap="none" strike="noStrike">
                <a:solidFill>
                  <a:srgbClr val="5A6880"/>
                </a:solidFill>
                <a:latin typeface="DM Sans"/>
                <a:ea typeface="DM Sans"/>
                <a:cs typeface="DM Sans"/>
                <a:sym typeface="DM Sans"/>
              </a:rPr>
              <a:t>Nittany Data Labs · Exploratory Data Analysis</a:t>
            </a:r>
            <a:endParaRPr b="0" i="0" sz="1200" u="none" cap="none" strike="noStrike">
              <a:solidFill>
                <a:schemeClr val="dk1"/>
              </a:solidFill>
              <a:latin typeface="Calibri"/>
              <a:ea typeface="Calibri"/>
              <a:cs typeface="Calibri"/>
              <a:sym typeface="Calibri"/>
            </a:endParaRPr>
          </a:p>
        </p:txBody>
      </p:sp>
      <p:sp>
        <p:nvSpPr>
          <p:cNvPr id="536" name="Google Shape;536;h5dd98a2005baa54f_0_0"/>
          <p:cNvSpPr txBox="1"/>
          <p:nvPr/>
        </p:nvSpPr>
        <p:spPr>
          <a:xfrm>
            <a:off x="10747199" y="6315456"/>
            <a:ext cx="645900" cy="243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880"/>
              </a:buClr>
              <a:buSzPts val="1200"/>
              <a:buFont typeface="DM Sans"/>
              <a:buNone/>
            </a:pPr>
            <a:r>
              <a:rPr b="0" i="0" lang="en-US" sz="1200" u="none" cap="none" strike="noStrike">
                <a:solidFill>
                  <a:srgbClr val="5A6880"/>
                </a:solidFill>
                <a:latin typeface="DM Sans"/>
                <a:ea typeface="DM Sans"/>
                <a:cs typeface="DM Sans"/>
                <a:sym typeface="DM Sans"/>
              </a:rPr>
              <a:t>12</a:t>
            </a:r>
            <a:endParaRPr b="0" i="0" sz="1200" u="none" cap="none" strike="noStrike">
              <a:solidFill>
                <a:schemeClr val="dk1"/>
              </a:solidFill>
              <a:latin typeface="Calibri"/>
              <a:ea typeface="Calibri"/>
              <a:cs typeface="Calibri"/>
              <a:sym typeface="Calibri"/>
            </a:endParaRPr>
          </a:p>
        </p:txBody>
      </p:sp>
      <p:sp>
        <p:nvSpPr>
          <p:cNvPr id="537" name="Google Shape;537;h5dd98a2005baa54f_0_0"/>
          <p:cNvSpPr txBox="1"/>
          <p:nvPr/>
        </p:nvSpPr>
        <p:spPr>
          <a:xfrm>
            <a:off x="5768600" y="4884598"/>
            <a:ext cx="145200" cy="1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t>A</a:t>
            </a:r>
            <a:endParaRPr b="1"/>
          </a:p>
        </p:txBody>
      </p:sp>
      <p:sp>
        <p:nvSpPr>
          <p:cNvPr id="538" name="Google Shape;538;h5dd98a2005baa54f_0_0"/>
          <p:cNvSpPr txBox="1"/>
          <p:nvPr/>
        </p:nvSpPr>
        <p:spPr>
          <a:xfrm>
            <a:off x="6533148" y="4874221"/>
            <a:ext cx="145200" cy="1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t>B</a:t>
            </a:r>
            <a:endParaRPr b="1"/>
          </a:p>
        </p:txBody>
      </p:sp>
      <p:sp>
        <p:nvSpPr>
          <p:cNvPr id="539" name="Google Shape;539;h5dd98a2005baa54f_0_0"/>
          <p:cNvSpPr txBox="1"/>
          <p:nvPr/>
        </p:nvSpPr>
        <p:spPr>
          <a:xfrm>
            <a:off x="7283038" y="4863846"/>
            <a:ext cx="145200" cy="1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t>C</a:t>
            </a:r>
            <a:endParaRPr b="1"/>
          </a:p>
        </p:txBody>
      </p:sp>
      <p:sp>
        <p:nvSpPr>
          <p:cNvPr id="540" name="Google Shape;540;h5dd98a2005baa54f_0_0"/>
          <p:cNvSpPr txBox="1"/>
          <p:nvPr/>
        </p:nvSpPr>
        <p:spPr>
          <a:xfrm>
            <a:off x="8010326" y="4853148"/>
            <a:ext cx="145200" cy="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t>D</a:t>
            </a:r>
            <a:endParaRPr b="1"/>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F0F8"/>
        </a:solidFill>
      </p:bgPr>
    </p:bg>
    <p:spTree>
      <p:nvGrpSpPr>
        <p:cNvPr id="545" name="Shape 545"/>
        <p:cNvGrpSpPr/>
        <p:nvPr/>
      </p:nvGrpSpPr>
      <p:grpSpPr>
        <a:xfrm>
          <a:off x="0" y="0"/>
          <a:ext cx="0" cy="0"/>
          <a:chOff x="0" y="0"/>
          <a:chExt cx="0" cy="0"/>
        </a:xfrm>
      </p:grpSpPr>
      <p:sp>
        <p:nvSpPr>
          <p:cNvPr id="546" name="Google Shape;546;p12"/>
          <p:cNvSpPr/>
          <p:nvPr/>
        </p:nvSpPr>
        <p:spPr>
          <a:xfrm>
            <a:off x="812767" y="812763"/>
            <a:ext cx="1088346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E407C"/>
              </a:buClr>
              <a:buSzPts val="1200"/>
              <a:buFont typeface="DM Sans"/>
              <a:buNone/>
            </a:pPr>
            <a:r>
              <a:rPr b="1" i="0" lang="en-US" sz="1200" u="none" cap="none" strike="noStrike">
                <a:solidFill>
                  <a:srgbClr val="1E407C"/>
                </a:solidFill>
                <a:latin typeface="DM Sans"/>
                <a:ea typeface="DM Sans"/>
                <a:cs typeface="DM Sans"/>
                <a:sym typeface="DM Sans"/>
              </a:rPr>
              <a:t>WATCH OUT</a:t>
            </a:r>
            <a:endParaRPr b="0" i="0" sz="1200" u="none" cap="none" strike="noStrike">
              <a:solidFill>
                <a:schemeClr val="dk1"/>
              </a:solidFill>
              <a:latin typeface="Calibri"/>
              <a:ea typeface="Calibri"/>
              <a:cs typeface="Calibri"/>
              <a:sym typeface="Calibri"/>
            </a:endParaRPr>
          </a:p>
        </p:txBody>
      </p:sp>
      <p:sp>
        <p:nvSpPr>
          <p:cNvPr id="547" name="Google Shape;547;p12"/>
          <p:cNvSpPr/>
          <p:nvPr/>
        </p:nvSpPr>
        <p:spPr>
          <a:xfrm>
            <a:off x="812767" y="1102277"/>
            <a:ext cx="10883460" cy="472422"/>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041E42"/>
              </a:buClr>
              <a:buSzPts val="3200"/>
              <a:buFont typeface="DM Sans"/>
              <a:buNone/>
            </a:pPr>
            <a:r>
              <a:rPr b="1" i="0" lang="en-US" sz="3200" u="none" cap="none" strike="noStrike">
                <a:solidFill>
                  <a:srgbClr val="041E42"/>
                </a:solidFill>
                <a:latin typeface="DM Sans"/>
                <a:ea typeface="DM Sans"/>
                <a:cs typeface="DM Sans"/>
                <a:sym typeface="DM Sans"/>
              </a:rPr>
              <a:t>Three common EDA traps</a:t>
            </a:r>
            <a:endParaRPr b="0" i="0" sz="3200" u="none" cap="none" strike="noStrike">
              <a:solidFill>
                <a:schemeClr val="dk1"/>
              </a:solidFill>
              <a:latin typeface="Calibri"/>
              <a:ea typeface="Calibri"/>
              <a:cs typeface="Calibri"/>
              <a:sym typeface="Calibri"/>
            </a:endParaRPr>
          </a:p>
        </p:txBody>
      </p:sp>
      <p:sp>
        <p:nvSpPr>
          <p:cNvPr id="548" name="Google Shape;548;p12"/>
          <p:cNvSpPr/>
          <p:nvPr/>
        </p:nvSpPr>
        <p:spPr>
          <a:xfrm>
            <a:off x="819117" y="1860414"/>
            <a:ext cx="3373967" cy="3975232"/>
          </a:xfrm>
          <a:prstGeom prst="roundRect">
            <a:avLst>
              <a:gd fmla="val 4329" name="adj"/>
            </a:avLst>
          </a:prstGeom>
          <a:solidFill>
            <a:srgbClr val="FDFDFE"/>
          </a:solidFill>
          <a:ln cap="flat" cmpd="sng" w="12700">
            <a:solidFill>
              <a:srgbClr val="D5DE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2"/>
          <p:cNvSpPr/>
          <p:nvPr/>
        </p:nvSpPr>
        <p:spPr>
          <a:xfrm>
            <a:off x="1051925" y="2093224"/>
            <a:ext cx="2995600" cy="26923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41E42"/>
              </a:buClr>
              <a:buSzPts val="1600"/>
              <a:buFont typeface="DM Sans"/>
              <a:buNone/>
            </a:pPr>
            <a:r>
              <a:rPr b="1" i="0" lang="en-US" sz="1600" u="none" cap="none" strike="noStrike">
                <a:solidFill>
                  <a:srgbClr val="041E42"/>
                </a:solidFill>
                <a:latin typeface="DM Sans"/>
                <a:ea typeface="DM Sans"/>
                <a:cs typeface="DM Sans"/>
                <a:sym typeface="DM Sans"/>
              </a:rPr>
              <a:t>Correlation ≠ causation</a:t>
            </a:r>
            <a:endParaRPr b="0" i="0" sz="1600" u="none" cap="none" strike="noStrike">
              <a:solidFill>
                <a:schemeClr val="dk1"/>
              </a:solidFill>
              <a:latin typeface="Calibri"/>
              <a:ea typeface="Calibri"/>
              <a:cs typeface="Calibri"/>
              <a:sym typeface="Calibri"/>
            </a:endParaRPr>
          </a:p>
        </p:txBody>
      </p:sp>
      <p:sp>
        <p:nvSpPr>
          <p:cNvPr id="550" name="Google Shape;550;p12"/>
          <p:cNvSpPr/>
          <p:nvPr/>
        </p:nvSpPr>
        <p:spPr>
          <a:xfrm>
            <a:off x="1340032" y="2979700"/>
            <a:ext cx="356195" cy="365704"/>
          </a:xfrm>
          <a:prstGeom prst="roundRect">
            <a:avLst>
              <a:gd fmla="val 21393" name="adj"/>
            </a:avLst>
          </a:prstGeom>
          <a:solidFill>
            <a:srgbClr val="DCE6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2"/>
          <p:cNvSpPr/>
          <p:nvPr/>
        </p:nvSpPr>
        <p:spPr>
          <a:xfrm>
            <a:off x="1467032" y="3055900"/>
            <a:ext cx="152995" cy="23870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200"/>
              <a:buFont typeface="DM Sans"/>
              <a:buNone/>
            </a:pPr>
            <a:r>
              <a:rPr b="1" i="0" lang="en-US" sz="1200" u="none" cap="none" strike="noStrike">
                <a:solidFill>
                  <a:srgbClr val="041E42"/>
                </a:solidFill>
                <a:latin typeface="DM Sans"/>
                <a:ea typeface="DM Sans"/>
                <a:cs typeface="DM Sans"/>
                <a:sym typeface="DM Sans"/>
              </a:rPr>
              <a:t>X</a:t>
            </a:r>
            <a:endParaRPr b="0" i="0" sz="1200" u="none" cap="none" strike="noStrike">
              <a:solidFill>
                <a:schemeClr val="dk1"/>
              </a:solidFill>
              <a:latin typeface="Calibri"/>
              <a:ea typeface="Calibri"/>
              <a:cs typeface="Calibri"/>
              <a:sym typeface="Calibri"/>
            </a:endParaRPr>
          </a:p>
        </p:txBody>
      </p:sp>
      <p:pic>
        <p:nvPicPr>
          <p:cNvPr descr="arrow-left" id="552" name="Google Shape;552;p12"/>
          <p:cNvPicPr preferRelativeResize="0"/>
          <p:nvPr/>
        </p:nvPicPr>
        <p:blipFill rotWithShape="1">
          <a:blip r:embed="rId3">
            <a:alphaModFix/>
          </a:blip>
          <a:srcRect b="0" l="0" r="0" t="0"/>
          <a:stretch/>
        </p:blipFill>
        <p:spPr>
          <a:xfrm>
            <a:off x="1759727" y="3099054"/>
            <a:ext cx="254000" cy="127000"/>
          </a:xfrm>
          <a:prstGeom prst="rect">
            <a:avLst/>
          </a:prstGeom>
          <a:noFill/>
          <a:ln>
            <a:noFill/>
          </a:ln>
        </p:spPr>
      </p:pic>
      <p:sp>
        <p:nvSpPr>
          <p:cNvPr id="553" name="Google Shape;553;p12"/>
          <p:cNvSpPr/>
          <p:nvPr/>
        </p:nvSpPr>
        <p:spPr>
          <a:xfrm>
            <a:off x="2077227" y="2979700"/>
            <a:ext cx="863120" cy="365704"/>
          </a:xfrm>
          <a:prstGeom prst="roundRect">
            <a:avLst>
              <a:gd fmla="val 20837" name="adj"/>
            </a:avLst>
          </a:prstGeom>
          <a:solidFill>
            <a:srgbClr val="F9A8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2"/>
          <p:cNvSpPr/>
          <p:nvPr/>
        </p:nvSpPr>
        <p:spPr>
          <a:xfrm>
            <a:off x="2178827" y="3055900"/>
            <a:ext cx="710720" cy="23870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200"/>
              <a:buFont typeface="DM Sans"/>
              <a:buNone/>
            </a:pPr>
            <a:r>
              <a:rPr b="1" i="0" lang="en-US" sz="1200" u="none" cap="none" strike="noStrike">
                <a:solidFill>
                  <a:srgbClr val="041E42"/>
                </a:solidFill>
                <a:latin typeface="DM Sans"/>
                <a:ea typeface="DM Sans"/>
                <a:cs typeface="DM Sans"/>
                <a:sym typeface="DM Sans"/>
              </a:rPr>
              <a:t>Hidden Z</a:t>
            </a:r>
            <a:endParaRPr b="0" i="0" sz="1200" u="none" cap="none" strike="noStrike">
              <a:solidFill>
                <a:schemeClr val="dk1"/>
              </a:solidFill>
              <a:latin typeface="Calibri"/>
              <a:ea typeface="Calibri"/>
              <a:cs typeface="Calibri"/>
              <a:sym typeface="Calibri"/>
            </a:endParaRPr>
          </a:p>
        </p:txBody>
      </p:sp>
      <p:pic>
        <p:nvPicPr>
          <p:cNvPr descr="arrow-right" id="555" name="Google Shape;555;p12"/>
          <p:cNvPicPr preferRelativeResize="0"/>
          <p:nvPr/>
        </p:nvPicPr>
        <p:blipFill rotWithShape="1">
          <a:blip r:embed="rId4">
            <a:alphaModFix/>
          </a:blip>
          <a:srcRect b="0" l="0" r="0" t="0"/>
          <a:stretch/>
        </p:blipFill>
        <p:spPr>
          <a:xfrm>
            <a:off x="3003848" y="3099054"/>
            <a:ext cx="254000" cy="127000"/>
          </a:xfrm>
          <a:prstGeom prst="rect">
            <a:avLst/>
          </a:prstGeom>
          <a:noFill/>
          <a:ln>
            <a:noFill/>
          </a:ln>
        </p:spPr>
      </p:pic>
      <p:sp>
        <p:nvSpPr>
          <p:cNvPr id="556" name="Google Shape;556;p12"/>
          <p:cNvSpPr/>
          <p:nvPr/>
        </p:nvSpPr>
        <p:spPr>
          <a:xfrm>
            <a:off x="3321348" y="2979700"/>
            <a:ext cx="350821" cy="365704"/>
          </a:xfrm>
          <a:prstGeom prst="roundRect">
            <a:avLst>
              <a:gd fmla="val 21720" name="adj"/>
            </a:avLst>
          </a:prstGeom>
          <a:solidFill>
            <a:srgbClr val="DCE6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2"/>
          <p:cNvSpPr/>
          <p:nvPr/>
        </p:nvSpPr>
        <p:spPr>
          <a:xfrm>
            <a:off x="3448348" y="3055900"/>
            <a:ext cx="147621" cy="23870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41E42"/>
              </a:buClr>
              <a:buSzPts val="1200"/>
              <a:buFont typeface="DM Sans"/>
              <a:buNone/>
            </a:pPr>
            <a:r>
              <a:rPr b="1" i="0" lang="en-US" sz="1200" u="none" cap="none" strike="noStrike">
                <a:solidFill>
                  <a:srgbClr val="041E42"/>
                </a:solidFill>
                <a:latin typeface="DM Sans"/>
                <a:ea typeface="DM Sans"/>
                <a:cs typeface="DM Sans"/>
                <a:sym typeface="DM Sans"/>
              </a:rPr>
              <a:t>Y</a:t>
            </a:r>
            <a:endParaRPr b="0" i="0" sz="1200" u="none" cap="none" strike="noStrike">
              <a:solidFill>
                <a:schemeClr val="dk1"/>
              </a:solidFill>
              <a:latin typeface="Calibri"/>
              <a:ea typeface="Calibri"/>
              <a:cs typeface="Calibri"/>
              <a:sym typeface="Calibri"/>
            </a:endParaRPr>
          </a:p>
        </p:txBody>
      </p:sp>
      <p:sp>
        <p:nvSpPr>
          <p:cNvPr id="558" name="Google Shape;558;p12"/>
          <p:cNvSpPr/>
          <p:nvPr/>
        </p:nvSpPr>
        <p:spPr>
          <a:xfrm>
            <a:off x="1051925" y="3988054"/>
            <a:ext cx="299560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B4A63"/>
              </a:buClr>
              <a:buSzPts val="1200"/>
              <a:buFont typeface="DM Sans"/>
              <a:buNone/>
            </a:pPr>
            <a:r>
              <a:rPr b="0" i="0" lang="en-US" sz="1200" u="none" cap="none" strike="noStrike">
                <a:solidFill>
                  <a:srgbClr val="3B4A63"/>
                </a:solidFill>
                <a:latin typeface="DM Sans"/>
                <a:ea typeface="DM Sans"/>
                <a:cs typeface="DM Sans"/>
                <a:sym typeface="DM Sans"/>
              </a:rPr>
              <a:t>X and Y can move together because something else drives both.</a:t>
            </a:r>
            <a:endParaRPr b="0" i="0" sz="1200" u="none" cap="none" strike="noStrike">
              <a:solidFill>
                <a:schemeClr val="dk1"/>
              </a:solidFill>
              <a:latin typeface="Calibri"/>
              <a:ea typeface="Calibri"/>
              <a:cs typeface="Calibri"/>
              <a:sym typeface="Calibri"/>
            </a:endParaRPr>
          </a:p>
        </p:txBody>
      </p:sp>
      <p:sp>
        <p:nvSpPr>
          <p:cNvPr id="559" name="Google Shape;559;p12"/>
          <p:cNvSpPr/>
          <p:nvPr/>
        </p:nvSpPr>
        <p:spPr>
          <a:xfrm>
            <a:off x="4408975" y="1860414"/>
            <a:ext cx="3374008" cy="3975232"/>
          </a:xfrm>
          <a:prstGeom prst="roundRect">
            <a:avLst>
              <a:gd fmla="val 4329" name="adj"/>
            </a:avLst>
          </a:prstGeom>
          <a:solidFill>
            <a:srgbClr val="FDFDFE"/>
          </a:solidFill>
          <a:ln cap="flat" cmpd="sng" w="12700">
            <a:solidFill>
              <a:srgbClr val="D5DE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2"/>
          <p:cNvSpPr/>
          <p:nvPr/>
        </p:nvSpPr>
        <p:spPr>
          <a:xfrm>
            <a:off x="4641784" y="2093224"/>
            <a:ext cx="2995643" cy="26923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41E42"/>
              </a:buClr>
              <a:buSzPts val="1600"/>
              <a:buFont typeface="DM Sans"/>
              <a:buNone/>
            </a:pPr>
            <a:r>
              <a:rPr b="1" i="0" lang="en-US" sz="1600" u="none" cap="none" strike="noStrike">
                <a:solidFill>
                  <a:srgbClr val="041E42"/>
                </a:solidFill>
                <a:latin typeface="DM Sans"/>
                <a:ea typeface="DM Sans"/>
                <a:cs typeface="DM Sans"/>
                <a:sym typeface="DM Sans"/>
              </a:rPr>
              <a:t>r ≈ 0 can hide a curve</a:t>
            </a:r>
            <a:endParaRPr b="0" i="0" sz="1600" u="none" cap="none" strike="noStrike">
              <a:solidFill>
                <a:schemeClr val="dk1"/>
              </a:solidFill>
              <a:latin typeface="Calibri"/>
              <a:ea typeface="Calibri"/>
              <a:cs typeface="Calibri"/>
              <a:sym typeface="Calibri"/>
            </a:endParaRPr>
          </a:p>
        </p:txBody>
      </p:sp>
      <p:pic>
        <p:nvPicPr>
          <p:cNvPr descr="Arch-shaped scatter plot with correlation near zero" id="561" name="Google Shape;561;p12"/>
          <p:cNvPicPr preferRelativeResize="0"/>
          <p:nvPr/>
        </p:nvPicPr>
        <p:blipFill rotWithShape="1">
          <a:blip r:embed="rId5">
            <a:alphaModFix/>
          </a:blip>
          <a:srcRect b="0" l="0" r="0" t="0"/>
          <a:stretch/>
        </p:blipFill>
        <p:spPr>
          <a:xfrm>
            <a:off x="5302209" y="2559304"/>
            <a:ext cx="1587500" cy="1206500"/>
          </a:xfrm>
          <a:prstGeom prst="rect">
            <a:avLst/>
          </a:prstGeom>
          <a:noFill/>
          <a:ln>
            <a:noFill/>
          </a:ln>
        </p:spPr>
      </p:pic>
      <p:sp>
        <p:nvSpPr>
          <p:cNvPr id="562" name="Google Shape;562;p12"/>
          <p:cNvSpPr/>
          <p:nvPr/>
        </p:nvSpPr>
        <p:spPr>
          <a:xfrm>
            <a:off x="4641784" y="3988054"/>
            <a:ext cx="2995643"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B4A63"/>
              </a:buClr>
              <a:buSzPts val="1200"/>
              <a:buFont typeface="DM Sans"/>
              <a:buNone/>
            </a:pPr>
            <a:r>
              <a:rPr b="0" i="0" lang="en-US" sz="1200" u="none" cap="none" strike="noStrike">
                <a:solidFill>
                  <a:srgbClr val="3B4A63"/>
                </a:solidFill>
                <a:latin typeface="DM Sans"/>
                <a:ea typeface="DM Sans"/>
                <a:cs typeface="DM Sans"/>
                <a:sym typeface="DM Sans"/>
              </a:rPr>
              <a:t>Clearly related, but not in a straight line. Plot it, don't just trust r.</a:t>
            </a:r>
            <a:endParaRPr b="0" i="0" sz="1200" u="none" cap="none" strike="noStrike">
              <a:solidFill>
                <a:schemeClr val="dk1"/>
              </a:solidFill>
              <a:latin typeface="Calibri"/>
              <a:ea typeface="Calibri"/>
              <a:cs typeface="Calibri"/>
              <a:sym typeface="Calibri"/>
            </a:endParaRPr>
          </a:p>
        </p:txBody>
      </p:sp>
      <p:sp>
        <p:nvSpPr>
          <p:cNvPr id="563" name="Google Shape;563;p12"/>
          <p:cNvSpPr/>
          <p:nvPr/>
        </p:nvSpPr>
        <p:spPr>
          <a:xfrm>
            <a:off x="7998875" y="1860414"/>
            <a:ext cx="3373967" cy="3975232"/>
          </a:xfrm>
          <a:prstGeom prst="roundRect">
            <a:avLst>
              <a:gd fmla="val 4329" name="adj"/>
            </a:avLst>
          </a:prstGeom>
          <a:solidFill>
            <a:srgbClr val="FDFDFE"/>
          </a:solidFill>
          <a:ln cap="flat" cmpd="sng" w="12700">
            <a:solidFill>
              <a:srgbClr val="D5DE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2"/>
          <p:cNvSpPr/>
          <p:nvPr/>
        </p:nvSpPr>
        <p:spPr>
          <a:xfrm>
            <a:off x="8231684" y="2093224"/>
            <a:ext cx="2995600" cy="26923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41E42"/>
              </a:buClr>
              <a:buSzPts val="1600"/>
              <a:buFont typeface="DM Sans"/>
              <a:buNone/>
            </a:pPr>
            <a:r>
              <a:rPr b="1" i="0" lang="en-US" sz="1600" u="none" cap="none" strike="noStrike">
                <a:solidFill>
                  <a:srgbClr val="041E42"/>
                </a:solidFill>
                <a:latin typeface="DM Sans"/>
                <a:ea typeface="DM Sans"/>
                <a:cs typeface="DM Sans"/>
                <a:sym typeface="DM Sans"/>
              </a:rPr>
              <a:t>Averages hide groups</a:t>
            </a:r>
            <a:endParaRPr b="0" i="0" sz="1600" u="none" cap="none" strike="noStrike">
              <a:solidFill>
                <a:schemeClr val="dk1"/>
              </a:solidFill>
              <a:latin typeface="Calibri"/>
              <a:ea typeface="Calibri"/>
              <a:cs typeface="Calibri"/>
              <a:sym typeface="Calibri"/>
            </a:endParaRPr>
          </a:p>
        </p:txBody>
      </p:sp>
      <p:pic>
        <p:nvPicPr>
          <p:cNvPr descr="Two-humped histogram with the mean falling in the empty valley between the humps" id="565" name="Google Shape;565;p12"/>
          <p:cNvPicPr preferRelativeResize="0"/>
          <p:nvPr/>
        </p:nvPicPr>
        <p:blipFill rotWithShape="1">
          <a:blip r:embed="rId6">
            <a:alphaModFix/>
          </a:blip>
          <a:srcRect b="0" l="0" r="0" t="0"/>
          <a:stretch/>
        </p:blipFill>
        <p:spPr>
          <a:xfrm>
            <a:off x="8479358" y="2559304"/>
            <a:ext cx="2413000" cy="1206500"/>
          </a:xfrm>
          <a:prstGeom prst="rect">
            <a:avLst/>
          </a:prstGeom>
          <a:noFill/>
          <a:ln>
            <a:noFill/>
          </a:ln>
        </p:spPr>
      </p:pic>
      <p:sp>
        <p:nvSpPr>
          <p:cNvPr id="566" name="Google Shape;566;p12"/>
          <p:cNvSpPr/>
          <p:nvPr/>
        </p:nvSpPr>
        <p:spPr>
          <a:xfrm>
            <a:off x="8231684" y="3988054"/>
            <a:ext cx="299560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B4A63"/>
              </a:buClr>
              <a:buSzPts val="1200"/>
              <a:buFont typeface="DM Sans"/>
              <a:buNone/>
            </a:pPr>
            <a:r>
              <a:rPr b="0" i="0" lang="en-US" sz="1200" u="none" cap="none" strike="noStrike">
                <a:solidFill>
                  <a:srgbClr val="3B4A63"/>
                </a:solidFill>
                <a:latin typeface="DM Sans"/>
                <a:ea typeface="DM Sans"/>
                <a:cs typeface="DM Sans"/>
                <a:sym typeface="DM Sans"/>
              </a:rPr>
              <a:t>Two groups, and the mean (dashed) lands where there's almost no data.</a:t>
            </a:r>
            <a:endParaRPr b="0" i="0" sz="1200" u="none" cap="none" strike="noStrike">
              <a:solidFill>
                <a:schemeClr val="dk1"/>
              </a:solidFill>
              <a:latin typeface="Calibri"/>
              <a:ea typeface="Calibri"/>
              <a:cs typeface="Calibri"/>
              <a:sym typeface="Calibri"/>
            </a:endParaRPr>
          </a:p>
        </p:txBody>
      </p:sp>
      <p:sp>
        <p:nvSpPr>
          <p:cNvPr id="567" name="Google Shape;567;p12"/>
          <p:cNvSpPr/>
          <p:nvPr/>
        </p:nvSpPr>
        <p:spPr>
          <a:xfrm>
            <a:off x="812767" y="6237015"/>
            <a:ext cx="325734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880"/>
              </a:buClr>
              <a:buSzPts val="1200"/>
              <a:buFont typeface="DM Sans"/>
              <a:buNone/>
            </a:pPr>
            <a:r>
              <a:rPr b="0" i="0" lang="en-US" sz="1200" u="none" cap="none" strike="noStrike">
                <a:solidFill>
                  <a:srgbClr val="5A6880"/>
                </a:solidFill>
                <a:latin typeface="DM Sans"/>
                <a:ea typeface="DM Sans"/>
                <a:cs typeface="DM Sans"/>
                <a:sym typeface="DM Sans"/>
              </a:rPr>
              <a:t>Nittany Data Labs · Exploratory Data Analysis</a:t>
            </a:r>
            <a:endParaRPr b="0" i="0" sz="1200" u="none" cap="none" strike="noStrike">
              <a:solidFill>
                <a:schemeClr val="dk1"/>
              </a:solidFill>
              <a:latin typeface="Calibri"/>
              <a:ea typeface="Calibri"/>
              <a:cs typeface="Calibri"/>
              <a:sym typeface="Calibri"/>
            </a:endParaRPr>
          </a:p>
        </p:txBody>
      </p:sp>
      <p:sp>
        <p:nvSpPr>
          <p:cNvPr id="568" name="Google Shape;568;p12"/>
          <p:cNvSpPr/>
          <p:nvPr/>
        </p:nvSpPr>
        <p:spPr>
          <a:xfrm>
            <a:off x="11243799" y="6237015"/>
            <a:ext cx="18615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880"/>
              </a:buClr>
              <a:buSzPts val="1200"/>
              <a:buFont typeface="DM Sans"/>
              <a:buNone/>
            </a:pPr>
            <a:r>
              <a:rPr b="0" i="0" lang="en-US" sz="1200" u="none" cap="none" strike="noStrike">
                <a:solidFill>
                  <a:srgbClr val="5A6880"/>
                </a:solidFill>
                <a:latin typeface="DM Sans"/>
                <a:ea typeface="DM Sans"/>
                <a:cs typeface="DM Sans"/>
                <a:sym typeface="DM Sans"/>
              </a:rPr>
              <a:t>1</a:t>
            </a:r>
            <a:r>
              <a:rPr lang="en-US" sz="1200">
                <a:solidFill>
                  <a:srgbClr val="5A6880"/>
                </a:solidFill>
                <a:latin typeface="DM Sans"/>
                <a:ea typeface="DM Sans"/>
                <a:cs typeface="DM Sans"/>
                <a:sym typeface="DM Sans"/>
              </a:rPr>
              <a:t>3</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1E42"/>
        </a:solidFill>
      </p:bgPr>
    </p:bg>
    <p:spTree>
      <p:nvGrpSpPr>
        <p:cNvPr id="573" name="Shape 573"/>
        <p:cNvGrpSpPr/>
        <p:nvPr/>
      </p:nvGrpSpPr>
      <p:grpSpPr>
        <a:xfrm>
          <a:off x="0" y="0"/>
          <a:ext cx="0" cy="0"/>
          <a:chOff x="0" y="0"/>
          <a:chExt cx="0" cy="0"/>
        </a:xfrm>
      </p:grpSpPr>
      <p:sp>
        <p:nvSpPr>
          <p:cNvPr id="574" name="Google Shape;574;p14"/>
          <p:cNvSpPr/>
          <p:nvPr/>
        </p:nvSpPr>
        <p:spPr>
          <a:xfrm>
            <a:off x="812767" y="812763"/>
            <a:ext cx="1088346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9A826"/>
              </a:buClr>
              <a:buSzPts val="1200"/>
              <a:buFont typeface="DM Sans"/>
              <a:buNone/>
            </a:pPr>
            <a:r>
              <a:rPr b="1" i="0" lang="en-US" sz="1200" u="none" cap="none" strike="noStrike">
                <a:solidFill>
                  <a:srgbClr val="F9A826"/>
                </a:solidFill>
                <a:latin typeface="DM Sans"/>
                <a:ea typeface="DM Sans"/>
                <a:cs typeface="DM Sans"/>
                <a:sym typeface="DM Sans"/>
              </a:rPr>
              <a:t>YOUR TURN</a:t>
            </a:r>
            <a:endParaRPr b="0" i="0" sz="1200" u="none" cap="none" strike="noStrike">
              <a:solidFill>
                <a:schemeClr val="dk1"/>
              </a:solidFill>
              <a:latin typeface="Calibri"/>
              <a:ea typeface="Calibri"/>
              <a:cs typeface="Calibri"/>
              <a:sym typeface="Calibri"/>
            </a:endParaRPr>
          </a:p>
        </p:txBody>
      </p:sp>
      <p:sp>
        <p:nvSpPr>
          <p:cNvPr id="575" name="Google Shape;575;p14"/>
          <p:cNvSpPr/>
          <p:nvPr/>
        </p:nvSpPr>
        <p:spPr>
          <a:xfrm>
            <a:off x="812767" y="1102277"/>
            <a:ext cx="10883460" cy="472422"/>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6F7F9"/>
              </a:buClr>
              <a:buSzPts val="3200"/>
              <a:buFont typeface="DM Sans"/>
              <a:buNone/>
            </a:pPr>
            <a:r>
              <a:rPr b="1" i="0" lang="en-US" sz="3200" u="none" cap="none" strike="noStrike">
                <a:solidFill>
                  <a:srgbClr val="F6F7F9"/>
                </a:solidFill>
                <a:latin typeface="DM Sans"/>
                <a:ea typeface="DM Sans"/>
                <a:cs typeface="DM Sans"/>
                <a:sym typeface="DM Sans"/>
              </a:rPr>
              <a:t>Let's explore some data</a:t>
            </a:r>
            <a:endParaRPr b="0" i="0" sz="3200" u="none" cap="none" strike="noStrike">
              <a:solidFill>
                <a:schemeClr val="dk1"/>
              </a:solidFill>
              <a:latin typeface="Calibri"/>
              <a:ea typeface="Calibri"/>
              <a:cs typeface="Calibri"/>
              <a:sym typeface="Calibri"/>
            </a:endParaRPr>
          </a:p>
        </p:txBody>
      </p:sp>
      <p:sp>
        <p:nvSpPr>
          <p:cNvPr id="576" name="Google Shape;576;p14"/>
          <p:cNvSpPr/>
          <p:nvPr/>
        </p:nvSpPr>
        <p:spPr>
          <a:xfrm>
            <a:off x="812767" y="6237015"/>
            <a:ext cx="325734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9FB3D1"/>
              </a:buClr>
              <a:buSzPts val="1200"/>
              <a:buFont typeface="DM Sans"/>
              <a:buNone/>
            </a:pPr>
            <a:r>
              <a:rPr b="0" i="0" lang="en-US" sz="1200" u="none" cap="none" strike="noStrike">
                <a:solidFill>
                  <a:srgbClr val="9FB3D1"/>
                </a:solidFill>
                <a:latin typeface="DM Sans"/>
                <a:ea typeface="DM Sans"/>
                <a:cs typeface="DM Sans"/>
                <a:sym typeface="DM Sans"/>
              </a:rPr>
              <a:t>Nittany Data Labs · Exploratory Data Analysis</a:t>
            </a:r>
            <a:endParaRPr b="0" i="0" sz="1200" u="none" cap="none" strike="noStrike">
              <a:solidFill>
                <a:schemeClr val="dk1"/>
              </a:solidFill>
              <a:latin typeface="Calibri"/>
              <a:ea typeface="Calibri"/>
              <a:cs typeface="Calibri"/>
              <a:sym typeface="Calibri"/>
            </a:endParaRPr>
          </a:p>
        </p:txBody>
      </p:sp>
      <p:sp>
        <p:nvSpPr>
          <p:cNvPr id="577" name="Google Shape;577;p14"/>
          <p:cNvSpPr/>
          <p:nvPr/>
        </p:nvSpPr>
        <p:spPr>
          <a:xfrm>
            <a:off x="11239086" y="6237015"/>
            <a:ext cx="19086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9FB3D1"/>
              </a:buClr>
              <a:buSzPts val="1200"/>
              <a:buFont typeface="DM Sans"/>
              <a:buNone/>
            </a:pPr>
            <a:r>
              <a:rPr b="0" i="0" lang="en-US" sz="1200" u="none" cap="none" strike="noStrike">
                <a:solidFill>
                  <a:srgbClr val="9FB3D1"/>
                </a:solidFill>
                <a:latin typeface="DM Sans"/>
                <a:ea typeface="DM Sans"/>
                <a:cs typeface="DM Sans"/>
                <a:sym typeface="DM Sans"/>
              </a:rPr>
              <a:t>14</a:t>
            </a:r>
            <a:endParaRPr b="0" i="0" sz="1200" u="none" cap="none" strike="noStrike">
              <a:solidFill>
                <a:schemeClr val="dk1"/>
              </a:solidFill>
              <a:latin typeface="Calibri"/>
              <a:ea typeface="Calibri"/>
              <a:cs typeface="Calibri"/>
              <a:sym typeface="Calibri"/>
            </a:endParaRPr>
          </a:p>
        </p:txBody>
      </p:sp>
      <p:pic>
        <p:nvPicPr>
          <p:cNvPr id="578" name="Google Shape;578;p14" title="qr-code (3).png"/>
          <p:cNvPicPr preferRelativeResize="0"/>
          <p:nvPr/>
        </p:nvPicPr>
        <p:blipFill>
          <a:blip r:embed="rId3">
            <a:alphaModFix/>
          </a:blip>
          <a:stretch>
            <a:fillRect/>
          </a:stretch>
        </p:blipFill>
        <p:spPr>
          <a:xfrm>
            <a:off x="4127473" y="1818300"/>
            <a:ext cx="3937050" cy="39370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1E42"/>
        </a:solidFill>
      </p:bgPr>
    </p:bg>
    <p:spTree>
      <p:nvGrpSpPr>
        <p:cNvPr id="583" name="Shape 583"/>
        <p:cNvGrpSpPr/>
        <p:nvPr/>
      </p:nvGrpSpPr>
      <p:grpSpPr>
        <a:xfrm>
          <a:off x="0" y="0"/>
          <a:ext cx="0" cy="0"/>
          <a:chOff x="0" y="0"/>
          <a:chExt cx="0" cy="0"/>
        </a:xfrm>
      </p:grpSpPr>
      <p:sp>
        <p:nvSpPr>
          <p:cNvPr id="584" name="Google Shape;584;h5dd98a2005baa54f_1_6"/>
          <p:cNvSpPr/>
          <p:nvPr/>
        </p:nvSpPr>
        <p:spPr>
          <a:xfrm>
            <a:off x="812767" y="773977"/>
            <a:ext cx="108834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6F7F9"/>
              </a:buClr>
              <a:buSzPts val="3200"/>
              <a:buFont typeface="DM Sans"/>
              <a:buNone/>
            </a:pPr>
            <a:r>
              <a:rPr b="1" lang="en-US" sz="3200">
                <a:solidFill>
                  <a:srgbClr val="F6F7F9"/>
                </a:solidFill>
                <a:latin typeface="DM Sans"/>
                <a:ea typeface="DM Sans"/>
                <a:cs typeface="DM Sans"/>
                <a:sym typeface="DM Sans"/>
              </a:rPr>
              <a:t>Interactive Notebook</a:t>
            </a:r>
            <a:endParaRPr b="0" i="0" sz="3200" u="none" cap="none" strike="noStrike">
              <a:solidFill>
                <a:schemeClr val="dk1"/>
              </a:solidFill>
              <a:latin typeface="Calibri"/>
              <a:ea typeface="Calibri"/>
              <a:cs typeface="Calibri"/>
              <a:sym typeface="Calibri"/>
            </a:endParaRPr>
          </a:p>
        </p:txBody>
      </p:sp>
      <p:sp>
        <p:nvSpPr>
          <p:cNvPr id="585" name="Google Shape;585;h5dd98a2005baa54f_1_6"/>
          <p:cNvSpPr/>
          <p:nvPr/>
        </p:nvSpPr>
        <p:spPr>
          <a:xfrm>
            <a:off x="812767" y="6237015"/>
            <a:ext cx="3257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FB3D1"/>
              </a:buClr>
              <a:buSzPts val="1200"/>
              <a:buFont typeface="DM Sans"/>
              <a:buNone/>
            </a:pPr>
            <a:r>
              <a:rPr b="0" i="0" lang="en-US" sz="1200" u="none" cap="none" strike="noStrike">
                <a:solidFill>
                  <a:srgbClr val="9FB3D1"/>
                </a:solidFill>
                <a:latin typeface="DM Sans"/>
                <a:ea typeface="DM Sans"/>
                <a:cs typeface="DM Sans"/>
                <a:sym typeface="DM Sans"/>
              </a:rPr>
              <a:t>Nittany Data Labs · Exploratory Data Analysis</a:t>
            </a:r>
            <a:endParaRPr b="0" i="0" sz="1200" u="none" cap="none" strike="noStrike">
              <a:solidFill>
                <a:schemeClr val="dk1"/>
              </a:solidFill>
              <a:latin typeface="Calibri"/>
              <a:ea typeface="Calibri"/>
              <a:cs typeface="Calibri"/>
              <a:sym typeface="Calibri"/>
            </a:endParaRPr>
          </a:p>
        </p:txBody>
      </p:sp>
      <p:sp>
        <p:nvSpPr>
          <p:cNvPr id="586" name="Google Shape;586;h5dd98a2005baa54f_1_6"/>
          <p:cNvSpPr/>
          <p:nvPr/>
        </p:nvSpPr>
        <p:spPr>
          <a:xfrm>
            <a:off x="11239086" y="6237015"/>
            <a:ext cx="1908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FB3D1"/>
              </a:buClr>
              <a:buSzPts val="1200"/>
              <a:buFont typeface="DM Sans"/>
              <a:buNone/>
            </a:pPr>
            <a:r>
              <a:rPr b="0" i="0" lang="en-US" sz="1200" u="none" cap="none" strike="noStrike">
                <a:solidFill>
                  <a:srgbClr val="9FB3D1"/>
                </a:solidFill>
                <a:latin typeface="DM Sans"/>
                <a:ea typeface="DM Sans"/>
                <a:cs typeface="DM Sans"/>
                <a:sym typeface="DM Sans"/>
              </a:rPr>
              <a:t>1</a:t>
            </a:r>
            <a:r>
              <a:rPr lang="en-US" sz="1200">
                <a:solidFill>
                  <a:srgbClr val="9FB3D1"/>
                </a:solidFill>
                <a:latin typeface="DM Sans"/>
                <a:ea typeface="DM Sans"/>
                <a:cs typeface="DM Sans"/>
                <a:sym typeface="DM Sans"/>
              </a:rPr>
              <a:t>5</a:t>
            </a:r>
            <a:endParaRPr b="0" i="0" sz="1200" u="none" cap="none" strike="noStrike">
              <a:solidFill>
                <a:schemeClr val="dk1"/>
              </a:solidFill>
              <a:latin typeface="Calibri"/>
              <a:ea typeface="Calibri"/>
              <a:cs typeface="Calibri"/>
              <a:sym typeface="Calibri"/>
            </a:endParaRPr>
          </a:p>
        </p:txBody>
      </p:sp>
      <p:pic>
        <p:nvPicPr>
          <p:cNvPr id="587" name="Google Shape;587;h5dd98a2005baa54f_1_6" title="qr-code (4).png"/>
          <p:cNvPicPr preferRelativeResize="0"/>
          <p:nvPr/>
        </p:nvPicPr>
        <p:blipFill>
          <a:blip r:embed="rId3">
            <a:alphaModFix/>
          </a:blip>
          <a:stretch>
            <a:fillRect/>
          </a:stretch>
        </p:blipFill>
        <p:spPr>
          <a:xfrm>
            <a:off x="3853924" y="1499675"/>
            <a:ext cx="4484149" cy="448414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1E42"/>
        </a:solidFill>
      </p:bgPr>
    </p:bg>
    <p:spTree>
      <p:nvGrpSpPr>
        <p:cNvPr id="592" name="Shape 592"/>
        <p:cNvGrpSpPr/>
        <p:nvPr/>
      </p:nvGrpSpPr>
      <p:grpSpPr>
        <a:xfrm>
          <a:off x="0" y="0"/>
          <a:ext cx="0" cy="0"/>
          <a:chOff x="0" y="0"/>
          <a:chExt cx="0" cy="0"/>
        </a:xfrm>
      </p:grpSpPr>
      <p:sp>
        <p:nvSpPr>
          <p:cNvPr id="593" name="Google Shape;593;h5dd98a2005baa54f_1_21"/>
          <p:cNvSpPr/>
          <p:nvPr/>
        </p:nvSpPr>
        <p:spPr>
          <a:xfrm>
            <a:off x="812775" y="2196626"/>
            <a:ext cx="10883400" cy="211770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F6F7F9"/>
              </a:buClr>
              <a:buSzPts val="3200"/>
              <a:buFont typeface="DM Sans"/>
              <a:buNone/>
            </a:pPr>
            <a:r>
              <a:rPr b="1" lang="en-US" sz="4800">
                <a:solidFill>
                  <a:srgbClr val="F6F7F9"/>
                </a:solidFill>
                <a:latin typeface="DM Sans"/>
                <a:ea typeface="DM Sans"/>
                <a:cs typeface="DM Sans"/>
                <a:sym typeface="DM Sans"/>
              </a:rPr>
              <a:t>Thank you for coming!</a:t>
            </a:r>
            <a:endParaRPr b="1" sz="4800">
              <a:solidFill>
                <a:srgbClr val="F6F7F9"/>
              </a:solidFill>
              <a:latin typeface="DM Sans"/>
              <a:ea typeface="DM Sans"/>
              <a:cs typeface="DM Sans"/>
              <a:sym typeface="DM Sans"/>
            </a:endParaRPr>
          </a:p>
          <a:p>
            <a:pPr indent="0" lvl="0" marL="0" marR="0" rtl="0" algn="ctr">
              <a:lnSpc>
                <a:spcPct val="110000"/>
              </a:lnSpc>
              <a:spcBef>
                <a:spcPts val="0"/>
              </a:spcBef>
              <a:spcAft>
                <a:spcPts val="0"/>
              </a:spcAft>
              <a:buClr>
                <a:srgbClr val="F6F7F9"/>
              </a:buClr>
              <a:buSzPts val="3200"/>
              <a:buFont typeface="DM Sans"/>
              <a:buNone/>
            </a:pPr>
            <a:r>
              <a:rPr b="1" lang="en-US" sz="3000">
                <a:solidFill>
                  <a:srgbClr val="F6F7F9"/>
                </a:solidFill>
                <a:latin typeface="DM Sans"/>
                <a:ea typeface="DM Sans"/>
                <a:cs typeface="DM Sans"/>
                <a:sym typeface="DM Sans"/>
              </a:rPr>
              <a:t>Next Meeting: 10/4 - Feature Engineering</a:t>
            </a:r>
            <a:endParaRPr b="1" sz="3000">
              <a:solidFill>
                <a:srgbClr val="F6F7F9"/>
              </a:solidFill>
              <a:latin typeface="DM Sans"/>
              <a:ea typeface="DM Sans"/>
              <a:cs typeface="DM Sans"/>
              <a:sym typeface="DM Sans"/>
            </a:endParaRPr>
          </a:p>
        </p:txBody>
      </p:sp>
      <p:sp>
        <p:nvSpPr>
          <p:cNvPr id="594" name="Google Shape;594;h5dd98a2005baa54f_1_21"/>
          <p:cNvSpPr/>
          <p:nvPr/>
        </p:nvSpPr>
        <p:spPr>
          <a:xfrm>
            <a:off x="812767" y="6237015"/>
            <a:ext cx="3257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FB3D1"/>
              </a:buClr>
              <a:buSzPts val="1200"/>
              <a:buFont typeface="DM Sans"/>
              <a:buNone/>
            </a:pPr>
            <a:r>
              <a:rPr b="0" i="0" lang="en-US" sz="1200" u="none" cap="none" strike="noStrike">
                <a:solidFill>
                  <a:srgbClr val="9FB3D1"/>
                </a:solidFill>
                <a:latin typeface="DM Sans"/>
                <a:ea typeface="DM Sans"/>
                <a:cs typeface="DM Sans"/>
                <a:sym typeface="DM Sans"/>
              </a:rPr>
              <a:t>Nittany Data Labs · Exploratory Data Analysis</a:t>
            </a:r>
            <a:endParaRPr b="0" i="0" sz="1200" u="none" cap="none" strike="noStrike">
              <a:solidFill>
                <a:schemeClr val="dk1"/>
              </a:solidFill>
              <a:latin typeface="Calibri"/>
              <a:ea typeface="Calibri"/>
              <a:cs typeface="Calibri"/>
              <a:sym typeface="Calibri"/>
            </a:endParaRPr>
          </a:p>
        </p:txBody>
      </p:sp>
      <p:sp>
        <p:nvSpPr>
          <p:cNvPr id="595" name="Google Shape;595;h5dd98a2005baa54f_1_21"/>
          <p:cNvSpPr/>
          <p:nvPr/>
        </p:nvSpPr>
        <p:spPr>
          <a:xfrm>
            <a:off x="11239086" y="6237015"/>
            <a:ext cx="1908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FB3D1"/>
              </a:buClr>
              <a:buSzPts val="1200"/>
              <a:buFont typeface="DM Sans"/>
              <a:buNone/>
            </a:pPr>
            <a:r>
              <a:rPr b="0" i="0" lang="en-US" sz="1200" u="none" cap="none" strike="noStrike">
                <a:solidFill>
                  <a:srgbClr val="9FB3D1"/>
                </a:solidFill>
                <a:latin typeface="DM Sans"/>
                <a:ea typeface="DM Sans"/>
                <a:cs typeface="DM Sans"/>
                <a:sym typeface="DM Sans"/>
              </a:rPr>
              <a:t>1</a:t>
            </a:r>
            <a:r>
              <a:rPr lang="en-US" sz="1200">
                <a:solidFill>
                  <a:srgbClr val="9FB3D1"/>
                </a:solidFill>
                <a:latin typeface="DM Sans"/>
                <a:ea typeface="DM Sans"/>
                <a:cs typeface="DM Sans"/>
                <a:sym typeface="DM Sans"/>
              </a:rPr>
              <a:t>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2026-09-25T23:26:34Z</dcterms:created>
  <dc:creator>PptxGenJS</dc:creator>
</cp:coreProperties>
</file>